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8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07" r:id="rId73"/>
    <p:sldId id="363" r:id="rId74"/>
    <p:sldId id="364" r:id="rId75"/>
    <p:sldId id="373" r:id="rId76"/>
    <p:sldId id="362" r:id="rId77"/>
    <p:sldId id="366" r:id="rId78"/>
    <p:sldId id="367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28" r:id="rId105"/>
    <p:sldId id="371" r:id="rId106"/>
    <p:sldId id="369" r:id="rId107"/>
    <p:sldId id="380" r:id="rId108"/>
    <p:sldId id="329" r:id="rId109"/>
    <p:sldId id="385" r:id="rId110"/>
    <p:sldId id="382" r:id="rId111"/>
    <p:sldId id="381" r:id="rId112"/>
    <p:sldId id="383" r:id="rId113"/>
    <p:sldId id="384" r:id="rId114"/>
    <p:sldId id="379" r:id="rId115"/>
    <p:sldId id="370" r:id="rId116"/>
    <p:sldId id="330" r:id="rId117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899"/>
    <a:srgbClr val="D2CFB4"/>
    <a:srgbClr val="B8BFFF"/>
    <a:srgbClr val="A4D2B4"/>
    <a:srgbClr val="374556"/>
    <a:srgbClr val="A0B7FF"/>
    <a:srgbClr val="D8C1FF"/>
    <a:srgbClr val="FFA7C0"/>
    <a:srgbClr val="FF6966"/>
    <a:srgbClr val="F0C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 autoAdjust="0"/>
    <p:restoredTop sz="85375" autoAdjust="0"/>
  </p:normalViewPr>
  <p:slideViewPr>
    <p:cSldViewPr snapToGrid="0">
      <p:cViewPr varScale="1">
        <p:scale>
          <a:sx n="76" d="100"/>
          <a:sy n="76" d="100"/>
        </p:scale>
        <p:origin x="1048" y="21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2400" b="0" i="0" u="none" strike="noStrike" dirty="0">
              <a:effectLst/>
              <a:latin typeface="+mn-lt"/>
              <a:ea typeface="+mn-ea"/>
              <a:cs typeface="+mn-cs"/>
              <a:sym typeface="Helvetica"/>
            </a:endParaRPr>
          </a:p>
          <a:p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H</a:t>
            </a:r>
            <a:r>
              <a:rPr lang="da-DK" sz="2400" b="1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ardware stores the data</a:t>
            </a:r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, and </a:t>
            </a:r>
            <a:r>
              <a:rPr lang="da-DK" sz="2400" b="1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software (OS + file system)</a:t>
            </a:r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 </a:t>
            </a:r>
            <a:r>
              <a:rPr lang="da-DK" sz="2400" b="0" i="0" u="none" strike="noStrike" dirty="0" err="1">
                <a:effectLst/>
                <a:latin typeface="+mn-lt"/>
                <a:ea typeface="+mn-ea"/>
                <a:cs typeface="+mn-cs"/>
                <a:sym typeface="Helvetica"/>
              </a:rPr>
              <a:t>organizes</a:t>
            </a:r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 it </a:t>
            </a:r>
            <a:r>
              <a:rPr lang="da-DK" sz="2400" b="0" i="0" u="none" strike="noStrike" dirty="0" err="1">
                <a:effectLst/>
                <a:latin typeface="+mn-lt"/>
                <a:ea typeface="+mn-ea"/>
                <a:cs typeface="+mn-cs"/>
                <a:sym typeface="Helvetica"/>
              </a:rPr>
              <a:t>into</a:t>
            </a:r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 a </a:t>
            </a:r>
            <a:r>
              <a:rPr lang="da-DK" sz="2400" b="1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file </a:t>
            </a:r>
            <a:r>
              <a:rPr lang="da-DK" sz="2400" b="1" i="0" u="none" strike="noStrike" dirty="0" err="1">
                <a:effectLst/>
                <a:latin typeface="+mn-lt"/>
                <a:ea typeface="+mn-ea"/>
                <a:cs typeface="+mn-cs"/>
                <a:sym typeface="Helvetica"/>
              </a:rPr>
              <a:t>tree</a:t>
            </a:r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.</a:t>
            </a:r>
          </a:p>
          <a:p>
            <a:r>
              <a:rPr lang="da-DK" sz="2400" b="0" i="0" u="none" strike="noStrike" dirty="0">
                <a:effectLst/>
                <a:latin typeface="+mn-lt"/>
                <a:ea typeface="+mn-ea"/>
                <a:cs typeface="+mn-cs"/>
                <a:sym typeface="Helvetica"/>
              </a:rPr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rPr dirty="0"/>
              <a:t>We’ll talk about </a:t>
            </a:r>
            <a:r>
              <a:rPr b="1" dirty="0"/>
              <a:t>paths</a:t>
            </a:r>
            <a:r>
              <a:rPr dirty="0"/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Moving, renaming, copying, making, and deleting files and directories. </a:t>
            </a:r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2400" dirty="0" err="1"/>
              <a:t>Use</a:t>
            </a:r>
            <a:r>
              <a:rPr lang="da-DK" sz="2400" dirty="0"/>
              <a:t> -x </a:t>
            </a: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execute</a:t>
            </a:r>
            <a:r>
              <a:rPr lang="da-DK" sz="2400" dirty="0"/>
              <a:t> the script to show the </a:t>
            </a:r>
            <a:r>
              <a:rPr lang="da-DK" sz="2400" dirty="0" err="1"/>
              <a:t>commands</a:t>
            </a:r>
            <a:r>
              <a:rPr lang="da-DK" sz="2400" dirty="0"/>
              <a:t> and progression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9EF26-6B88-7502-0D0A-10489758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2A916-6C26-62D9-F66B-89B44ED47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C31B-1906-BE74-3097-0A4CA4FB1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41987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57F07-AE55-8546-F5D3-A60A4AD2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0FD26-833C-B894-01F3-41D73D0C0F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5A649-69B5-1D3C-D0FF-532A4DF09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859958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54C5-A9BC-3A30-DDF4-3F4F6E360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3AB7-2852-3958-ED58-E614DF25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02E49-392E-06D8-229F-B6C5E4F00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 scheduler:</a:t>
            </a:r>
          </a:p>
          <a:p>
            <a:pPr marL="342900" indent="-342900">
              <a:buFontTx/>
              <a:buChar char="-"/>
            </a:pPr>
            <a:r>
              <a:rPr lang="en-GB" dirty="0"/>
              <a:t>Commands spend time waiting for resources to become free but don’t release the ones they are currently using</a:t>
            </a:r>
          </a:p>
          <a:p>
            <a:pPr marL="342900" indent="-342900">
              <a:buFontTx/>
              <a:buChar char="-"/>
            </a:pPr>
            <a:r>
              <a:rPr lang="en-GB" dirty="0"/>
              <a:t>No load scheduling = the server is a nightmare from 8 to 17 and completely empty at other times </a:t>
            </a:r>
          </a:p>
        </p:txBody>
      </p:sp>
    </p:spTree>
    <p:extLst>
      <p:ext uri="{BB962C8B-B14F-4D97-AF65-F5344CB8AC3E}">
        <p14:creationId xmlns:p14="http://schemas.microsoft.com/office/powerpoint/2010/main" val="15509830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7C0CC-128F-2918-6E87-9290BD90E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C959A-1A7B-0F02-A295-323186E1D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86A0C-2C71-FFE1-9CD4-7544163AA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== 1 little computer. It has a certain number of CPUs. 1 CPU can run 1 task.</a:t>
            </a:r>
          </a:p>
          <a:p>
            <a:endParaRPr lang="en-US" dirty="0"/>
          </a:p>
          <a:p>
            <a:r>
              <a:rPr lang="en-US" dirty="0"/>
              <a:t>More </a:t>
            </a:r>
            <a:r>
              <a:rPr lang="en-US" dirty="0" err="1"/>
              <a:t>sbatch</a:t>
            </a:r>
            <a:r>
              <a:rPr lang="en-US" dirty="0"/>
              <a:t> options:</a:t>
            </a:r>
          </a:p>
          <a:p>
            <a:r>
              <a:rPr lang="da-DK" dirty="0"/>
              <a:t>#SBATCH --</a:t>
            </a:r>
            <a:r>
              <a:rPr lang="da-DK" dirty="0" err="1"/>
              <a:t>cpus</a:t>
            </a:r>
            <a:r>
              <a:rPr lang="da-DK" dirty="0"/>
              <a:t>-per-task=1</a:t>
            </a:r>
            <a:endParaRPr lang="en-US" dirty="0"/>
          </a:p>
          <a:p>
            <a:r>
              <a:rPr lang="en-US" dirty="0"/>
              <a:t>In this instance, we request one task (process) to be run on one </a:t>
            </a:r>
            <a:r>
              <a:rPr lang="en-US" dirty="0" err="1"/>
              <a:t>cpu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</a:t>
            </a:r>
            <a:r>
              <a:rPr lang="en-US" sz="2400" dirty="0" err="1"/>
              <a:t>ntasks</a:t>
            </a:r>
            <a:r>
              <a:rPr lang="en-US" sz="2400" dirty="0"/>
              <a:t>-per-node=28</a:t>
            </a:r>
          </a:p>
          <a:p>
            <a:r>
              <a:rPr lang="en-US" dirty="0"/>
              <a:t>Here we ask for 28 tasks to be run on one node (that node should have 28 CPUs to be able to do that since 1 CPU == 1 task) 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--partition short-28core</a:t>
            </a:r>
          </a:p>
          <a:p>
            <a:r>
              <a:rPr lang="en-GB" dirty="0"/>
              <a:t>If there are several partitions, specify on which one you want to run</a:t>
            </a:r>
          </a:p>
        </p:txBody>
      </p:sp>
    </p:spTree>
    <p:extLst>
      <p:ext uri="{BB962C8B-B14F-4D97-AF65-F5344CB8AC3E}">
        <p14:creationId xmlns:p14="http://schemas.microsoft.com/office/powerpoint/2010/main" val="2556793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0E9B-B738-10B8-16D2-504A469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8BF5-470A-E397-7792-91045564C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CC121-B5F9-3BD6-DB37-0FB9873F6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Software can be loaded from different sources </a:t>
            </a:r>
          </a:p>
          <a:p>
            <a:r>
              <a:rPr lang="en-GB" dirty="0"/>
              <a:t>Different options work better depending on the situation and the management of the HPCs, what is allowed </a:t>
            </a:r>
            <a:r>
              <a:rPr lang="en-GB" dirty="0" err="1"/>
              <a:t>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696508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4E3E9-221C-0CF9-79B9-B31056DDD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753DC-2ECE-40F6-18FE-B3F11AA1C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55C58-C844-DAD1-857B-F20974343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submit </a:t>
            </a:r>
            <a:r>
              <a:rPr lang="en-GB" dirty="0" err="1"/>
              <a:t>nextflow</a:t>
            </a:r>
            <a:r>
              <a:rPr lang="en-GB" dirty="0"/>
              <a:t> or </a:t>
            </a:r>
            <a:r>
              <a:rPr lang="en-GB" dirty="0" err="1"/>
              <a:t>snakemake</a:t>
            </a:r>
            <a:r>
              <a:rPr lang="en-GB" dirty="0"/>
              <a:t> pipelines in a </a:t>
            </a:r>
            <a:r>
              <a:rPr lang="en-GB" dirty="0" err="1"/>
              <a:t>slurm</a:t>
            </a:r>
            <a:r>
              <a:rPr lang="en-GB" dirty="0"/>
              <a:t> job</a:t>
            </a:r>
          </a:p>
        </p:txBody>
      </p:sp>
    </p:spTree>
    <p:extLst>
      <p:ext uri="{BB962C8B-B14F-4D97-AF65-F5344CB8AC3E}">
        <p14:creationId xmlns:p14="http://schemas.microsoft.com/office/powerpoint/2010/main" val="296514992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B9BD3-EAFE-6D99-F6F7-97241D112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0AFF2-535E-E2C2-E91D-C08B260E2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560671-7941-CE1F-C16C-4DF5C49ED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0821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7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2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3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0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0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8.jp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401015"/>
              </p:ext>
            </p:extLst>
          </p:nvPr>
        </p:nvGraphicFramePr>
        <p:xfrm>
          <a:off x="1090815" y="3893697"/>
          <a:ext cx="9363158" cy="946601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44907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09:55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4577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11:10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38822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14:24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086742"/>
              </p:ext>
            </p:extLst>
          </p:nvPr>
        </p:nvGraphicFramePr>
        <p:xfrm>
          <a:off x="12252368" y="3893697"/>
          <a:ext cx="7706909" cy="73472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 + Q&amp;A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 &amp; CONFIG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10: COMPUTING ON HPCs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i="0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Helvetica"/>
                          <a:cs typeface="Helvetica"/>
                          <a:sym typeface="Helvetica"/>
                        </a:rPr>
                        <a:t>COFFEE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289674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2896744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5DB9084-D3F6-86CE-AE4D-A7052FC372E0}"/>
              </a:ext>
            </a:extLst>
          </p:cNvPr>
          <p:cNvSpPr txBox="1">
            <a:spLocks/>
          </p:cNvSpPr>
          <p:nvPr/>
        </p:nvSpPr>
        <p:spPr>
          <a:xfrm>
            <a:off x="23627966" y="12949908"/>
            <a:ext cx="327295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14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2030843" cy="4352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’ -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2128883" y="8173317"/>
            <a:ext cx="12184380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slides corresponds to what you have in ‘Files’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3" y="3718025"/>
            <a:ext cx="14324097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892598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096827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3550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3703347"/>
            <a:ext cx="13530672" cy="49191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the working directory and you can print it with: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0" y="3919927"/>
            <a:ext cx="13389843" cy="65070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112886" y="3289076"/>
            <a:ext cx="1314351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9406726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895593" y="7893271"/>
            <a:ext cx="12020062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395809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91055" y="4357850"/>
            <a:ext cx="13585160" cy="276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</a:t>
            </a:r>
            <a:r>
              <a:rPr lang="en-US" sz="3000" dirty="0"/>
              <a:t>d</a:t>
            </a:r>
            <a:r>
              <a:rPr sz="3000" dirty="0"/>
              <a:t>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in </a:t>
            </a:r>
            <a:r>
              <a:rPr sz="3000" dirty="0"/>
              <a:t>‘Documents’, I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</a:t>
            </a: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21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655634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9614369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25386" y="10057107"/>
            <a:ext cx="430716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248173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100571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270478"/>
            <a:ext cx="11681264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Example on the right will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</a:t>
            </a:r>
            <a:r>
              <a:rPr sz="3000" dirty="0"/>
              <a:t>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1052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2748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2133234" y="11582881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330999"/>
            <a:ext cx="15596767" cy="4525650"/>
            <a:chOff x="5016261" y="6831379"/>
            <a:chExt cx="15596767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6284734" cy="113250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584653"/>
            <a:ext cx="21308577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87437" y="1081133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rPr dirty="0"/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29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1108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0709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3832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Go </a:t>
            </a:r>
            <a:r>
              <a:rPr sz="3000" dirty="0"/>
              <a:t>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(directories) with </a:t>
            </a:r>
            <a:r>
              <a:rPr sz="3000" b="1" dirty="0"/>
              <a:t>mv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</a:t>
            </a:r>
            <a:r>
              <a:rPr lang="en-US" sz="3000" dirty="0"/>
              <a:t>copied</a:t>
            </a:r>
            <a:r>
              <a:rPr sz="3000" dirty="0"/>
              <a:t>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argument is the file and 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33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542830" y="9477569"/>
            <a:ext cx="11867435" cy="3297658"/>
            <a:chOff x="2481303" y="9937508"/>
            <a:chExt cx="10370883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481303" y="12039958"/>
              <a:ext cx="10370883" cy="792956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2965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34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496874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399698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828782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Many ways to create files, mostly as output from programs, but you can always create an empty with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8142238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422869" y="93593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566414" y="4623611"/>
            <a:ext cx="9712800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If we only want to see files with names ending in .</a:t>
            </a:r>
            <a:r>
              <a:rPr lang="en-US" sz="3000" i="1" dirty="0"/>
              <a:t>md</a:t>
            </a:r>
            <a:r>
              <a:rPr lang="en-US" sz="3000" dirty="0"/>
              <a:t> we can specify that: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38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40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7002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948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586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3061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8108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6734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43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934246" y="5982718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878135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rPr sz="3200" dirty="0"/>
              <a:t>git</a:t>
            </a:r>
            <a:r>
              <a:rPr sz="3200" b="0" dirty="0"/>
              <a:t> &amp; </a:t>
            </a:r>
            <a:r>
              <a:rPr sz="3200" dirty="0"/>
              <a:t>GitHub</a:t>
            </a:r>
            <a:r>
              <a:rPr sz="3200" b="0" dirty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122980" y="6867916"/>
            <a:ext cx="370948" cy="805614"/>
            <a:chOff x="0" y="-1"/>
            <a:chExt cx="370947" cy="805613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0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757904" y="6867918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285434" y="9552040"/>
            <a:ext cx="0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285434" y="8326854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096170" y="5096083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116375" y="6317993"/>
            <a:ext cx="0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46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19944241" y="8385915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19944241" y="9558224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47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6494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48</a:t>
            </a:r>
          </a:p>
        </p:txBody>
      </p:sp>
      <p:sp>
        <p:nvSpPr>
          <p:cNvPr id="3" name="SCRATCH">
            <a:extLst>
              <a:ext uri="{FF2B5EF4-FFF2-40B4-BE49-F238E27FC236}">
                <a16:creationId xmlns:a16="http://schemas.microsoft.com/office/drawing/2014/main" id="{B1957BA3-1737-BAA4-44DB-CD6F2FF40C37}"/>
              </a:ext>
            </a:extLst>
          </p:cNvPr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history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51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53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7" y="2894073"/>
            <a:ext cx="7018710" cy="9452254"/>
            <a:chOff x="-2" y="-1"/>
            <a:chExt cx="7018709" cy="9452252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601836" y="1504942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838803" y="2583406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95127" y="379337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75210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89042" y="81859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0" y="2922719"/>
            <a:ext cx="2841631" cy="2841629"/>
            <a:chOff x="-2" y="-2"/>
            <a:chExt cx="2841630" cy="2841628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84862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79" y="10787752"/>
            <a:ext cx="2017612" cy="2017611"/>
            <a:chOff x="-1" y="-2"/>
            <a:chExt cx="2017611" cy="2017610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60234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0884339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CF30E6FA-6365-0908-48AC-81D3ED13BFB5}"/>
              </a:ext>
            </a:extLst>
          </p:cNvPr>
          <p:cNvSpPr txBox="1"/>
          <p:nvPr/>
        </p:nvSpPr>
        <p:spPr>
          <a:xfrm>
            <a:off x="5040209" y="11501325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‘</a:t>
            </a:r>
            <a:r>
              <a:rPr lang="en-US" dirty="0"/>
              <a:t>More text</a:t>
            </a:r>
            <a:r>
              <a:rPr dirty="0"/>
              <a:t>’</a:t>
            </a:r>
            <a:r>
              <a:rPr lang="en-US" dirty="0"/>
              <a:t> </a:t>
            </a:r>
            <a:r>
              <a:rPr lang="da-DK" dirty="0"/>
              <a:t>&gt;&gt; hello.txt</a:t>
            </a:r>
            <a:endParaRPr dirty="0"/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03066"/>
            <a:ext cx="9115885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Compresses a file with standard </a:t>
            </a:r>
            <a:r>
              <a:rPr sz="3200" dirty="0" err="1"/>
              <a:t>gzip</a:t>
            </a:r>
            <a:r>
              <a:rPr sz="32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190583"/>
            <a:ext cx="7629977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2057103" y="6879531"/>
            <a:ext cx="1303310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/>
              <a:t>tar</a:t>
            </a:r>
            <a:endParaRPr sz="4800" dirty="0"/>
          </a:p>
        </p:txBody>
      </p:sp>
      <p:sp>
        <p:nvSpPr>
          <p:cNvPr id="1517" name=".GZ"/>
          <p:cNvSpPr txBox="1"/>
          <p:nvPr/>
        </p:nvSpPr>
        <p:spPr>
          <a:xfrm>
            <a:off x="2057102" y="4616988"/>
            <a:ext cx="1303311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gz</a:t>
            </a:r>
            <a:endParaRPr sz="4800" dirty="0"/>
          </a:p>
        </p:txBody>
      </p:sp>
      <p:sp>
        <p:nvSpPr>
          <p:cNvPr id="1518" name=".TAR.GZ"/>
          <p:cNvSpPr txBox="1"/>
          <p:nvPr/>
        </p:nvSpPr>
        <p:spPr>
          <a:xfrm>
            <a:off x="937877" y="9091626"/>
            <a:ext cx="3541762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tar</a:t>
            </a:r>
            <a:r>
              <a:rPr sz="4800" dirty="0" err="1"/>
              <a:t>.</a:t>
            </a:r>
            <a:r>
              <a:rPr lang="en-US" sz="4800" dirty="0" err="1"/>
              <a:t>gz</a:t>
            </a:r>
            <a:r>
              <a:rPr lang="en-US" sz="4800" dirty="0"/>
              <a:t> (</a:t>
            </a:r>
            <a:r>
              <a:rPr lang="da-DK" sz="4800" dirty="0"/>
              <a:t>.</a:t>
            </a:r>
            <a:r>
              <a:rPr lang="da-DK" sz="4800" dirty="0" err="1"/>
              <a:t>tgz</a:t>
            </a:r>
            <a:r>
              <a:rPr lang="da-DK" sz="4800" dirty="0"/>
              <a:t>)</a:t>
            </a:r>
            <a:endParaRPr sz="4800"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8989915"/>
            <a:ext cx="9273432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200" dirty="0" err="1"/>
              <a:t>gzip</a:t>
            </a:r>
            <a:r>
              <a:rPr sz="3200" dirty="0"/>
              <a:t> and tar </a:t>
            </a:r>
            <a:r>
              <a:rPr sz="32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200" dirty="0"/>
              <a:t>Compresses multiple files and puts them into one, single file </a:t>
            </a:r>
            <a:r>
              <a:rPr sz="3200" dirty="0"/>
              <a:t>archive</a:t>
            </a:r>
            <a:r>
              <a:rPr lang="en-US" sz="3200" dirty="0"/>
              <a:t>.</a:t>
            </a:r>
            <a:endParaRPr sz="32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The only thing between you and lunch is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 dirty="0"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748E786A-5421-BC4B-8650-C624C03CD0B6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chemeClr val="bg1"/>
                </a:solidFill>
              </a:rPr>
              <a:pPr/>
              <a:t>61</a:t>
            </a:fld>
            <a:endParaRPr lang="da-DK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8982946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6467736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8002385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6940937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6793927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672503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670598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6704199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6664443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3169589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8000960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8025397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8023973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9259873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5302119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5300695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5288799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5287375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2976969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8026821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8025397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5289511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5288087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9259873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3103812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search pattern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6FE644-1AE2-5BEC-26F8-BAE5E4162062}"/>
              </a:ext>
            </a:extLst>
          </p:cNvPr>
          <p:cNvGrpSpPr/>
          <p:nvPr/>
        </p:nvGrpSpPr>
        <p:grpSpPr>
          <a:xfrm>
            <a:off x="15535462" y="11333150"/>
            <a:ext cx="7585252" cy="1486131"/>
            <a:chOff x="15535462" y="11333150"/>
            <a:chExt cx="7585252" cy="1486131"/>
          </a:xfrm>
        </p:grpSpPr>
        <p:sp>
          <p:nvSpPr>
            <p:cNvPr id="2" name="Rectangle">
              <a:extLst>
                <a:ext uri="{FF2B5EF4-FFF2-40B4-BE49-F238E27FC236}">
                  <a16:creationId xmlns:a16="http://schemas.microsoft.com/office/drawing/2014/main" id="{DEB6F038-7776-027D-5639-8F3958CDA6AC}"/>
                </a:ext>
              </a:extLst>
            </p:cNvPr>
            <p:cNvSpPr/>
            <p:nvPr/>
          </p:nvSpPr>
          <p:spPr>
            <a:xfrm>
              <a:off x="15535462" y="11333150"/>
              <a:ext cx="7337563" cy="1486131"/>
            </a:xfrm>
            <a:prstGeom prst="round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" name="&gt; = Redirect - Save output to new file.…">
              <a:extLst>
                <a:ext uri="{FF2B5EF4-FFF2-40B4-BE49-F238E27FC236}">
                  <a16:creationId xmlns:a16="http://schemas.microsoft.com/office/drawing/2014/main" id="{599AA3B3-566B-CD99-2110-1A9BA6D2DC4C}"/>
                </a:ext>
              </a:extLst>
            </p:cNvPr>
            <p:cNvSpPr txBox="1"/>
            <p:nvPr/>
          </p:nvSpPr>
          <p:spPr>
            <a:xfrm>
              <a:off x="15783151" y="11464760"/>
              <a:ext cx="7337563" cy="11272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/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dirty="0"/>
                <a:t>Handy trick to show hidden characters!</a:t>
              </a:r>
              <a:endParaRPr lang="en-US" sz="2400" b="1" spc="385" dirty="0">
                <a:solidFill>
                  <a:srgbClr val="374556"/>
                </a:solidFill>
                <a:latin typeface="Courier New"/>
                <a:cs typeface="Courier New"/>
                <a:sym typeface="Courier New"/>
              </a:endParaRPr>
            </a:p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cat –</a:t>
              </a:r>
              <a:r>
                <a:rPr lang="en-US" sz="2400" b="1" spc="385" dirty="0" err="1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tve</a:t>
              </a: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 [file]</a:t>
              </a:r>
            </a:p>
          </p:txBody>
        </p:sp>
      </p:grp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66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446381" y="1021119"/>
            <a:ext cx="1132617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STREAM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Regular expression (</a:t>
            </a:r>
            <a:r>
              <a:rPr b="1" dirty="0" err="1"/>
              <a:t>RegEx</a:t>
            </a:r>
            <a:r>
              <a:rPr b="1" dirty="0"/>
              <a:t>)</a:t>
            </a:r>
            <a:r>
              <a:rPr dirty="0"/>
              <a:t> = sequence of characters that specify a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5</a:t>
            </a:r>
            <a:r>
              <a:rPr lang="en-US" dirty="0"/>
              <a:t>, ready to wrangle!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</p:spTree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75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5043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78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249668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</a:t>
              </a:r>
              <a:r>
                <a:rPr lang="en-US" sz="26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77072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love pretty (useless) things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733839" y="9249668"/>
              <a:ext cx="3026321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Nah,</a:t>
              </a:r>
              <a:r>
                <a:rPr lang="en-US" sz="26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I’m good…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 work in science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7925478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39116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1452734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887820" y="4297540"/>
            <a:ext cx="9598731" cy="768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40961" y="958579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258091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86896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</a:t>
            </a:r>
            <a:r>
              <a:rPr dirty="0" err="1"/>
              <a:t>stdout</a:t>
            </a:r>
            <a:r>
              <a:rPr dirty="0"/>
              <a:t>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&gt; </a:t>
            </a:r>
            <a:r>
              <a:rPr dirty="0" err="1"/>
              <a:t>list_results.txt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r>
              <a:rPr dirty="0"/>
              <a:t> &gt; </a:t>
            </a:r>
            <a:r>
              <a:rPr dirty="0" err="1"/>
              <a:t>list_results.txt</a:t>
            </a:r>
            <a:endParaRPr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&amp;&gt; both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wc</a:t>
            </a:r>
            <a:r>
              <a:rPr dirty="0"/>
              <a:t>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32800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wc</a:t>
            </a:r>
            <a:r>
              <a:rPr sz="3200" dirty="0"/>
              <a:t>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stdout</a:t>
            </a:r>
            <a:endParaRPr sz="3200" dirty="0"/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236543" y="7463635"/>
            <a:ext cx="6575912" cy="58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sz="3200" dirty="0"/>
              <a:t>$ </a:t>
            </a:r>
            <a:r>
              <a:rPr sz="3200" dirty="0" err="1"/>
              <a:t>wc</a:t>
            </a:r>
            <a:r>
              <a:rPr sz="3200" dirty="0"/>
              <a:t>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2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80281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955295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787655"/>
            <a:ext cx="12959913" cy="8862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b="1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886600" y="5341119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419451" y="3340282"/>
            <a:ext cx="21444809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</a:t>
            </a:r>
            <a:r>
              <a:rPr sz="3000" dirty="0" err="1"/>
              <a:t>it.Useful</a:t>
            </a:r>
            <a:r>
              <a:rPr sz="3000" dirty="0"/>
              <a:t>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886160" cy="8017818"/>
            <a:chOff x="1235705" y="4680742"/>
            <a:chExt cx="10886160" cy="801781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2014942" y="512825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Works like any </a:t>
            </a:r>
            <a:r>
              <a:rPr dirty="0" err="1"/>
              <a:t>linux</a:t>
            </a:r>
            <a:r>
              <a:rPr dirty="0"/>
              <a:t>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225677" y="6285780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 $</a:t>
            </a:r>
            <a:r>
              <a:rPr lang="en-US" dirty="0"/>
              <a:t> </a:t>
            </a:r>
            <a:r>
              <a:rPr dirty="0" err="1"/>
              <a:t>conda</a:t>
            </a:r>
            <a:r>
              <a:rPr dirty="0"/>
              <a:t>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Like a real hacker we’ll install and run a software in the command line in </a:t>
            </a:r>
            <a:r>
              <a:rPr lang="en-US" b="1" dirty="0"/>
              <a:t>Exercise 9!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06409-B56F-C287-8F80-45929DE7F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>
            <a:extLst>
              <a:ext uri="{FF2B5EF4-FFF2-40B4-BE49-F238E27FC236}">
                <a16:creationId xmlns:a16="http://schemas.microsoft.com/office/drawing/2014/main" id="{ED5DF083-56C3-8545-B2A8-04A42F5ADDA4}"/>
              </a:ext>
            </a:extLst>
          </p:cNvPr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>
            <a:extLst>
              <a:ext uri="{FF2B5EF4-FFF2-40B4-BE49-F238E27FC236}">
                <a16:creationId xmlns:a16="http://schemas.microsoft.com/office/drawing/2014/main" id="{E870DB53-CFE6-DB9D-E8F0-3C5DD20C46CA}"/>
              </a:ext>
            </a:extLst>
          </p:cNvPr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>
              <a:extLst>
                <a:ext uri="{FF2B5EF4-FFF2-40B4-BE49-F238E27FC236}">
                  <a16:creationId xmlns:a16="http://schemas.microsoft.com/office/drawing/2014/main" id="{5C3724B5-F75B-6BEC-D41F-6985F7D47A6E}"/>
                </a:ext>
              </a:extLst>
            </p:cNvPr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>
                <a:extLst>
                  <a:ext uri="{FF2B5EF4-FFF2-40B4-BE49-F238E27FC236}">
                    <a16:creationId xmlns:a16="http://schemas.microsoft.com/office/drawing/2014/main" id="{D66DCBFE-3A59-551E-5C22-55B3A87992B6}"/>
                  </a:ext>
                </a:extLst>
              </p:cNvPr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>
                  <a:extLst>
                    <a:ext uri="{FF2B5EF4-FFF2-40B4-BE49-F238E27FC236}">
                      <a16:creationId xmlns:a16="http://schemas.microsoft.com/office/drawing/2014/main" id="{3FCCBFF5-26C5-58E8-C197-C519D7A69F71}"/>
                    </a:ext>
                  </a:extLst>
                </p:cNvPr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>
                  <a:extLst>
                    <a:ext uri="{FF2B5EF4-FFF2-40B4-BE49-F238E27FC236}">
                      <a16:creationId xmlns:a16="http://schemas.microsoft.com/office/drawing/2014/main" id="{1E9B7680-3934-64AD-EF99-BCB827B12C55}"/>
                    </a:ext>
                  </a:extLst>
                </p:cNvPr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>
                  <a:extLst>
                    <a:ext uri="{FF2B5EF4-FFF2-40B4-BE49-F238E27FC236}">
                      <a16:creationId xmlns:a16="http://schemas.microsoft.com/office/drawing/2014/main" id="{24CE0347-8D62-DA68-DA8E-772F1E331031}"/>
                    </a:ext>
                  </a:extLst>
                </p:cNvPr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>
                  <a:extLst>
                    <a:ext uri="{FF2B5EF4-FFF2-40B4-BE49-F238E27FC236}">
                      <a16:creationId xmlns:a16="http://schemas.microsoft.com/office/drawing/2014/main" id="{67BD655F-AA4D-13E2-79CC-31B53586EE05}"/>
                    </a:ext>
                  </a:extLst>
                </p:cNvPr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>
                  <a:extLst>
                    <a:ext uri="{FF2B5EF4-FFF2-40B4-BE49-F238E27FC236}">
                      <a16:creationId xmlns:a16="http://schemas.microsoft.com/office/drawing/2014/main" id="{6F979D86-3E3A-A05B-7C04-3DA8CEE7FB85}"/>
                    </a:ext>
                  </a:extLst>
                </p:cNvPr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>
                  <a:extLst>
                    <a:ext uri="{FF2B5EF4-FFF2-40B4-BE49-F238E27FC236}">
                      <a16:creationId xmlns:a16="http://schemas.microsoft.com/office/drawing/2014/main" id="{98354860-459E-2973-4EF2-C70AE01A9339}"/>
                    </a:ext>
                  </a:extLst>
                </p:cNvPr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>
                  <a:extLst>
                    <a:ext uri="{FF2B5EF4-FFF2-40B4-BE49-F238E27FC236}">
                      <a16:creationId xmlns:a16="http://schemas.microsoft.com/office/drawing/2014/main" id="{3CF3AC90-0904-899D-1676-6F51F24119A1}"/>
                    </a:ext>
                  </a:extLst>
                </p:cNvPr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>
                  <a:extLst>
                    <a:ext uri="{FF2B5EF4-FFF2-40B4-BE49-F238E27FC236}">
                      <a16:creationId xmlns:a16="http://schemas.microsoft.com/office/drawing/2014/main" id="{AA224640-0851-A538-40BE-D27F00C3861B}"/>
                    </a:ext>
                  </a:extLst>
                </p:cNvPr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>
                <a:extLst>
                  <a:ext uri="{FF2B5EF4-FFF2-40B4-BE49-F238E27FC236}">
                    <a16:creationId xmlns:a16="http://schemas.microsoft.com/office/drawing/2014/main" id="{AC404F21-3D86-987D-0F36-C464A2E50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>
                <a:extLst>
                  <a:ext uri="{FF2B5EF4-FFF2-40B4-BE49-F238E27FC236}">
                    <a16:creationId xmlns:a16="http://schemas.microsoft.com/office/drawing/2014/main" id="{730936F6-7805-91E2-8155-DF91334892D5}"/>
                  </a:ext>
                </a:extLst>
              </p:cNvPr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>
              <a:extLst>
                <a:ext uri="{FF2B5EF4-FFF2-40B4-BE49-F238E27FC236}">
                  <a16:creationId xmlns:a16="http://schemas.microsoft.com/office/drawing/2014/main" id="{9C05A6F0-7C28-1A3C-2CAE-AD08CAF7A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>
            <a:extLst>
              <a:ext uri="{FF2B5EF4-FFF2-40B4-BE49-F238E27FC236}">
                <a16:creationId xmlns:a16="http://schemas.microsoft.com/office/drawing/2014/main" id="{6E62404A-4C30-707C-D58A-C1BE878DEFA3}"/>
              </a:ext>
            </a:extLst>
          </p:cNvPr>
          <p:cNvSpPr txBox="1"/>
          <p:nvPr/>
        </p:nvSpPr>
        <p:spPr>
          <a:xfrm>
            <a:off x="813321" y="5421630"/>
            <a:ext cx="9187929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10</a:t>
            </a:r>
            <a:r>
              <a:rPr dirty="0"/>
              <a:t>. </a:t>
            </a:r>
            <a:r>
              <a:rPr lang="da-DK" dirty="0"/>
              <a:t>REMOTE COMPUTING ON HPCS</a:t>
            </a:r>
            <a:endParaRPr dirty="0"/>
          </a:p>
        </p:txBody>
      </p:sp>
      <p:sp>
        <p:nvSpPr>
          <p:cNvPr id="1994" name="TextBox 6">
            <a:extLst>
              <a:ext uri="{FF2B5EF4-FFF2-40B4-BE49-F238E27FC236}">
                <a16:creationId xmlns:a16="http://schemas.microsoft.com/office/drawing/2014/main" id="{DCE6EAA3-9941-56B6-9812-E6AA48140AC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342707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8753945" y="1004198"/>
            <a:ext cx="686341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AN HPC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/>
              <a:t>HPC</a:t>
            </a:r>
            <a:r>
              <a:rPr lang="en-GB" sz="3000" dirty="0"/>
              <a:t> – </a:t>
            </a:r>
            <a:r>
              <a:rPr lang="en-US" sz="3000" dirty="0"/>
              <a:t>High Performance Computing system (Server, Supercomputer)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6197C9-84B7-0B91-E9B6-622C3E692E25}"/>
              </a:ext>
            </a:extLst>
          </p:cNvPr>
          <p:cNvGrpSpPr/>
          <p:nvPr/>
        </p:nvGrpSpPr>
        <p:grpSpPr>
          <a:xfrm>
            <a:off x="2614409" y="5692887"/>
            <a:ext cx="3016169" cy="3515664"/>
            <a:chOff x="10101621" y="5772150"/>
            <a:chExt cx="3016169" cy="3515664"/>
          </a:xfrm>
        </p:grpSpPr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49A8B243-9FF1-4E61-CA52-DF842A694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01621" y="5772150"/>
              <a:ext cx="3016169" cy="3016169"/>
            </a:xfrm>
            <a:prstGeom prst="rect">
              <a:avLst/>
            </a:prstGeom>
          </p:spPr>
        </p:pic>
        <p:sp>
          <p:nvSpPr>
            <p:cNvPr id="9" name="TextBox 29">
              <a:extLst>
                <a:ext uri="{FF2B5EF4-FFF2-40B4-BE49-F238E27FC236}">
                  <a16:creationId xmlns:a16="http://schemas.microsoft.com/office/drawing/2014/main" id="{40B71705-84FD-E40F-95ED-25AB4524CC24}"/>
                </a:ext>
              </a:extLst>
            </p:cNvPr>
            <p:cNvSpPr txBox="1"/>
            <p:nvPr/>
          </p:nvSpPr>
          <p:spPr>
            <a:xfrm>
              <a:off x="10358836" y="8672261"/>
              <a:ext cx="2501738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759"/>
                </a:lnSpc>
              </a:pPr>
              <a:r>
                <a:rPr lang="en-US" sz="4000" b="1" dirty="0">
                  <a:solidFill>
                    <a:srgbClr val="F8F8F8"/>
                  </a:solidFill>
                  <a:latin typeface="HK Grotesk Medium"/>
                </a:rPr>
                <a:t>Your PC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A892148-8B8B-9B2A-FE22-B8AE5E75B8F9}"/>
              </a:ext>
            </a:extLst>
          </p:cNvPr>
          <p:cNvGrpSpPr/>
          <p:nvPr/>
        </p:nvGrpSpPr>
        <p:grpSpPr>
          <a:xfrm>
            <a:off x="11558320" y="4926920"/>
            <a:ext cx="5845168" cy="6617481"/>
            <a:chOff x="11768743" y="4269695"/>
            <a:chExt cx="5845168" cy="6617481"/>
          </a:xfrm>
        </p:grpSpPr>
        <p:pic>
          <p:nvPicPr>
            <p:cNvPr id="8" name="Graphic 7" descr="Server outline">
              <a:extLst>
                <a:ext uri="{FF2B5EF4-FFF2-40B4-BE49-F238E27FC236}">
                  <a16:creationId xmlns:a16="http://schemas.microsoft.com/office/drawing/2014/main" id="{2FEE0BD2-EE90-B91F-EA08-6255149FC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844943" y="4269695"/>
              <a:ext cx="2846384" cy="2846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A3AEC3-B61F-4695-7E46-DE580A2E8FAA}"/>
                </a:ext>
              </a:extLst>
            </p:cNvPr>
            <p:cNvGrpSpPr/>
            <p:nvPr/>
          </p:nvGrpSpPr>
          <p:grpSpPr>
            <a:xfrm>
              <a:off x="11768743" y="5799110"/>
              <a:ext cx="5845168" cy="5088066"/>
              <a:chOff x="16054993" y="6323375"/>
              <a:chExt cx="5845168" cy="5088066"/>
            </a:xfrm>
          </p:grpSpPr>
          <p:pic>
            <p:nvPicPr>
              <p:cNvPr id="6" name="Graphic 5" descr="Server outline">
                <a:extLst>
                  <a:ext uri="{FF2B5EF4-FFF2-40B4-BE49-F238E27FC236}">
                    <a16:creationId xmlns:a16="http://schemas.microsoft.com/office/drawing/2014/main" id="{5F8A1FA6-693E-3FBF-D7CD-7FD7FFB5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6054993" y="7537450"/>
                <a:ext cx="2846384" cy="2846384"/>
              </a:xfrm>
              <a:prstGeom prst="rect">
                <a:avLst/>
              </a:prstGeom>
            </p:spPr>
          </p:pic>
          <p:pic>
            <p:nvPicPr>
              <p:cNvPr id="7" name="Graphic 6" descr="Server outline">
                <a:extLst>
                  <a:ext uri="{FF2B5EF4-FFF2-40B4-BE49-F238E27FC236}">
                    <a16:creationId xmlns:a16="http://schemas.microsoft.com/office/drawing/2014/main" id="{5E3E22A1-7435-00A7-83C2-77718A07F0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053777" y="6323375"/>
                <a:ext cx="2846384" cy="2846384"/>
              </a:xfrm>
              <a:prstGeom prst="rect">
                <a:avLst/>
              </a:prstGeom>
            </p:spPr>
          </p:pic>
          <p:sp>
            <p:nvSpPr>
              <p:cNvPr id="10" name="TextBox 29">
                <a:extLst>
                  <a:ext uri="{FF2B5EF4-FFF2-40B4-BE49-F238E27FC236}">
                    <a16:creationId xmlns:a16="http://schemas.microsoft.com/office/drawing/2014/main" id="{2E1E47DC-6262-10BF-0099-B299CFBC8656}"/>
                  </a:ext>
                </a:extLst>
              </p:cNvPr>
              <p:cNvSpPr txBox="1"/>
              <p:nvPr/>
            </p:nvSpPr>
            <p:spPr>
              <a:xfrm>
                <a:off x="17046359" y="10795888"/>
                <a:ext cx="2501738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4759"/>
                  </a:lnSpc>
                </a:pPr>
                <a:r>
                  <a:rPr lang="en-US" sz="4000" b="1" dirty="0">
                    <a:solidFill>
                      <a:srgbClr val="F8F8F8"/>
                    </a:solidFill>
                    <a:latin typeface="HK Grotesk Medium"/>
                  </a:rPr>
                  <a:t>HPC</a:t>
                </a:r>
              </a:p>
            </p:txBody>
          </p:sp>
        </p:grp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F447C2-EF13-4FBD-A1CD-65885C3BDB97}"/>
              </a:ext>
            </a:extLst>
          </p:cNvPr>
          <p:cNvCxnSpPr>
            <a:cxnSpLocks/>
          </p:cNvCxnSpPr>
          <p:nvPr/>
        </p:nvCxnSpPr>
        <p:spPr>
          <a:xfrm>
            <a:off x="7917180" y="7277100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E40382-1DA9-A51C-3DCD-7FEBA4BEE9F7}"/>
              </a:ext>
            </a:extLst>
          </p:cNvPr>
          <p:cNvCxnSpPr>
            <a:cxnSpLocks/>
          </p:cNvCxnSpPr>
          <p:nvPr/>
        </p:nvCxnSpPr>
        <p:spPr>
          <a:xfrm flipH="1">
            <a:off x="7828115" y="7742824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TextBox 29">
            <a:extLst>
              <a:ext uri="{FF2B5EF4-FFF2-40B4-BE49-F238E27FC236}">
                <a16:creationId xmlns:a16="http://schemas.microsoft.com/office/drawing/2014/main" id="{7A0A802C-67C6-A876-8ECA-7A8354CF21BE}"/>
              </a:ext>
            </a:extLst>
          </p:cNvPr>
          <p:cNvSpPr txBox="1"/>
          <p:nvPr/>
        </p:nvSpPr>
        <p:spPr>
          <a:xfrm>
            <a:off x="7592141" y="8289697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ssh</a:t>
            </a:r>
          </a:p>
        </p:txBody>
      </p:sp>
      <p:pic>
        <p:nvPicPr>
          <p:cNvPr id="22" name="Graphic 21" descr="Database outline">
            <a:extLst>
              <a:ext uri="{FF2B5EF4-FFF2-40B4-BE49-F238E27FC236}">
                <a16:creationId xmlns:a16="http://schemas.microsoft.com/office/drawing/2014/main" id="{459015A2-9948-8C3B-6A4C-AC25CCD36A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608352" y="6247317"/>
            <a:ext cx="1698317" cy="1698317"/>
          </a:xfrm>
          <a:prstGeom prst="rect">
            <a:avLst/>
          </a:prstGeom>
        </p:spPr>
      </p:pic>
      <p:sp>
        <p:nvSpPr>
          <p:cNvPr id="23" name="TextBox 29">
            <a:extLst>
              <a:ext uri="{FF2B5EF4-FFF2-40B4-BE49-F238E27FC236}">
                <a16:creationId xmlns:a16="http://schemas.microsoft.com/office/drawing/2014/main" id="{536668E1-2751-C72C-B2EB-7543214ED14B}"/>
              </a:ext>
            </a:extLst>
          </p:cNvPr>
          <p:cNvSpPr txBox="1"/>
          <p:nvPr/>
        </p:nvSpPr>
        <p:spPr>
          <a:xfrm>
            <a:off x="19845101" y="6700339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Storage</a:t>
            </a:r>
          </a:p>
        </p:txBody>
      </p:sp>
      <p:pic>
        <p:nvPicPr>
          <p:cNvPr id="25" name="Graphic 24" descr="Processor outline">
            <a:extLst>
              <a:ext uri="{FF2B5EF4-FFF2-40B4-BE49-F238E27FC236}">
                <a16:creationId xmlns:a16="http://schemas.microsoft.com/office/drawing/2014/main" id="{2E697D75-AF98-94F2-056F-72BC350BEB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756777" y="8319602"/>
            <a:ext cx="1401466" cy="1401466"/>
          </a:xfrm>
          <a:prstGeom prst="rect">
            <a:avLst/>
          </a:prstGeom>
        </p:spPr>
      </p:pic>
      <p:sp>
        <p:nvSpPr>
          <p:cNvPr id="26" name="TextBox 29">
            <a:extLst>
              <a:ext uri="{FF2B5EF4-FFF2-40B4-BE49-F238E27FC236}">
                <a16:creationId xmlns:a16="http://schemas.microsoft.com/office/drawing/2014/main" id="{4A1D4F90-0426-2180-490B-12D407678707}"/>
              </a:ext>
            </a:extLst>
          </p:cNvPr>
          <p:cNvSpPr txBox="1"/>
          <p:nvPr/>
        </p:nvSpPr>
        <p:spPr>
          <a:xfrm>
            <a:off x="19845101" y="8592998"/>
            <a:ext cx="2501738" cy="1192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Compute Nodes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EBA3CCD-7BED-A399-6F77-DB3C750EAA3A}"/>
              </a:ext>
            </a:extLst>
          </p:cNvPr>
          <p:cNvCxnSpPr>
            <a:cxnSpLocks/>
          </p:cNvCxnSpPr>
          <p:nvPr/>
        </p:nvCxnSpPr>
        <p:spPr>
          <a:xfrm flipH="1" flipV="1">
            <a:off x="17231716" y="8211579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F89ECA-862B-F11A-5509-B195C0E78D7F}"/>
              </a:ext>
            </a:extLst>
          </p:cNvPr>
          <p:cNvCxnSpPr>
            <a:cxnSpLocks/>
          </p:cNvCxnSpPr>
          <p:nvPr/>
        </p:nvCxnSpPr>
        <p:spPr>
          <a:xfrm flipH="1">
            <a:off x="17231715" y="7419127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EDB5-A9D7-BCC1-FBC6-AE1F400B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1445DE3-38EA-CD98-E5F3-B07B50DB3AE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1253062-3E8B-CDDB-8476-F174F3AC952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14BAD15-B3D3-2EAD-B303-C53325956BF7}"/>
              </a:ext>
            </a:extLst>
          </p:cNvPr>
          <p:cNvSpPr txBox="1"/>
          <p:nvPr/>
        </p:nvSpPr>
        <p:spPr>
          <a:xfrm>
            <a:off x="7215067" y="1004198"/>
            <a:ext cx="994118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FILE SYSTEMS ON HPCS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8B6B35BA-1ED4-5A8B-C2FF-8897F11DBBBE}"/>
              </a:ext>
            </a:extLst>
          </p:cNvPr>
          <p:cNvSpPr txBox="1"/>
          <p:nvPr/>
        </p:nvSpPr>
        <p:spPr>
          <a:xfrm>
            <a:off x="1113984" y="3170712"/>
            <a:ext cx="18831366" cy="1014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Most HPCs have structured file systems that are on different hard drives which mounted to the computing nodes. This means you cannot put things wherever.</a:t>
            </a:r>
          </a:p>
        </p:txBody>
      </p:sp>
      <p:pic>
        <p:nvPicPr>
          <p:cNvPr id="2" name="Picture 12">
            <a:extLst>
              <a:ext uri="{FF2B5EF4-FFF2-40B4-BE49-F238E27FC236}">
                <a16:creationId xmlns:a16="http://schemas.microsoft.com/office/drawing/2014/main" id="{35741DA8-9658-88E9-C195-B1845CD670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9945350" y="5374155"/>
            <a:ext cx="1170349" cy="1405441"/>
          </a:xfrm>
          <a:prstGeom prst="rect">
            <a:avLst/>
          </a:prstGeom>
        </p:spPr>
      </p:pic>
      <p:sp>
        <p:nvSpPr>
          <p:cNvPr id="3" name="TextBox 15">
            <a:extLst>
              <a:ext uri="{FF2B5EF4-FFF2-40B4-BE49-F238E27FC236}">
                <a16:creationId xmlns:a16="http://schemas.microsoft.com/office/drawing/2014/main" id="{0E25D842-23CC-F53F-3233-229E5F1F76DB}"/>
              </a:ext>
            </a:extLst>
          </p:cNvPr>
          <p:cNvSpPr txBox="1"/>
          <p:nvPr/>
        </p:nvSpPr>
        <p:spPr>
          <a:xfrm>
            <a:off x="1113985" y="5017464"/>
            <a:ext cx="4975021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Home directory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Configuration files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Small user files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1F8A689-A726-6C0F-F11D-F44CEE49E9DB}"/>
              </a:ext>
            </a:extLst>
          </p:cNvPr>
          <p:cNvSpPr txBox="1"/>
          <p:nvPr/>
        </p:nvSpPr>
        <p:spPr>
          <a:xfrm>
            <a:off x="1113985" y="7968832"/>
            <a:ext cx="7618012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Project/Data/Group directories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Large data files, results </a:t>
            </a:r>
            <a:r>
              <a:rPr lang="en-US" sz="2800" dirty="0" err="1">
                <a:solidFill>
                  <a:srgbClr val="F8F8F8"/>
                </a:solidFill>
              </a:rPr>
              <a:t>ect</a:t>
            </a:r>
            <a:endParaRPr lang="en-US" sz="2800" dirty="0">
              <a:solidFill>
                <a:srgbClr val="F8F8F8"/>
              </a:solidFill>
            </a:endParaRP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Databases</a:t>
            </a: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BBAB2177-0F9A-7146-38D3-06169E9CE854}"/>
              </a:ext>
            </a:extLst>
          </p:cNvPr>
          <p:cNvSpPr txBox="1"/>
          <p:nvPr/>
        </p:nvSpPr>
        <p:spPr>
          <a:xfrm>
            <a:off x="1085409" y="11008522"/>
            <a:ext cx="4975021" cy="16687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Scratch directories: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Not backed up!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Temporary files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BC0A12-A85D-51FD-B4B6-683E68BDD98F}"/>
              </a:ext>
            </a:extLst>
          </p:cNvPr>
          <p:cNvSpPr/>
          <p:nvPr/>
        </p:nvSpPr>
        <p:spPr>
          <a:xfrm>
            <a:off x="8836262" y="501746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B8B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CustomShape 13">
            <a:extLst>
              <a:ext uri="{FF2B5EF4-FFF2-40B4-BE49-F238E27FC236}">
                <a16:creationId xmlns:a16="http://schemas.microsoft.com/office/drawing/2014/main" id="{C0C31A09-28A5-B023-9A7C-6B97F72E7322}"/>
              </a:ext>
            </a:extLst>
          </p:cNvPr>
          <p:cNvSpPr txBox="1"/>
          <p:nvPr/>
        </p:nvSpPr>
        <p:spPr>
          <a:xfrm>
            <a:off x="9154674" y="5123013"/>
            <a:ext cx="4566795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/home/[user]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D243884-F5E9-A6D2-D8AE-A9B5DEFCCA88}"/>
              </a:ext>
            </a:extLst>
          </p:cNvPr>
          <p:cNvSpPr/>
          <p:nvPr/>
        </p:nvSpPr>
        <p:spPr>
          <a:xfrm>
            <a:off x="8836262" y="7745329"/>
            <a:ext cx="7618013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CustomShape 13">
            <a:extLst>
              <a:ext uri="{FF2B5EF4-FFF2-40B4-BE49-F238E27FC236}">
                <a16:creationId xmlns:a16="http://schemas.microsoft.com/office/drawing/2014/main" id="{8EB94E7A-D890-0928-C01E-850FB8DD1B77}"/>
              </a:ext>
            </a:extLst>
          </p:cNvPr>
          <p:cNvSpPr txBox="1"/>
          <p:nvPr/>
        </p:nvSpPr>
        <p:spPr>
          <a:xfrm>
            <a:off x="8998402" y="7863006"/>
            <a:ext cx="6874639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/projects/</a:t>
            </a:r>
            <a:r>
              <a:rPr lang="en-US" sz="3000" dirty="0" err="1"/>
              <a:t>RNAseq_a_thal</a:t>
            </a:r>
            <a:endParaRPr lang="en-US" sz="3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802024-4778-4DD6-49E3-B47915F5347B}"/>
              </a:ext>
            </a:extLst>
          </p:cNvPr>
          <p:cNvSpPr/>
          <p:nvPr/>
        </p:nvSpPr>
        <p:spPr>
          <a:xfrm>
            <a:off x="8794288" y="1189045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D2CFB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CustomShape 13">
            <a:extLst>
              <a:ext uri="{FF2B5EF4-FFF2-40B4-BE49-F238E27FC236}">
                <a16:creationId xmlns:a16="http://schemas.microsoft.com/office/drawing/2014/main" id="{D11CC246-0ACC-B0CC-B454-34D0E7297185}"/>
              </a:ext>
            </a:extLst>
          </p:cNvPr>
          <p:cNvSpPr txBox="1"/>
          <p:nvPr/>
        </p:nvSpPr>
        <p:spPr>
          <a:xfrm>
            <a:off x="9055550" y="11996003"/>
            <a:ext cx="4566795" cy="610250"/>
          </a:xfrm>
          <a:prstGeom prst="rect">
            <a:avLst/>
          </a:prstGeom>
          <a:solidFill>
            <a:srgbClr val="D2CFB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/scratch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6BF79D2-28DB-A1F7-BC10-6BCF691681E5}"/>
              </a:ext>
            </a:extLst>
          </p:cNvPr>
          <p:cNvSpPr/>
          <p:nvPr/>
        </p:nvSpPr>
        <p:spPr>
          <a:xfrm>
            <a:off x="8794288" y="9001130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CustomShape 13">
            <a:extLst>
              <a:ext uri="{FF2B5EF4-FFF2-40B4-BE49-F238E27FC236}">
                <a16:creationId xmlns:a16="http://schemas.microsoft.com/office/drawing/2014/main" id="{C8195D8F-FEF8-01C9-D991-CC5014CD857A}"/>
              </a:ext>
            </a:extLst>
          </p:cNvPr>
          <p:cNvSpPr txBox="1"/>
          <p:nvPr/>
        </p:nvSpPr>
        <p:spPr>
          <a:xfrm>
            <a:off x="8590180" y="9076060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/groups/</a:t>
            </a:r>
            <a:r>
              <a:rPr lang="en-US" sz="3000" dirty="0" err="1"/>
              <a:t>Jensen_group</a:t>
            </a:r>
            <a:endParaRPr lang="en-US" sz="30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076E5-47D6-80DB-96B3-597CBD6555BF}"/>
              </a:ext>
            </a:extLst>
          </p:cNvPr>
          <p:cNvSpPr/>
          <p:nvPr/>
        </p:nvSpPr>
        <p:spPr>
          <a:xfrm>
            <a:off x="8794288" y="10170758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CustomShape 13">
            <a:extLst>
              <a:ext uri="{FF2B5EF4-FFF2-40B4-BE49-F238E27FC236}">
                <a16:creationId xmlns:a16="http://schemas.microsoft.com/office/drawing/2014/main" id="{90106664-D2E8-DE88-C779-B28EB6BE79EA}"/>
              </a:ext>
            </a:extLst>
          </p:cNvPr>
          <p:cNvSpPr txBox="1"/>
          <p:nvPr/>
        </p:nvSpPr>
        <p:spPr>
          <a:xfrm>
            <a:off x="8479371" y="10255013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/data/RH_2025_prj392</a:t>
            </a:r>
          </a:p>
        </p:txBody>
      </p:sp>
      <p:sp>
        <p:nvSpPr>
          <p:cNvPr id="21" name="TextBox 29">
            <a:extLst>
              <a:ext uri="{FF2B5EF4-FFF2-40B4-BE49-F238E27FC236}">
                <a16:creationId xmlns:a16="http://schemas.microsoft.com/office/drawing/2014/main" id="{A0FF9500-7FEC-1E94-303E-80E274B3579D}"/>
              </a:ext>
            </a:extLst>
          </p:cNvPr>
          <p:cNvSpPr txBox="1"/>
          <p:nvPr/>
        </p:nvSpPr>
        <p:spPr>
          <a:xfrm>
            <a:off x="17156247" y="8378203"/>
            <a:ext cx="4975021" cy="18078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[examples for </a:t>
            </a:r>
            <a:r>
              <a:rPr lang="en-US" sz="3399" dirty="0" err="1">
                <a:solidFill>
                  <a:srgbClr val="F8F8F8"/>
                </a:solidFill>
                <a:latin typeface="HK Grotesk Medium"/>
              </a:rPr>
              <a:t>dir</a:t>
            </a:r>
            <a:r>
              <a:rPr lang="en-US" sz="3399" dirty="0">
                <a:solidFill>
                  <a:srgbClr val="F8F8F8"/>
                </a:solidFill>
                <a:latin typeface="HK Grotesk Medium"/>
              </a:rPr>
              <a:t> names, check documentation of your HPC!]</a:t>
            </a:r>
          </a:p>
        </p:txBody>
      </p:sp>
    </p:spTree>
    <p:extLst>
      <p:ext uri="{BB962C8B-B14F-4D97-AF65-F5344CB8AC3E}">
        <p14:creationId xmlns:p14="http://schemas.microsoft.com/office/powerpoint/2010/main" val="3554565126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62FE-1C38-0683-B924-DB87898D3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4C13792-831A-A300-82FD-6EE93A6D193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110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F4F21F9-8E11-AD20-EE84-9919711488F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CB21AB4-E2C3-6C50-180B-DA1376E858C3}"/>
              </a:ext>
            </a:extLst>
          </p:cNvPr>
          <p:cNvSpPr txBox="1"/>
          <p:nvPr/>
        </p:nvSpPr>
        <p:spPr>
          <a:xfrm>
            <a:off x="8196104" y="1004198"/>
            <a:ext cx="797910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QUEUING SYSTEMS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3FBDA1AC-6C6D-28AD-D91C-BF75F8178021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pic>
        <p:nvPicPr>
          <p:cNvPr id="3" name="Picture 2" descr="A group of people in a store&#10;&#10;AI-generated content may be incorrect.">
            <a:extLst>
              <a:ext uri="{FF2B5EF4-FFF2-40B4-BE49-F238E27FC236}">
                <a16:creationId xmlns:a16="http://schemas.microsoft.com/office/drawing/2014/main" id="{F91CD215-E7C7-BD95-60E1-6E1CA3ABC4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47" y="4617311"/>
            <a:ext cx="7504138" cy="4350055"/>
          </a:xfrm>
          <a:prstGeom prst="rect">
            <a:avLst/>
          </a:prstGeom>
        </p:spPr>
      </p:pic>
      <p:pic>
        <p:nvPicPr>
          <p:cNvPr id="6" name="Picture 5" descr="A group of people shopping in a store&#10;&#10;AI-generated content may be incorrect.">
            <a:extLst>
              <a:ext uri="{FF2B5EF4-FFF2-40B4-BE49-F238E27FC236}">
                <a16:creationId xmlns:a16="http://schemas.microsoft.com/office/drawing/2014/main" id="{84FCCC39-3FB3-F1EA-ACB2-E50ECAB7B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5196" y="4580762"/>
            <a:ext cx="8090618" cy="424757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2BEA747-E82C-1FDF-BBA3-97935A253006}"/>
              </a:ext>
            </a:extLst>
          </p:cNvPr>
          <p:cNvGrpSpPr/>
          <p:nvPr/>
        </p:nvGrpSpPr>
        <p:grpSpPr>
          <a:xfrm>
            <a:off x="10997604" y="5955956"/>
            <a:ext cx="1267973" cy="1312076"/>
            <a:chOff x="10998556" y="7478182"/>
            <a:chExt cx="1267973" cy="131207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B75CEA5-DB86-FB74-7914-F407FD141E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98556" y="8135379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F4F4477-374E-084D-923F-F26BD6B3C7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0460" y="7478182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10" name="TextShape 29">
            <a:extLst>
              <a:ext uri="{FF2B5EF4-FFF2-40B4-BE49-F238E27FC236}">
                <a16:creationId xmlns:a16="http://schemas.microsoft.com/office/drawing/2014/main" id="{83749562-4202-0616-B3BB-F9851CB88A17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On most HPC systems you use a job scheduler to execute programs</a:t>
            </a:r>
            <a:endParaRPr lang="en-US" sz="3000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F392E5F7-0F2E-0E58-7837-18871BC560CE}"/>
              </a:ext>
            </a:extLst>
          </p:cNvPr>
          <p:cNvSpPr txBox="1"/>
          <p:nvPr/>
        </p:nvSpPr>
        <p:spPr>
          <a:xfrm>
            <a:off x="2539284" y="9682163"/>
            <a:ext cx="8090618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No 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come first serve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commands compete for the available resources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No load scheduling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Interactive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Fine for small tasks</a:t>
            </a:r>
          </a:p>
        </p:txBody>
      </p:sp>
      <p:sp>
        <p:nvSpPr>
          <p:cNvPr id="12" name="TextShape 29">
            <a:extLst>
              <a:ext uri="{FF2B5EF4-FFF2-40B4-BE49-F238E27FC236}">
                <a16:creationId xmlns:a16="http://schemas.microsoft.com/office/drawing/2014/main" id="{5FEB4F00-4CD3-70B9-1E89-6A98AB1C37FF}"/>
              </a:ext>
            </a:extLst>
          </p:cNvPr>
          <p:cNvSpPr txBox="1"/>
          <p:nvPr/>
        </p:nvSpPr>
        <p:spPr>
          <a:xfrm>
            <a:off x="14251919" y="9682163"/>
            <a:ext cx="8090618" cy="239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Manages resource allocation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Jobs can run during the night/ when you are not logged in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Can ask for interactive job</a:t>
            </a:r>
          </a:p>
        </p:txBody>
      </p:sp>
    </p:spTree>
    <p:extLst>
      <p:ext uri="{BB962C8B-B14F-4D97-AF65-F5344CB8AC3E}">
        <p14:creationId xmlns:p14="http://schemas.microsoft.com/office/powerpoint/2010/main" val="2483929653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B9D9C-AE2B-CCE7-9AD7-FF253747B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F5667FF6-C25C-FA22-6645-36F0BA64D12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111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310181F2-B101-5EB2-2C69-B2103FCDC33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610549D4-B1F2-9EAE-1A68-A5B5E932E023}"/>
              </a:ext>
            </a:extLst>
          </p:cNvPr>
          <p:cNvSpPr txBox="1"/>
          <p:nvPr/>
        </p:nvSpPr>
        <p:spPr>
          <a:xfrm>
            <a:off x="10735256" y="1004198"/>
            <a:ext cx="290079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SLURM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03CD85AA-7055-6A48-0205-2F0E13058C4E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2C70336D-632F-AEE7-3B77-9162830BD2D6}"/>
              </a:ext>
            </a:extLst>
          </p:cNvPr>
          <p:cNvSpPr txBox="1"/>
          <p:nvPr/>
        </p:nvSpPr>
        <p:spPr>
          <a:xfrm>
            <a:off x="1342761" y="3261715"/>
            <a:ext cx="8733161" cy="14758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SLURM is both a scheduler and a resource manager.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</p:txBody>
      </p:sp>
      <p:sp>
        <p:nvSpPr>
          <p:cNvPr id="3" name="CustomShape 13">
            <a:extLst>
              <a:ext uri="{FF2B5EF4-FFF2-40B4-BE49-F238E27FC236}">
                <a16:creationId xmlns:a16="http://schemas.microsoft.com/office/drawing/2014/main" id="{BF03FBEF-05FE-B7B7-E8FD-AEC6A27B6189}"/>
              </a:ext>
            </a:extLst>
          </p:cNvPr>
          <p:cNvSpPr txBox="1"/>
          <p:nvPr/>
        </p:nvSpPr>
        <p:spPr>
          <a:xfrm>
            <a:off x="1789839" y="4956107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Submitting a job script to queue</a:t>
            </a:r>
            <a:r>
              <a:rPr sz="3000" dirty="0"/>
              <a:t>:</a:t>
            </a:r>
            <a:endParaRPr lang="en-US" sz="3000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85C310E8-B7CB-96F2-8116-D81AE8F5C452}"/>
              </a:ext>
            </a:extLst>
          </p:cNvPr>
          <p:cNvSpPr txBox="1"/>
          <p:nvPr/>
        </p:nvSpPr>
        <p:spPr>
          <a:xfrm>
            <a:off x="1781307" y="10441074"/>
            <a:ext cx="5928474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Starting an interactive job</a:t>
            </a:r>
            <a:r>
              <a:rPr sz="3000" dirty="0"/>
              <a:t>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4930AAE-1D00-3F37-9780-C35D948985AB}"/>
              </a:ext>
            </a:extLst>
          </p:cNvPr>
          <p:cNvGrpSpPr/>
          <p:nvPr/>
        </p:nvGrpSpPr>
        <p:grpSpPr>
          <a:xfrm>
            <a:off x="1543697" y="11408173"/>
            <a:ext cx="2737083" cy="829679"/>
            <a:chOff x="1606317" y="8737494"/>
            <a:chExt cx="2737083" cy="829679"/>
          </a:xfrm>
          <a:solidFill>
            <a:srgbClr val="B8BFFF"/>
          </a:solidFill>
        </p:grpSpPr>
        <p:sp>
          <p:nvSpPr>
            <p:cNvPr id="5" name="Rounded Rectangle">
              <a:extLst>
                <a:ext uri="{FF2B5EF4-FFF2-40B4-BE49-F238E27FC236}">
                  <a16:creationId xmlns:a16="http://schemas.microsoft.com/office/drawing/2014/main" id="{9BF1F342-C4E5-C73B-E68E-59B42149508D}"/>
                </a:ext>
              </a:extLst>
            </p:cNvPr>
            <p:cNvSpPr/>
            <p:nvPr/>
          </p:nvSpPr>
          <p:spPr>
            <a:xfrm>
              <a:off x="1606317" y="8737494"/>
              <a:ext cx="2737083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7" name="CustomShape 13">
              <a:extLst>
                <a:ext uri="{FF2B5EF4-FFF2-40B4-BE49-F238E27FC236}">
                  <a16:creationId xmlns:a16="http://schemas.microsoft.com/office/drawing/2014/main" id="{A3FFEBED-8108-0DC3-F1FF-C25C88DAFAFE}"/>
                </a:ext>
              </a:extLst>
            </p:cNvPr>
            <p:cNvSpPr txBox="1"/>
            <p:nvPr/>
          </p:nvSpPr>
          <p:spPr>
            <a:xfrm>
              <a:off x="1820381" y="8814911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srun</a:t>
              </a:r>
              <a:endParaRPr sz="3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2A865F-C7DF-66FD-245D-89EC28FB03DA}"/>
              </a:ext>
            </a:extLst>
          </p:cNvPr>
          <p:cNvGrpSpPr/>
          <p:nvPr/>
        </p:nvGrpSpPr>
        <p:grpSpPr>
          <a:xfrm>
            <a:off x="5410541" y="11408173"/>
            <a:ext cx="2998478" cy="829679"/>
            <a:chOff x="6122373" y="8705196"/>
            <a:chExt cx="2998478" cy="829679"/>
          </a:xfrm>
          <a:solidFill>
            <a:srgbClr val="B8BFFF"/>
          </a:solidFill>
        </p:grpSpPr>
        <p:sp>
          <p:nvSpPr>
            <p:cNvPr id="10" name="Rounded Rectangle">
              <a:extLst>
                <a:ext uri="{FF2B5EF4-FFF2-40B4-BE49-F238E27FC236}">
                  <a16:creationId xmlns:a16="http://schemas.microsoft.com/office/drawing/2014/main" id="{06A835E2-CC9D-EF6D-DD1B-7742782FC6FF}"/>
                </a:ext>
              </a:extLst>
            </p:cNvPr>
            <p:cNvSpPr/>
            <p:nvPr/>
          </p:nvSpPr>
          <p:spPr>
            <a:xfrm>
              <a:off x="6122373" y="8705196"/>
              <a:ext cx="2998478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1" name="CustomShape 13">
              <a:extLst>
                <a:ext uri="{FF2B5EF4-FFF2-40B4-BE49-F238E27FC236}">
                  <a16:creationId xmlns:a16="http://schemas.microsoft.com/office/drawing/2014/main" id="{558B1CF4-B42C-F578-4DA3-48132FD83BE3}"/>
                </a:ext>
              </a:extLst>
            </p:cNvPr>
            <p:cNvSpPr txBox="1"/>
            <p:nvPr/>
          </p:nvSpPr>
          <p:spPr>
            <a:xfrm>
              <a:off x="6336437" y="8782613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salloc</a:t>
              </a:r>
              <a:endParaRPr lang="en-US" sz="3000" dirty="0"/>
            </a:p>
          </p:txBody>
        </p:sp>
      </p:grp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90681096-497B-C9A7-6E58-EDC1AD058F90}"/>
              </a:ext>
            </a:extLst>
          </p:cNvPr>
          <p:cNvSpPr/>
          <p:nvPr/>
        </p:nvSpPr>
        <p:spPr>
          <a:xfrm>
            <a:off x="1552231" y="5939355"/>
            <a:ext cx="557225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ACBE440B-F1AE-E75E-313F-986F9D739065}"/>
              </a:ext>
            </a:extLst>
          </p:cNvPr>
          <p:cNvSpPr txBox="1"/>
          <p:nvPr/>
        </p:nvSpPr>
        <p:spPr>
          <a:xfrm>
            <a:off x="1762429" y="6037607"/>
            <a:ext cx="5572252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sbatch</a:t>
            </a:r>
            <a:r>
              <a:rPr lang="en-US" sz="3000" dirty="0"/>
              <a:t> my_job.sh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B112876-E624-97CE-8059-6DBB7945A43F}"/>
              </a:ext>
            </a:extLst>
          </p:cNvPr>
          <p:cNvGrpSpPr/>
          <p:nvPr/>
        </p:nvGrpSpPr>
        <p:grpSpPr>
          <a:xfrm>
            <a:off x="1643624" y="7619547"/>
            <a:ext cx="5809861" cy="1814251"/>
            <a:chOff x="12794662" y="5026445"/>
            <a:chExt cx="5809861" cy="1814251"/>
          </a:xfrm>
        </p:grpSpPr>
        <p:sp>
          <p:nvSpPr>
            <p:cNvPr id="14" name="Rounded Rectangle">
              <a:extLst>
                <a:ext uri="{FF2B5EF4-FFF2-40B4-BE49-F238E27FC236}">
                  <a16:creationId xmlns:a16="http://schemas.microsoft.com/office/drawing/2014/main" id="{120C700D-B45E-F51F-93AC-77F81854C253}"/>
                </a:ext>
              </a:extLst>
            </p:cNvPr>
            <p:cNvSpPr/>
            <p:nvPr/>
          </p:nvSpPr>
          <p:spPr>
            <a:xfrm>
              <a:off x="12794662" y="6009693"/>
              <a:ext cx="2996324" cy="831003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5" name="CustomShape 13">
              <a:extLst>
                <a:ext uri="{FF2B5EF4-FFF2-40B4-BE49-F238E27FC236}">
                  <a16:creationId xmlns:a16="http://schemas.microsoft.com/office/drawing/2014/main" id="{1141A87C-02B4-7FCC-6724-C5C8FEB2FE23}"/>
                </a:ext>
              </a:extLst>
            </p:cNvPr>
            <p:cNvSpPr txBox="1"/>
            <p:nvPr/>
          </p:nvSpPr>
          <p:spPr>
            <a:xfrm>
              <a:off x="13032270" y="5026445"/>
              <a:ext cx="5572253" cy="58235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Checking the queue</a:t>
              </a:r>
              <a:r>
                <a:rPr sz="3000" dirty="0"/>
                <a:t>:</a:t>
              </a:r>
              <a:endParaRPr lang="en-US" sz="3000" dirty="0"/>
            </a:p>
          </p:txBody>
        </p:sp>
        <p:sp>
          <p:nvSpPr>
            <p:cNvPr id="16" name="CustomShape 13">
              <a:extLst>
                <a:ext uri="{FF2B5EF4-FFF2-40B4-BE49-F238E27FC236}">
                  <a16:creationId xmlns:a16="http://schemas.microsoft.com/office/drawing/2014/main" id="{8857105E-F6E0-5569-44FA-19E18DDDF8AC}"/>
                </a:ext>
              </a:extLst>
            </p:cNvPr>
            <p:cNvSpPr txBox="1"/>
            <p:nvPr/>
          </p:nvSpPr>
          <p:spPr>
            <a:xfrm>
              <a:off x="13004860" y="6107945"/>
              <a:ext cx="2580972" cy="61025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$ </a:t>
              </a:r>
              <a:r>
                <a:rPr lang="en-US" sz="3000" dirty="0" err="1"/>
                <a:t>squeue</a:t>
              </a:r>
              <a:endParaRPr lang="en-US" sz="3000" dirty="0"/>
            </a:p>
          </p:txBody>
        </p:sp>
      </p:grpSp>
      <p:sp>
        <p:nvSpPr>
          <p:cNvPr id="20" name="TextBox 29">
            <a:extLst>
              <a:ext uri="{FF2B5EF4-FFF2-40B4-BE49-F238E27FC236}">
                <a16:creationId xmlns:a16="http://schemas.microsoft.com/office/drawing/2014/main" id="{7BD64B26-46A0-1C03-C101-EC44203E7635}"/>
              </a:ext>
            </a:extLst>
          </p:cNvPr>
          <p:cNvSpPr txBox="1"/>
          <p:nvPr/>
        </p:nvSpPr>
        <p:spPr>
          <a:xfrm>
            <a:off x="4202855" y="11453607"/>
            <a:ext cx="1219706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or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06BBDF8-8BDB-8AB3-B3A4-0E1C87050D0D}"/>
              </a:ext>
            </a:extLst>
          </p:cNvPr>
          <p:cNvSpPr/>
          <p:nvPr/>
        </p:nvSpPr>
        <p:spPr>
          <a:xfrm>
            <a:off x="10735256" y="3657601"/>
            <a:ext cx="12817449" cy="7560000"/>
          </a:xfrm>
          <a:prstGeom prst="roundRect">
            <a:avLst>
              <a:gd name="adj" fmla="val 10678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CustomShape 13">
            <a:extLst>
              <a:ext uri="{FF2B5EF4-FFF2-40B4-BE49-F238E27FC236}">
                <a16:creationId xmlns:a16="http://schemas.microsoft.com/office/drawing/2014/main" id="{189A9630-735F-AAEB-1986-E0ED3F9406A1}"/>
              </a:ext>
            </a:extLst>
          </p:cNvPr>
          <p:cNvSpPr txBox="1"/>
          <p:nvPr/>
        </p:nvSpPr>
        <p:spPr>
          <a:xfrm>
            <a:off x="11249606" y="4116655"/>
            <a:ext cx="11619974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#!/bin</a:t>
            </a:r>
            <a:r>
              <a:rPr lang="en-US" sz="3000"/>
              <a:t>/bash 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--job-name=test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--account=</a:t>
            </a:r>
            <a:r>
              <a:rPr lang="en-US" sz="3000" dirty="0" err="1"/>
              <a:t>myAmazingProject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--nodes=2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--time=01:00:00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--output=res.txt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paste -d '\t' </a:t>
            </a:r>
            <a:r>
              <a:rPr lang="en-US" sz="3000" dirty="0" err="1"/>
              <a:t>GenomicRegion.tmp</a:t>
            </a:r>
            <a:r>
              <a:rPr lang="en-US" sz="3000" dirty="0"/>
              <a:t>  \ gene_names_clean.txt &gt; </a:t>
            </a:r>
            <a:r>
              <a:rPr lang="en-US" sz="3000" dirty="0" err="1"/>
              <a:t>Annotation_Gene.gff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grep 'tRNA' </a:t>
            </a:r>
            <a:r>
              <a:rPr lang="en-US" sz="3000" dirty="0" err="1"/>
              <a:t>Annotation_Gene_Len.gff</a:t>
            </a:r>
            <a:r>
              <a:rPr lang="en-US" sz="3000" dirty="0"/>
              <a:t> –c</a:t>
            </a:r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32A9BFDB-30BA-D4DC-8200-1EFD375BCE36}"/>
              </a:ext>
            </a:extLst>
          </p:cNvPr>
          <p:cNvSpPr txBox="1"/>
          <p:nvPr/>
        </p:nvSpPr>
        <p:spPr>
          <a:xfrm>
            <a:off x="13394087" y="11573849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 example job script</a:t>
            </a:r>
          </a:p>
        </p:txBody>
      </p:sp>
    </p:spTree>
    <p:extLst>
      <p:ext uri="{BB962C8B-B14F-4D97-AF65-F5344CB8AC3E}">
        <p14:creationId xmlns:p14="http://schemas.microsoft.com/office/powerpoint/2010/main" val="4220424410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29E4D-1850-F864-5E8B-0446676D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2565A21B-A851-86BA-7F00-9E1C3C2FDB1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112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6B033D1-F4A7-A7B6-9468-A5CCAF51F522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3C21EDA-06B9-F377-200E-B91D0586544D}"/>
              </a:ext>
            </a:extLst>
          </p:cNvPr>
          <p:cNvSpPr txBox="1"/>
          <p:nvPr/>
        </p:nvSpPr>
        <p:spPr>
          <a:xfrm>
            <a:off x="7888327" y="1004198"/>
            <a:ext cx="859465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SOFTWARE ON HPCS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4CC746E0-31B4-078D-51E4-38B37E72A255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33BA63C6-AF83-9E59-4512-416F5D1C1D76}"/>
              </a:ext>
            </a:extLst>
          </p:cNvPr>
          <p:cNvSpPr/>
          <p:nvPr/>
        </p:nvSpPr>
        <p:spPr>
          <a:xfrm>
            <a:off x="1208505" y="3879562"/>
            <a:ext cx="8733160" cy="2978433"/>
          </a:xfrm>
          <a:prstGeom prst="roundRect">
            <a:avLst>
              <a:gd name="adj" fmla="val 475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2" name="TextBox 29">
            <a:extLst>
              <a:ext uri="{FF2B5EF4-FFF2-40B4-BE49-F238E27FC236}">
                <a16:creationId xmlns:a16="http://schemas.microsoft.com/office/drawing/2014/main" id="{9FB0142D-8227-80BD-950E-97555CD43EF8}"/>
              </a:ext>
            </a:extLst>
          </p:cNvPr>
          <p:cNvSpPr txBox="1"/>
          <p:nvPr/>
        </p:nvSpPr>
        <p:spPr>
          <a:xfrm>
            <a:off x="2928698" y="4128175"/>
            <a:ext cx="466081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Pre-installed, e.g. in environment modules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ED72B96B-8E27-2DC9-DC88-EBEC51D1342A}"/>
              </a:ext>
            </a:extLst>
          </p:cNvPr>
          <p:cNvSpPr/>
          <p:nvPr/>
        </p:nvSpPr>
        <p:spPr>
          <a:xfrm>
            <a:off x="13552905" y="3912303"/>
            <a:ext cx="8733160" cy="2978431"/>
          </a:xfrm>
          <a:prstGeom prst="roundRect">
            <a:avLst>
              <a:gd name="adj" fmla="val 47523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2CAA5237-82C0-3AB5-F499-31CD2A5B3BDB}"/>
              </a:ext>
            </a:extLst>
          </p:cNvPr>
          <p:cNvSpPr txBox="1"/>
          <p:nvPr/>
        </p:nvSpPr>
        <p:spPr>
          <a:xfrm>
            <a:off x="15176083" y="4128175"/>
            <a:ext cx="548680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User-administrated, e.g. in a </a:t>
            </a:r>
            <a:r>
              <a:rPr lang="en-US" sz="4000" dirty="0" err="1">
                <a:solidFill>
                  <a:srgbClr val="374556"/>
                </a:solidFill>
                <a:latin typeface="HK Grotesk Medium"/>
              </a:rPr>
              <a:t>conda</a:t>
            </a:r>
            <a:r>
              <a:rPr lang="en-US" sz="4000" dirty="0">
                <a:solidFill>
                  <a:srgbClr val="374556"/>
                </a:solidFill>
                <a:latin typeface="HK Grotesk Medium"/>
              </a:rPr>
              <a:t> environment</a:t>
            </a:r>
          </a:p>
        </p:txBody>
      </p:sp>
      <p:sp>
        <p:nvSpPr>
          <p:cNvPr id="6" name="Rounded Rectangle">
            <a:extLst>
              <a:ext uri="{FF2B5EF4-FFF2-40B4-BE49-F238E27FC236}">
                <a16:creationId xmlns:a16="http://schemas.microsoft.com/office/drawing/2014/main" id="{C85713E7-4E06-F2E0-D732-DC09DC532839}"/>
              </a:ext>
            </a:extLst>
          </p:cNvPr>
          <p:cNvSpPr/>
          <p:nvPr/>
        </p:nvSpPr>
        <p:spPr>
          <a:xfrm>
            <a:off x="7819070" y="8392864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09D4A389-707A-BA83-8AEB-3B210F12A561}"/>
              </a:ext>
            </a:extLst>
          </p:cNvPr>
          <p:cNvSpPr txBox="1"/>
          <p:nvPr/>
        </p:nvSpPr>
        <p:spPr>
          <a:xfrm>
            <a:off x="9154200" y="8987810"/>
            <a:ext cx="606290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Pre-packaged in containers like Docker, Singularity</a:t>
            </a:r>
          </a:p>
        </p:txBody>
      </p:sp>
      <p:sp>
        <p:nvSpPr>
          <p:cNvPr id="12" name="CustomShape 13">
            <a:extLst>
              <a:ext uri="{FF2B5EF4-FFF2-40B4-BE49-F238E27FC236}">
                <a16:creationId xmlns:a16="http://schemas.microsoft.com/office/drawing/2014/main" id="{C5184EC3-C4F2-F882-9E26-09106D39D7C1}"/>
              </a:ext>
            </a:extLst>
          </p:cNvPr>
          <p:cNvSpPr txBox="1"/>
          <p:nvPr/>
        </p:nvSpPr>
        <p:spPr>
          <a:xfrm>
            <a:off x="2658751" y="5723052"/>
            <a:ext cx="5832668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module load python</a:t>
            </a:r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F365E8D5-7926-49C6-9C1E-98F29F1D9449}"/>
              </a:ext>
            </a:extLst>
          </p:cNvPr>
          <p:cNvSpPr txBox="1"/>
          <p:nvPr/>
        </p:nvSpPr>
        <p:spPr>
          <a:xfrm>
            <a:off x="14690407" y="5723052"/>
            <a:ext cx="6458156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conda</a:t>
            </a:r>
            <a:r>
              <a:rPr lang="en-US" sz="3000" dirty="0"/>
              <a:t> activate </a:t>
            </a:r>
            <a:r>
              <a:rPr lang="en-US" sz="3000" dirty="0" err="1"/>
              <a:t>my_env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225707115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EE0-30DE-1448-B88C-B25B2C1C2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274D1DEF-19D6-2E97-6D13-F89F9F9FFFD6}"/>
              </a:ext>
            </a:extLst>
          </p:cNvPr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>
            <a:extLst>
              <a:ext uri="{FF2B5EF4-FFF2-40B4-BE49-F238E27FC236}">
                <a16:creationId xmlns:a16="http://schemas.microsoft.com/office/drawing/2014/main" id="{98CAA083-464D-26EB-80C4-A04D6C1BD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>
            <a:extLst>
              <a:ext uri="{FF2B5EF4-FFF2-40B4-BE49-F238E27FC236}">
                <a16:creationId xmlns:a16="http://schemas.microsoft.com/office/drawing/2014/main" id="{E5C58CA7-66FD-DCFA-F4D2-ADE4E77E203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113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8B51514-3ED3-E387-994B-908C52EC040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D2D1E4FD-DF30-133E-9B34-B7B138DA2193}"/>
              </a:ext>
            </a:extLst>
          </p:cNvPr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>
            <a:extLst>
              <a:ext uri="{FF2B5EF4-FFF2-40B4-BE49-F238E27FC236}">
                <a16:creationId xmlns:a16="http://schemas.microsoft.com/office/drawing/2014/main" id="{C5A9DADE-2312-7D0F-A87C-27FA7BDAFA50}"/>
              </a:ext>
            </a:extLst>
          </p:cNvPr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>
            <a:extLst>
              <a:ext uri="{FF2B5EF4-FFF2-40B4-BE49-F238E27FC236}">
                <a16:creationId xmlns:a16="http://schemas.microsoft.com/office/drawing/2014/main" id="{C1BEF498-8CDD-17A9-F52B-E638A4E638C5}"/>
              </a:ext>
            </a:extLst>
          </p:cNvPr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>
              <a:extLst>
                <a:ext uri="{FF2B5EF4-FFF2-40B4-BE49-F238E27FC236}">
                  <a16:creationId xmlns:a16="http://schemas.microsoft.com/office/drawing/2014/main" id="{FA0DA3FB-EBF1-8DAA-872C-E7DB020DEA04}"/>
                </a:ext>
              </a:extLst>
            </p:cNvPr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>
              <a:extLst>
                <a:ext uri="{FF2B5EF4-FFF2-40B4-BE49-F238E27FC236}">
                  <a16:creationId xmlns:a16="http://schemas.microsoft.com/office/drawing/2014/main" id="{069D931D-3AC5-0B2E-A9FC-7F24B094C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>
              <a:extLst>
                <a:ext uri="{FF2B5EF4-FFF2-40B4-BE49-F238E27FC236}">
                  <a16:creationId xmlns:a16="http://schemas.microsoft.com/office/drawing/2014/main" id="{D5B13A0A-B9F3-AFB2-5B58-F693EF77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>
            <a:extLst>
              <a:ext uri="{FF2B5EF4-FFF2-40B4-BE49-F238E27FC236}">
                <a16:creationId xmlns:a16="http://schemas.microsoft.com/office/drawing/2014/main" id="{E5B57672-7E16-92E6-100B-80816ADC6778}"/>
              </a:ext>
            </a:extLst>
          </p:cNvPr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284357DA-A73A-304D-DB06-CA00C7D36F19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7DD9024D-60A3-4123-01FA-0C6D820BF4BA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  <p:extLst>
      <p:ext uri="{BB962C8B-B14F-4D97-AF65-F5344CB8AC3E}">
        <p14:creationId xmlns:p14="http://schemas.microsoft.com/office/powerpoint/2010/main" val="1033589492"/>
      </p:ext>
    </p:extLst>
  </p:cSld>
  <p:clrMapOvr>
    <a:masterClrMapping/>
  </p:clrMapOvr>
  <p:transition spd="med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E09C7-4831-44C1-B12D-8ED410739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>
            <a:extLst>
              <a:ext uri="{FF2B5EF4-FFF2-40B4-BE49-F238E27FC236}">
                <a16:creationId xmlns:a16="http://schemas.microsoft.com/office/drawing/2014/main" id="{A50D51EF-85C5-3351-9486-B3A7D677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>
            <a:extLst>
              <a:ext uri="{FF2B5EF4-FFF2-40B4-BE49-F238E27FC236}">
                <a16:creationId xmlns:a16="http://schemas.microsoft.com/office/drawing/2014/main" id="{448ACA0A-5F84-2863-A10C-CA1A04429C86}"/>
              </a:ext>
            </a:extLst>
          </p:cNvPr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>
            <a:extLst>
              <a:ext uri="{FF2B5EF4-FFF2-40B4-BE49-F238E27FC236}">
                <a16:creationId xmlns:a16="http://schemas.microsoft.com/office/drawing/2014/main" id="{0525A38B-D56C-064E-4789-7EC3F33AE6D3}"/>
              </a:ext>
            </a:extLst>
          </p:cNvPr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>
            <a:extLst>
              <a:ext uri="{FF2B5EF4-FFF2-40B4-BE49-F238E27FC236}">
                <a16:creationId xmlns:a16="http://schemas.microsoft.com/office/drawing/2014/main" id="{CF210222-5211-3063-9224-2368AB922E89}"/>
              </a:ext>
            </a:extLst>
          </p:cNvPr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Explore the wide world of the server in </a:t>
            </a:r>
            <a:r>
              <a:rPr lang="en-US" b="1" dirty="0"/>
              <a:t>Exercise 10!</a:t>
            </a:r>
            <a:endParaRPr dirty="0"/>
          </a:p>
        </p:txBody>
      </p:sp>
      <p:sp>
        <p:nvSpPr>
          <p:cNvPr id="448" name="TextBox 6">
            <a:extLst>
              <a:ext uri="{FF2B5EF4-FFF2-40B4-BE49-F238E27FC236}">
                <a16:creationId xmlns:a16="http://schemas.microsoft.com/office/drawing/2014/main" id="{F6B151D1-6E30-F8E2-16AD-B19B5E1994C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036508"/>
      </p:ext>
    </p:extLst>
  </p:cSld>
  <p:clrMapOvr>
    <a:masterClrMapping/>
  </p:clrMapOvr>
  <p:transition spd="med"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115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116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21382</TotalTime>
  <Words>8884</Words>
  <Application>Microsoft Macintosh PowerPoint</Application>
  <PresentationFormat>Brugerdefineret</PresentationFormat>
  <Paragraphs>1819</Paragraphs>
  <Slides>116</Slides>
  <Notes>116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11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116</vt:i4>
      </vt:variant>
    </vt:vector>
  </HeadingPairs>
  <TitlesOfParts>
    <vt:vector size="128" baseType="lpstr">
      <vt:lpstr>Arial Unicode MS</vt:lpstr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Helene Scheel Wegener</cp:lastModifiedBy>
  <cp:revision>120</cp:revision>
  <dcterms:modified xsi:type="dcterms:W3CDTF">2025-06-19T12:13:38Z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