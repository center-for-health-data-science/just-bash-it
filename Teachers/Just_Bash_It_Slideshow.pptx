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332" r:id="rId16"/>
    <p:sldId id="267" r:id="rId17"/>
    <p:sldId id="268" r:id="rId18"/>
    <p:sldId id="269" r:id="rId19"/>
    <p:sldId id="338" r:id="rId20"/>
    <p:sldId id="271" r:id="rId21"/>
    <p:sldId id="272" r:id="rId22"/>
    <p:sldId id="273" r:id="rId23"/>
    <p:sldId id="274" r:id="rId24"/>
    <p:sldId id="275" r:id="rId25"/>
    <p:sldId id="276" r:id="rId26"/>
    <p:sldId id="279" r:id="rId27"/>
    <p:sldId id="280" r:id="rId28"/>
    <p:sldId id="281" r:id="rId29"/>
    <p:sldId id="282" r:id="rId30"/>
    <p:sldId id="283" r:id="rId31"/>
    <p:sldId id="333" r:id="rId32"/>
    <p:sldId id="339" r:id="rId33"/>
    <p:sldId id="277" r:id="rId34"/>
    <p:sldId id="278" r:id="rId35"/>
    <p:sldId id="343" r:id="rId36"/>
    <p:sldId id="342" r:id="rId37"/>
    <p:sldId id="344" r:id="rId38"/>
    <p:sldId id="345" r:id="rId39"/>
    <p:sldId id="340" r:id="rId40"/>
    <p:sldId id="341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350" r:id="rId52"/>
    <p:sldId id="294" r:id="rId53"/>
    <p:sldId id="352" r:id="rId54"/>
    <p:sldId id="295" r:id="rId55"/>
    <p:sldId id="296" r:id="rId56"/>
    <p:sldId id="297" r:id="rId57"/>
    <p:sldId id="298" r:id="rId58"/>
    <p:sldId id="299" r:id="rId59"/>
    <p:sldId id="353" r:id="rId60"/>
    <p:sldId id="359" r:id="rId61"/>
    <p:sldId id="301" r:id="rId62"/>
    <p:sldId id="302" r:id="rId63"/>
    <p:sldId id="304" r:id="rId64"/>
    <p:sldId id="303" r:id="rId65"/>
    <p:sldId id="355" r:id="rId66"/>
    <p:sldId id="356" r:id="rId67"/>
    <p:sldId id="365" r:id="rId68"/>
    <p:sldId id="357" r:id="rId69"/>
    <p:sldId id="305" r:id="rId70"/>
    <p:sldId id="358" r:id="rId71"/>
    <p:sldId id="306" r:id="rId72"/>
    <p:sldId id="360" r:id="rId73"/>
    <p:sldId id="367" r:id="rId74"/>
    <p:sldId id="307" r:id="rId75"/>
    <p:sldId id="363" r:id="rId76"/>
    <p:sldId id="364" r:id="rId77"/>
    <p:sldId id="373" r:id="rId78"/>
    <p:sldId id="362" r:id="rId79"/>
    <p:sldId id="366" r:id="rId80"/>
    <p:sldId id="361" r:id="rId81"/>
    <p:sldId id="308" r:id="rId82"/>
    <p:sldId id="309" r:id="rId83"/>
    <p:sldId id="310" r:id="rId84"/>
    <p:sldId id="311" r:id="rId85"/>
    <p:sldId id="312" r:id="rId86"/>
    <p:sldId id="313" r:id="rId87"/>
    <p:sldId id="314" r:id="rId88"/>
    <p:sldId id="315" r:id="rId89"/>
    <p:sldId id="375" r:id="rId90"/>
    <p:sldId id="316" r:id="rId91"/>
    <p:sldId id="368" r:id="rId92"/>
    <p:sldId id="317" r:id="rId93"/>
    <p:sldId id="318" r:id="rId94"/>
    <p:sldId id="319" r:id="rId95"/>
    <p:sldId id="320" r:id="rId96"/>
    <p:sldId id="321" r:id="rId97"/>
    <p:sldId id="374" r:id="rId98"/>
    <p:sldId id="322" r:id="rId99"/>
    <p:sldId id="323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70" r:id="rId108"/>
    <p:sldId id="329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C1FF"/>
    <a:srgbClr val="374556"/>
    <a:srgbClr val="FFA7C0"/>
    <a:srgbClr val="FF6966"/>
    <a:srgbClr val="F0CEFF"/>
    <a:srgbClr val="D4A5FF"/>
    <a:srgbClr val="B4C9FF"/>
    <a:srgbClr val="8EB4E3"/>
    <a:srgbClr val="9CC9B4"/>
    <a:srgbClr val="FFE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47"/>
    <p:restoredTop sz="84591" autoAdjust="0"/>
  </p:normalViewPr>
  <p:slideViewPr>
    <p:cSldViewPr snapToGrid="0">
      <p:cViewPr varScale="1">
        <p:scale>
          <a:sx n="46" d="100"/>
          <a:sy n="46" d="100"/>
        </p:scale>
        <p:origin x="1672" y="17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err="1"/>
              <a:t>sh</a:t>
            </a:r>
            <a:r>
              <a:t>).</a:t>
            </a:r>
            <a:endParaRPr dirty="0"/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819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6473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873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0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0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0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0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1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5.jp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305066" y="9799810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4956622" y="9799893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867D87-FE20-DF05-836F-FD40DB9F73B9}"/>
              </a:ext>
            </a:extLst>
          </p:cNvPr>
          <p:cNvGrpSpPr>
            <a:grpSpLocks noChangeAspect="1"/>
          </p:cNvGrpSpPr>
          <p:nvPr/>
        </p:nvGrpSpPr>
        <p:grpSpPr>
          <a:xfrm>
            <a:off x="14936933" y="6816436"/>
            <a:ext cx="2770734" cy="2776394"/>
            <a:chOff x="14803708" y="4943820"/>
            <a:chExt cx="2985513" cy="2991612"/>
          </a:xfrm>
        </p:grpSpPr>
        <p:grpSp>
          <p:nvGrpSpPr>
            <p:cNvPr id="406" name="Group"/>
            <p:cNvGrpSpPr/>
            <p:nvPr/>
          </p:nvGrpSpPr>
          <p:grpSpPr>
            <a:xfrm>
              <a:off x="14803708" y="4958822"/>
              <a:ext cx="2976610" cy="2976610"/>
              <a:chOff x="0" y="0"/>
              <a:chExt cx="2976608" cy="2976608"/>
            </a:xfrm>
          </p:grpSpPr>
          <p:sp>
            <p:nvSpPr>
              <p:cNvPr id="404" name="Circle"/>
              <p:cNvSpPr/>
              <p:nvPr/>
            </p:nvSpPr>
            <p:spPr>
              <a:xfrm>
                <a:off x="-1" y="-1"/>
                <a:ext cx="2976610" cy="2976610"/>
              </a:xfrm>
              <a:prstGeom prst="ellipse">
                <a:avLst/>
              </a:prstGeom>
              <a:solidFill>
                <a:srgbClr val="D6D6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99999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pic>
            <p:nvPicPr>
              <p:cNvPr id="405" name="linkedinphotoscaled.jpg" descr="linkedinphotoscaled.jpg"/>
              <p:cNvPicPr>
                <a:picLocks noChangeAspect="1"/>
              </p:cNvPicPr>
              <p:nvPr/>
            </p:nvPicPr>
            <p:blipFill>
              <a:blip r:embed="rId4"/>
              <a:srcRect l="8" r="1" b="176"/>
              <a:stretch>
                <a:fillRect/>
              </a:stretch>
            </p:blipFill>
            <p:spPr>
              <a:xfrm>
                <a:off x="325333" y="171569"/>
                <a:ext cx="2325689" cy="280497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0531" extrusionOk="0">
                    <a:moveTo>
                      <a:pt x="4077" y="0"/>
                    </a:moveTo>
                    <a:cubicBezTo>
                      <a:pt x="2940" y="486"/>
                      <a:pt x="1867" y="1097"/>
                      <a:pt x="903" y="1845"/>
                    </a:cubicBezTo>
                    <a:cubicBezTo>
                      <a:pt x="581" y="2095"/>
                      <a:pt x="284" y="2354"/>
                      <a:pt x="0" y="2620"/>
                    </a:cubicBezTo>
                    <a:lnTo>
                      <a:pt x="0" y="16544"/>
                    </a:lnTo>
                    <a:cubicBezTo>
                      <a:pt x="284" y="16810"/>
                      <a:pt x="581" y="17076"/>
                      <a:pt x="903" y="17325"/>
                    </a:cubicBezTo>
                    <a:cubicBezTo>
                      <a:pt x="6407" y="21600"/>
                      <a:pt x="15332" y="21600"/>
                      <a:pt x="20837" y="17325"/>
                    </a:cubicBezTo>
                    <a:cubicBezTo>
                      <a:pt x="21109" y="17114"/>
                      <a:pt x="21355" y="16887"/>
                      <a:pt x="21600" y="16663"/>
                    </a:cubicBezTo>
                    <a:lnTo>
                      <a:pt x="21600" y="2501"/>
                    </a:lnTo>
                    <a:cubicBezTo>
                      <a:pt x="21355" y="2278"/>
                      <a:pt x="21109" y="2056"/>
                      <a:pt x="20837" y="1845"/>
                    </a:cubicBezTo>
                    <a:cubicBezTo>
                      <a:pt x="19872" y="1097"/>
                      <a:pt x="18797" y="486"/>
                      <a:pt x="17660" y="0"/>
                    </a:cubicBezTo>
                    <a:lnTo>
                      <a:pt x="4077" y="0"/>
                    </a:lnTo>
                    <a:close/>
                  </a:path>
                </a:pathLst>
              </a:cu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407" name="Circle"/>
            <p:cNvSpPr/>
            <p:nvPr/>
          </p:nvSpPr>
          <p:spPr>
            <a:xfrm>
              <a:off x="14809553" y="4943820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BC6EA0-6C8D-9111-89CC-D123B56F778E}"/>
              </a:ext>
            </a:extLst>
          </p:cNvPr>
          <p:cNvGrpSpPr>
            <a:grpSpLocks noChangeAspect="1"/>
          </p:cNvGrpSpPr>
          <p:nvPr/>
        </p:nvGrpSpPr>
        <p:grpSpPr>
          <a:xfrm>
            <a:off x="19305066" y="6816436"/>
            <a:ext cx="2765051" cy="2759230"/>
            <a:chOff x="19147773" y="4943835"/>
            <a:chExt cx="2995736" cy="2989429"/>
          </a:xfrm>
        </p:grpSpPr>
        <p:pic>
          <p:nvPicPr>
            <p:cNvPr id="417" name="thilde_terkelsen.jpg" descr="thilde_terkelsen.jpg"/>
            <p:cNvPicPr>
              <a:picLocks noChangeAspect="1"/>
            </p:cNvPicPr>
            <p:nvPr/>
          </p:nvPicPr>
          <p:blipFill>
            <a:blip r:embed="rId5"/>
            <a:srcRect l="34087" r="11117" b="157"/>
            <a:stretch>
              <a:fillRect/>
            </a:stretch>
          </p:blipFill>
          <p:spPr>
            <a:xfrm>
              <a:off x="19147773" y="4956536"/>
              <a:ext cx="2995736" cy="29767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20589" extrusionOk="0">
                  <a:moveTo>
                    <a:pt x="8357" y="0"/>
                  </a:moveTo>
                  <a:cubicBezTo>
                    <a:pt x="6354" y="320"/>
                    <a:pt x="4424" y="1279"/>
                    <a:pt x="2881" y="2903"/>
                  </a:cubicBezTo>
                  <a:cubicBezTo>
                    <a:pt x="-961" y="6949"/>
                    <a:pt x="-961" y="13509"/>
                    <a:pt x="2881" y="17555"/>
                  </a:cubicBezTo>
                  <a:cubicBezTo>
                    <a:pt x="6723" y="21600"/>
                    <a:pt x="12955" y="21600"/>
                    <a:pt x="16797" y="17555"/>
                  </a:cubicBezTo>
                  <a:cubicBezTo>
                    <a:pt x="20639" y="13509"/>
                    <a:pt x="20639" y="6949"/>
                    <a:pt x="16797" y="2903"/>
                  </a:cubicBezTo>
                  <a:cubicBezTo>
                    <a:pt x="15254" y="1279"/>
                    <a:pt x="13325" y="320"/>
                    <a:pt x="11321" y="0"/>
                  </a:cubicBezTo>
                  <a:lnTo>
                    <a:pt x="8357" y="0"/>
                  </a:lnTo>
                  <a:close/>
                </a:path>
              </a:pathLst>
            </a:custGeom>
            <a:ln w="12700">
              <a:miter lim="400000"/>
            </a:ln>
          </p:spPr>
        </p:pic>
        <p:sp>
          <p:nvSpPr>
            <p:cNvPr id="418" name="Circle"/>
            <p:cNvSpPr/>
            <p:nvPr/>
          </p:nvSpPr>
          <p:spPr>
            <a:xfrm>
              <a:off x="19162879" y="4943835"/>
              <a:ext cx="2979669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565397" y="4814050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9" y="9749761"/>
            <a:ext cx="19571448" cy="2627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Many scientific programs do not have a GUI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24" grpId="0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3" name="CustomShape 11"/>
          <p:cNvSpPr txBox="1"/>
          <p:nvPr/>
        </p:nvSpPr>
        <p:spPr>
          <a:xfrm>
            <a:off x="1225079" y="5656319"/>
            <a:ext cx="6812282" cy="1868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sp>
        <p:nvSpPr>
          <p:cNvPr id="654" name="Group 3"/>
          <p:cNvSpPr txBox="1"/>
          <p:nvPr/>
        </p:nvSpPr>
        <p:spPr>
          <a:xfrm>
            <a:off x="3172866" y="1093075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pic>
        <p:nvPicPr>
          <p:cNvPr id="656" name="Group" descr="Group"/>
          <p:cNvPicPr>
            <a:picLocks noChangeAspect="1"/>
          </p:cNvPicPr>
          <p:nvPr/>
        </p:nvPicPr>
        <p:blipFill>
          <a:blip r:embed="rId3"/>
          <a:srcRect l="11031" t="602" r="11593" b="874"/>
          <a:stretch>
            <a:fillRect/>
          </a:stretch>
        </p:blipFill>
        <p:spPr>
          <a:xfrm>
            <a:off x="13748188" y="3279572"/>
            <a:ext cx="8655845" cy="83943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2019" y="0"/>
                </a:moveTo>
                <a:cubicBezTo>
                  <a:pt x="1427" y="0"/>
                  <a:pt x="1071" y="0"/>
                  <a:pt x="834" y="102"/>
                </a:cubicBezTo>
                <a:cubicBezTo>
                  <a:pt x="492" y="230"/>
                  <a:pt x="223" y="507"/>
                  <a:pt x="99" y="860"/>
                </a:cubicBezTo>
                <a:cubicBezTo>
                  <a:pt x="0" y="1104"/>
                  <a:pt x="0" y="1471"/>
                  <a:pt x="0" y="2082"/>
                </a:cubicBezTo>
                <a:lnTo>
                  <a:pt x="0" y="19517"/>
                </a:lnTo>
                <a:cubicBezTo>
                  <a:pt x="0" y="20128"/>
                  <a:pt x="0" y="20495"/>
                  <a:pt x="99" y="20739"/>
                </a:cubicBezTo>
                <a:cubicBezTo>
                  <a:pt x="223" y="21092"/>
                  <a:pt x="492" y="21370"/>
                  <a:pt x="834" y="21498"/>
                </a:cubicBezTo>
                <a:cubicBezTo>
                  <a:pt x="1071" y="21600"/>
                  <a:pt x="1427" y="21599"/>
                  <a:pt x="2019" y="21599"/>
                </a:cubicBezTo>
                <a:lnTo>
                  <a:pt x="19581" y="21599"/>
                </a:lnTo>
                <a:cubicBezTo>
                  <a:pt x="20173" y="21599"/>
                  <a:pt x="20529" y="21600"/>
                  <a:pt x="20766" y="21498"/>
                </a:cubicBezTo>
                <a:cubicBezTo>
                  <a:pt x="21108" y="21370"/>
                  <a:pt x="21377" y="21092"/>
                  <a:pt x="21501" y="20739"/>
                </a:cubicBezTo>
                <a:cubicBezTo>
                  <a:pt x="21600" y="20495"/>
                  <a:pt x="21600" y="20128"/>
                  <a:pt x="21600" y="19517"/>
                </a:cubicBezTo>
                <a:lnTo>
                  <a:pt x="21600" y="2082"/>
                </a:lnTo>
                <a:cubicBezTo>
                  <a:pt x="21600" y="1471"/>
                  <a:pt x="21600" y="1104"/>
                  <a:pt x="21501" y="860"/>
                </a:cubicBezTo>
                <a:cubicBezTo>
                  <a:pt x="21377" y="507"/>
                  <a:pt x="21108" y="230"/>
                  <a:pt x="20766" y="102"/>
                </a:cubicBezTo>
                <a:cubicBezTo>
                  <a:pt x="20529" y="0"/>
                  <a:pt x="20173" y="0"/>
                  <a:pt x="19581" y="0"/>
                </a:cubicBezTo>
                <a:lnTo>
                  <a:pt x="2019" y="0"/>
                </a:lnTo>
                <a:close/>
              </a:path>
            </a:pathLst>
          </a:custGeom>
          <a:ln w="127000">
            <a:solidFill>
              <a:srgbClr val="FFC899"/>
            </a:solidFill>
          </a:ln>
        </p:spPr>
      </p:pic>
      <p:sp>
        <p:nvSpPr>
          <p:cNvPr id="657" name="Line"/>
          <p:cNvSpPr/>
          <p:nvPr/>
        </p:nvSpPr>
        <p:spPr>
          <a:xfrm>
            <a:off x="153136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E74F641E-A773-C220-D9A2-E71B2D3C6BE1}"/>
              </a:ext>
            </a:extLst>
          </p:cNvPr>
          <p:cNvSpPr txBox="1"/>
          <p:nvPr/>
        </p:nvSpPr>
        <p:spPr>
          <a:xfrm>
            <a:off x="1647705" y="3967875"/>
            <a:ext cx="10235194" cy="79406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rPr lang="en-US" sz="3000" dirty="0">
                <a:solidFill>
                  <a:srgbClr val="F8F8F8"/>
                </a:solidFill>
                <a:effectLst/>
              </a:rPr>
              <a:t>You can think of the </a:t>
            </a:r>
            <a:r>
              <a:rPr lang="en-US" sz="3000" b="1" dirty="0">
                <a:solidFill>
                  <a:srgbClr val="F8F8F8"/>
                </a:solidFill>
                <a:effectLst/>
              </a:rPr>
              <a:t>file tree </a:t>
            </a:r>
            <a:r>
              <a:rPr lang="en-US" sz="3000" dirty="0">
                <a:solidFill>
                  <a:srgbClr val="F8F8F8"/>
                </a:solidFill>
                <a:effectLst/>
              </a:rPr>
              <a:t>like the floor plan of a house:</a:t>
            </a:r>
          </a:p>
          <a:p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Rooms and items are in specific places. The bed i.e. is in the bedroom.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</a:rPr>
              <a:t>You are always in a specific room. You cannot be in two different rooms at the same time.</a:t>
            </a:r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In order to interact with items, you need to know where in your house it is.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Items can be moved from one room to another.</a:t>
            </a:r>
          </a:p>
          <a:p>
            <a:pPr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6572858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roup 3"/>
          <p:cNvSpPr txBox="1"/>
          <p:nvPr/>
        </p:nvSpPr>
        <p:spPr>
          <a:xfrm>
            <a:off x="9100192" y="1016000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sp>
        <p:nvSpPr>
          <p:cNvPr id="661" name="CustomShape 13"/>
          <p:cNvSpPr txBox="1"/>
          <p:nvPr/>
        </p:nvSpPr>
        <p:spPr>
          <a:xfrm>
            <a:off x="3520318" y="3406970"/>
            <a:ext cx="8047802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 loose translation of the floor plan into a directory tree:</a:t>
            </a:r>
          </a:p>
        </p:txBody>
      </p:sp>
      <p:sp>
        <p:nvSpPr>
          <p:cNvPr id="662" name="CustomShape 13"/>
          <p:cNvSpPr txBox="1"/>
          <p:nvPr/>
        </p:nvSpPr>
        <p:spPr>
          <a:xfrm>
            <a:off x="13975017" y="3330579"/>
            <a:ext cx="7965118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directory tree</a:t>
            </a:r>
            <a:r>
              <a:rPr sz="3000" dirty="0"/>
              <a:t> is hierarchical and starts at the ‘root’ = ‘/’</a:t>
            </a:r>
          </a:p>
        </p:txBody>
      </p:sp>
      <p:sp>
        <p:nvSpPr>
          <p:cNvPr id="674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grpSp>
        <p:nvGrpSpPr>
          <p:cNvPr id="677" name="Group"/>
          <p:cNvGrpSpPr/>
          <p:nvPr/>
        </p:nvGrpSpPr>
        <p:grpSpPr>
          <a:xfrm>
            <a:off x="3633833" y="5239916"/>
            <a:ext cx="7357270" cy="7135019"/>
            <a:chOff x="0" y="0"/>
            <a:chExt cx="7357268" cy="7135018"/>
          </a:xfrm>
        </p:grpSpPr>
        <p:pic>
          <p:nvPicPr>
            <p:cNvPr id="675" name="Group" descr="Group"/>
            <p:cNvPicPr>
              <a:picLocks noChangeAspect="1"/>
            </p:cNvPicPr>
            <p:nvPr/>
          </p:nvPicPr>
          <p:blipFill>
            <a:blip r:embed="rId3"/>
            <a:srcRect l="11031" t="602" r="11591" b="870"/>
            <a:stretch>
              <a:fillRect/>
            </a:stretch>
          </p:blipFill>
          <p:spPr>
            <a:xfrm>
              <a:off x="0" y="0"/>
              <a:ext cx="7357269" cy="71350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19" y="0"/>
                  </a:moveTo>
                  <a:cubicBezTo>
                    <a:pt x="1427" y="0"/>
                    <a:pt x="1071" y="0"/>
                    <a:pt x="834" y="102"/>
                  </a:cubicBezTo>
                  <a:cubicBezTo>
                    <a:pt x="493" y="230"/>
                    <a:pt x="223" y="508"/>
                    <a:pt x="99" y="860"/>
                  </a:cubicBezTo>
                  <a:cubicBezTo>
                    <a:pt x="0" y="1105"/>
                    <a:pt x="0" y="1471"/>
                    <a:pt x="0" y="2082"/>
                  </a:cubicBezTo>
                  <a:lnTo>
                    <a:pt x="0" y="19518"/>
                  </a:lnTo>
                  <a:cubicBezTo>
                    <a:pt x="0" y="20129"/>
                    <a:pt x="0" y="20495"/>
                    <a:pt x="99" y="20740"/>
                  </a:cubicBezTo>
                  <a:cubicBezTo>
                    <a:pt x="223" y="21092"/>
                    <a:pt x="493" y="21370"/>
                    <a:pt x="834" y="21498"/>
                  </a:cubicBezTo>
                  <a:cubicBezTo>
                    <a:pt x="1071" y="21600"/>
                    <a:pt x="1427" y="21600"/>
                    <a:pt x="2019" y="21600"/>
                  </a:cubicBezTo>
                  <a:lnTo>
                    <a:pt x="19581" y="21600"/>
                  </a:lnTo>
                  <a:cubicBezTo>
                    <a:pt x="20173" y="21600"/>
                    <a:pt x="20529" y="21600"/>
                    <a:pt x="20766" y="21498"/>
                  </a:cubicBezTo>
                  <a:cubicBezTo>
                    <a:pt x="21107" y="21370"/>
                    <a:pt x="21377" y="21092"/>
                    <a:pt x="21501" y="20740"/>
                  </a:cubicBezTo>
                  <a:cubicBezTo>
                    <a:pt x="21600" y="20495"/>
                    <a:pt x="21600" y="20129"/>
                    <a:pt x="21600" y="19518"/>
                  </a:cubicBezTo>
                  <a:lnTo>
                    <a:pt x="21600" y="2082"/>
                  </a:lnTo>
                  <a:cubicBezTo>
                    <a:pt x="21600" y="1471"/>
                    <a:pt x="21600" y="1105"/>
                    <a:pt x="21501" y="860"/>
                  </a:cubicBezTo>
                  <a:cubicBezTo>
                    <a:pt x="21377" y="508"/>
                    <a:pt x="21107" y="230"/>
                    <a:pt x="20766" y="102"/>
                  </a:cubicBezTo>
                  <a:cubicBezTo>
                    <a:pt x="20529" y="0"/>
                    <a:pt x="20173" y="0"/>
                    <a:pt x="19581" y="0"/>
                  </a:cubicBezTo>
                  <a:lnTo>
                    <a:pt x="2019" y="0"/>
                  </a:lnTo>
                  <a:close/>
                </a:path>
              </a:pathLst>
            </a:custGeom>
            <a:ln w="127000" cap="flat">
              <a:solidFill>
                <a:srgbClr val="FFC899"/>
              </a:solidFill>
              <a:prstDash val="solid"/>
              <a:round/>
            </a:ln>
            <a:effectLst/>
          </p:spPr>
        </p:pic>
        <p:sp>
          <p:nvSpPr>
            <p:cNvPr id="676" name="CustomShape 17"/>
            <p:cNvSpPr/>
            <p:nvPr/>
          </p:nvSpPr>
          <p:spPr>
            <a:xfrm>
              <a:off x="5552355" y="4376627"/>
              <a:ext cx="1742041" cy="1496705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603205-7E4B-4B66-1829-DF895AACE581}"/>
              </a:ext>
            </a:extLst>
          </p:cNvPr>
          <p:cNvGrpSpPr>
            <a:grpSpLocks noChangeAspect="1"/>
          </p:cNvGrpSpPr>
          <p:nvPr/>
        </p:nvGrpSpPr>
        <p:grpSpPr>
          <a:xfrm>
            <a:off x="15010136" y="5029200"/>
            <a:ext cx="5968181" cy="7760972"/>
            <a:chOff x="15010137" y="5624926"/>
            <a:chExt cx="5510068" cy="7165246"/>
          </a:xfrm>
        </p:grpSpPr>
        <p:sp>
          <p:nvSpPr>
            <p:cNvPr id="664" name="CustomShape 3"/>
            <p:cNvSpPr/>
            <p:nvPr/>
          </p:nvSpPr>
          <p:spPr>
            <a:xfrm>
              <a:off x="15010137" y="9084262"/>
              <a:ext cx="844051" cy="1040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>
              <a:miter lim="400000"/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671" name="Group 4"/>
            <p:cNvGrpSpPr/>
            <p:nvPr/>
          </p:nvGrpSpPr>
          <p:grpSpPr>
            <a:xfrm>
              <a:off x="16065389" y="9070296"/>
              <a:ext cx="1203966" cy="1186007"/>
              <a:chOff x="0" y="2"/>
              <a:chExt cx="1342329" cy="1322305"/>
            </a:xfrm>
          </p:grpSpPr>
          <p:sp>
            <p:nvSpPr>
              <p:cNvPr id="665" name="CustomShape 5"/>
              <p:cNvSpPr/>
              <p:nvPr/>
            </p:nvSpPr>
            <p:spPr>
              <a:xfrm rot="2220000">
                <a:off x="670706" y="92722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6" name="CustomShape 6"/>
              <p:cNvSpPr/>
              <p:nvPr/>
            </p:nvSpPr>
            <p:spPr>
              <a:xfrm rot="2220000">
                <a:off x="61688" y="47874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7" name="CustomShape 7"/>
              <p:cNvSpPr/>
              <p:nvPr/>
            </p:nvSpPr>
            <p:spPr>
              <a:xfrm rot="2220000">
                <a:off x="760880" y="184649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8" name="CustomShape 8"/>
              <p:cNvSpPr/>
              <p:nvPr/>
            </p:nvSpPr>
            <p:spPr>
              <a:xfrm rot="2220000">
                <a:off x="848664" y="442189"/>
                <a:ext cx="357272" cy="572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9" name="CustomShape 9"/>
              <p:cNvSpPr/>
              <p:nvPr/>
            </p:nvSpPr>
            <p:spPr>
              <a:xfrm rot="9420000">
                <a:off x="249220" y="702466"/>
                <a:ext cx="357272" cy="57281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70" name="CustomShape 10"/>
              <p:cNvSpPr/>
              <p:nvPr/>
            </p:nvSpPr>
            <p:spPr>
              <a:xfrm rot="2220000" flipH="1">
                <a:off x="329488" y="49733"/>
                <a:ext cx="356930" cy="572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673" name="CustomShape 17"/>
            <p:cNvSpPr/>
            <p:nvPr/>
          </p:nvSpPr>
          <p:spPr>
            <a:xfrm>
              <a:off x="18236906" y="10832420"/>
              <a:ext cx="1432094" cy="1357719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5">
              <a:extLst>
                <a:ext uri="{FF2B5EF4-FFF2-40B4-BE49-F238E27FC236}">
                  <a16:creationId xmlns:a16="http://schemas.microsoft.com/office/drawing/2014/main" id="{34800861-90F6-7B3D-5CEC-45363E61BFFB}"/>
                </a:ext>
              </a:extLst>
            </p:cNvPr>
            <p:cNvSpPr txBox="1"/>
            <p:nvPr/>
          </p:nvSpPr>
          <p:spPr>
            <a:xfrm>
              <a:off x="15375323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Kitchen</a:t>
              </a:r>
            </a:p>
          </p:txBody>
        </p:sp>
        <p:sp>
          <p:nvSpPr>
            <p:cNvPr id="8" name="TextBox 18">
              <a:extLst>
                <a:ext uri="{FF2B5EF4-FFF2-40B4-BE49-F238E27FC236}">
                  <a16:creationId xmlns:a16="http://schemas.microsoft.com/office/drawing/2014/main" id="{913D68B0-8F7A-22C6-501D-BD75A19C26A1}"/>
                </a:ext>
              </a:extLst>
            </p:cNvPr>
            <p:cNvSpPr txBox="1"/>
            <p:nvPr/>
          </p:nvSpPr>
          <p:spPr>
            <a:xfrm>
              <a:off x="15813733" y="10166750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Bathroom</a:t>
              </a:r>
            </a:p>
          </p:txBody>
        </p:sp>
        <p:sp>
          <p:nvSpPr>
            <p:cNvPr id="9" name="TextBox 19">
              <a:extLst>
                <a:ext uri="{FF2B5EF4-FFF2-40B4-BE49-F238E27FC236}">
                  <a16:creationId xmlns:a16="http://schemas.microsoft.com/office/drawing/2014/main" id="{2D199743-BA45-3D0A-A21E-77CB9BBC1F46}"/>
                </a:ext>
              </a:extLst>
            </p:cNvPr>
            <p:cNvSpPr txBox="1"/>
            <p:nvPr/>
          </p:nvSpPr>
          <p:spPr>
            <a:xfrm>
              <a:off x="17900376" y="10166750"/>
              <a:ext cx="2619829" cy="4698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Master Bedroom</a:t>
              </a:r>
            </a:p>
          </p:txBody>
        </p:sp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A1EC7362-7632-6835-FA1C-4BB59E7C0BED}"/>
                </a:ext>
              </a:extLst>
            </p:cNvPr>
            <p:cNvSpPr txBox="1"/>
            <p:nvPr/>
          </p:nvSpPr>
          <p:spPr>
            <a:xfrm>
              <a:off x="17876894" y="12368390"/>
              <a:ext cx="2345491" cy="421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800" dirty="0">
                  <a:solidFill>
                    <a:srgbClr val="FFFFFF"/>
                  </a:solidFill>
                  <a:latin typeface="HK Grotesk Medium"/>
                </a:rPr>
                <a:t>my_bed.csv</a:t>
              </a:r>
            </a:p>
          </p:txBody>
        </p:sp>
        <p:grpSp>
          <p:nvGrpSpPr>
            <p:cNvPr id="11" name="Picture 22">
              <a:extLst>
                <a:ext uri="{FF2B5EF4-FFF2-40B4-BE49-F238E27FC236}">
                  <a16:creationId xmlns:a16="http://schemas.microsoft.com/office/drawing/2014/main" id="{98EA6729-4C76-2EC6-5562-E32C2B1A9F60}"/>
                </a:ext>
              </a:extLst>
            </p:cNvPr>
            <p:cNvGrpSpPr/>
            <p:nvPr/>
          </p:nvGrpSpPr>
          <p:grpSpPr>
            <a:xfrm>
              <a:off x="15934032" y="7243139"/>
              <a:ext cx="1027815" cy="79391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F040674-5163-B373-79CB-5DE0C6275382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573FD0B7-2812-BD30-5425-ABCFB3640D4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C21304D-E1F8-FA81-B2C3-D8C5CA778AB6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2" name="Picture 23">
              <a:extLst>
                <a:ext uri="{FF2B5EF4-FFF2-40B4-BE49-F238E27FC236}">
                  <a16:creationId xmlns:a16="http://schemas.microsoft.com/office/drawing/2014/main" id="{33AD7324-1F3B-AB09-3755-4C1DD4A8DCFF}"/>
                </a:ext>
              </a:extLst>
            </p:cNvPr>
            <p:cNvGrpSpPr/>
            <p:nvPr/>
          </p:nvGrpSpPr>
          <p:grpSpPr>
            <a:xfrm>
              <a:off x="18048579" y="7243139"/>
              <a:ext cx="1027815" cy="79391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2F171DE-56DD-BDFF-B607-49D51AE3C5C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B469355-9F54-9912-8A4A-C0B29305EDE5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B6BB836B-F46A-E8BF-6F6C-9F4C0C233C9F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4">
              <a:extLst>
                <a:ext uri="{FF2B5EF4-FFF2-40B4-BE49-F238E27FC236}">
                  <a16:creationId xmlns:a16="http://schemas.microsoft.com/office/drawing/2014/main" id="{FEC4F5D4-AD45-4748-7ADD-A7CE71550552}"/>
                </a:ext>
              </a:extLst>
            </p:cNvPr>
            <p:cNvGrpSpPr/>
            <p:nvPr/>
          </p:nvGrpSpPr>
          <p:grpSpPr>
            <a:xfrm>
              <a:off x="16384525" y="9225469"/>
              <a:ext cx="1027815" cy="793914"/>
              <a:chOff x="8281530" y="8325179"/>
              <a:chExt cx="1145935" cy="885154"/>
            </a:xfrm>
            <a:solidFill>
              <a:srgbClr val="FFFFFF"/>
            </a:solidFill>
          </p:grpSpPr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1F6095C4-E6A8-71F3-2CC4-1ECCCF144061}"/>
                  </a:ext>
                </a:extLst>
              </p:cNvPr>
              <p:cNvSpPr/>
              <p:nvPr/>
            </p:nvSpPr>
            <p:spPr>
              <a:xfrm>
                <a:off x="8281530" y="8325179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5ADA801B-F508-DDE2-618A-0818FEF5AF57}"/>
                  </a:ext>
                </a:extLst>
              </p:cNvPr>
              <p:cNvSpPr/>
              <p:nvPr/>
            </p:nvSpPr>
            <p:spPr>
              <a:xfrm>
                <a:off x="8429713" y="8398808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9202FD4-B124-4599-4A20-0BED2308618F}"/>
                  </a:ext>
                </a:extLst>
              </p:cNvPr>
              <p:cNvSpPr/>
              <p:nvPr/>
            </p:nvSpPr>
            <p:spPr>
              <a:xfrm>
                <a:off x="8355936" y="8398808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4" name="Picture 25">
              <a:extLst>
                <a:ext uri="{FF2B5EF4-FFF2-40B4-BE49-F238E27FC236}">
                  <a16:creationId xmlns:a16="http://schemas.microsoft.com/office/drawing/2014/main" id="{E392056F-4365-BA11-9598-C9984D076592}"/>
                </a:ext>
              </a:extLst>
            </p:cNvPr>
            <p:cNvGrpSpPr/>
            <p:nvPr/>
          </p:nvGrpSpPr>
          <p:grpSpPr>
            <a:xfrm>
              <a:off x="18313720" y="9225469"/>
              <a:ext cx="1027815" cy="793914"/>
              <a:chOff x="10432435" y="8349853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966DC447-CE49-7CBC-74C4-82DA55F22847}"/>
                  </a:ext>
                </a:extLst>
              </p:cNvPr>
              <p:cNvSpPr/>
              <p:nvPr/>
            </p:nvSpPr>
            <p:spPr>
              <a:xfrm>
                <a:off x="10432435" y="8349853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01BA4BE-00D2-DA6B-8585-C076641CF204}"/>
                  </a:ext>
                </a:extLst>
              </p:cNvPr>
              <p:cNvSpPr/>
              <p:nvPr/>
            </p:nvSpPr>
            <p:spPr>
              <a:xfrm>
                <a:off x="10580618" y="8423482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5D5163C4-600B-549C-2BDF-3648EA514433}"/>
                  </a:ext>
                </a:extLst>
              </p:cNvPr>
              <p:cNvSpPr/>
              <p:nvPr/>
            </p:nvSpPr>
            <p:spPr>
              <a:xfrm>
                <a:off x="10506841" y="8423482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5" name="Picture 26">
              <a:extLst>
                <a:ext uri="{FF2B5EF4-FFF2-40B4-BE49-F238E27FC236}">
                  <a16:creationId xmlns:a16="http://schemas.microsoft.com/office/drawing/2014/main" id="{D2D25C1D-A10F-60AE-1894-6AFCFEF7E661}"/>
                </a:ext>
              </a:extLst>
            </p:cNvPr>
            <p:cNvGrpSpPr/>
            <p:nvPr/>
          </p:nvGrpSpPr>
          <p:grpSpPr>
            <a:xfrm>
              <a:off x="16828938" y="5624926"/>
              <a:ext cx="1027815" cy="793915"/>
              <a:chOff x="8777016" y="3895501"/>
              <a:chExt cx="1145935" cy="885155"/>
            </a:xfrm>
            <a:solidFill>
              <a:srgbClr val="FFFFFF"/>
            </a:solidFill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A2567FCD-CFF2-FCEC-9DF1-FBC8BE39BAE4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5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1F82CAE8-7AB1-C6E5-D5DA-8290B962C6CE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477F90E6-F100-8E41-520B-C3C7E298826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6" name="AutoShape 27">
              <a:extLst>
                <a:ext uri="{FF2B5EF4-FFF2-40B4-BE49-F238E27FC236}">
                  <a16:creationId xmlns:a16="http://schemas.microsoft.com/office/drawing/2014/main" id="{14BB718E-B190-B901-5AC5-F7D6950CAB29}"/>
                </a:ext>
              </a:extLst>
            </p:cNvPr>
            <p:cNvSpPr/>
            <p:nvPr/>
          </p:nvSpPr>
          <p:spPr>
            <a:xfrm>
              <a:off x="16352660" y="6814198"/>
              <a:ext cx="2226912" cy="23075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0">
              <a:extLst>
                <a:ext uri="{FF2B5EF4-FFF2-40B4-BE49-F238E27FC236}">
                  <a16:creationId xmlns:a16="http://schemas.microsoft.com/office/drawing/2014/main" id="{E021B408-8E50-5D48-7F5C-2FBD40224713}"/>
                </a:ext>
              </a:extLst>
            </p:cNvPr>
            <p:cNvSpPr/>
            <p:nvPr/>
          </p:nvSpPr>
          <p:spPr>
            <a:xfrm rot="16200000">
              <a:off x="18374050" y="7008623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1">
              <a:extLst>
                <a:ext uri="{FF2B5EF4-FFF2-40B4-BE49-F238E27FC236}">
                  <a16:creationId xmlns:a16="http://schemas.microsoft.com/office/drawing/2014/main" id="{64C9FC78-EAB2-10C8-68B7-83E1C5599ECD}"/>
                </a:ext>
              </a:extLst>
            </p:cNvPr>
            <p:cNvSpPr/>
            <p:nvPr/>
          </p:nvSpPr>
          <p:spPr>
            <a:xfrm rot="16200000">
              <a:off x="18374049" y="880742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AutoShape 32">
              <a:extLst>
                <a:ext uri="{FF2B5EF4-FFF2-40B4-BE49-F238E27FC236}">
                  <a16:creationId xmlns:a16="http://schemas.microsoft.com/office/drawing/2014/main" id="{90238838-5D92-2897-8202-C382B5E2C423}"/>
                </a:ext>
              </a:extLst>
            </p:cNvPr>
            <p:cNvSpPr/>
            <p:nvPr/>
          </p:nvSpPr>
          <p:spPr>
            <a:xfrm>
              <a:off x="16899258" y="8981847"/>
              <a:ext cx="192919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1" name="AutoShape 35">
              <a:extLst>
                <a:ext uri="{FF2B5EF4-FFF2-40B4-BE49-F238E27FC236}">
                  <a16:creationId xmlns:a16="http://schemas.microsoft.com/office/drawing/2014/main" id="{C3BA96B1-B561-1BDD-AD2D-EB1902D315AF}"/>
                </a:ext>
              </a:extLst>
            </p:cNvPr>
            <p:cNvSpPr/>
            <p:nvPr/>
          </p:nvSpPr>
          <p:spPr>
            <a:xfrm rot="16200000">
              <a:off x="18730145" y="1092361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4" name="Picture 13">
              <a:extLst>
                <a:ext uri="{FF2B5EF4-FFF2-40B4-BE49-F238E27FC236}">
                  <a16:creationId xmlns:a16="http://schemas.microsoft.com/office/drawing/2014/main" id="{A72B3A48-9BF0-C778-CE6C-E5DE511C0B58}"/>
                </a:ext>
              </a:extLst>
            </p:cNvPr>
            <p:cNvSpPr/>
            <p:nvPr/>
          </p:nvSpPr>
          <p:spPr>
            <a:xfrm>
              <a:off x="18627449" y="11157544"/>
              <a:ext cx="712521" cy="821566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TextBox 17">
              <a:extLst>
                <a:ext uri="{FF2B5EF4-FFF2-40B4-BE49-F238E27FC236}">
                  <a16:creationId xmlns:a16="http://schemas.microsoft.com/office/drawing/2014/main" id="{4D27297E-5674-616F-CAF6-9D63A8DE0FBE}"/>
                </a:ext>
              </a:extLst>
            </p:cNvPr>
            <p:cNvSpPr txBox="1"/>
            <p:nvPr/>
          </p:nvSpPr>
          <p:spPr>
            <a:xfrm>
              <a:off x="17611349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Living room</a:t>
              </a:r>
            </a:p>
          </p:txBody>
        </p:sp>
        <p:sp>
          <p:nvSpPr>
            <p:cNvPr id="48" name="AutoShape 30">
              <a:extLst>
                <a:ext uri="{FF2B5EF4-FFF2-40B4-BE49-F238E27FC236}">
                  <a16:creationId xmlns:a16="http://schemas.microsoft.com/office/drawing/2014/main" id="{B712A57F-96B9-802F-05ED-CBD0898B3D44}"/>
                </a:ext>
              </a:extLst>
            </p:cNvPr>
            <p:cNvSpPr/>
            <p:nvPr/>
          </p:nvSpPr>
          <p:spPr>
            <a:xfrm rot="16200000">
              <a:off x="16188006" y="7002635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9" name="AutoShape 30">
              <a:extLst>
                <a:ext uri="{FF2B5EF4-FFF2-40B4-BE49-F238E27FC236}">
                  <a16:creationId xmlns:a16="http://schemas.microsoft.com/office/drawing/2014/main" id="{AAC41C4C-4460-59F5-B242-48825C8F0DC5}"/>
                </a:ext>
              </a:extLst>
            </p:cNvPr>
            <p:cNvSpPr/>
            <p:nvPr/>
          </p:nvSpPr>
          <p:spPr>
            <a:xfrm rot="16200000">
              <a:off x="17165199" y="6631749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AutoShape 30">
              <a:extLst>
                <a:ext uri="{FF2B5EF4-FFF2-40B4-BE49-F238E27FC236}">
                  <a16:creationId xmlns:a16="http://schemas.microsoft.com/office/drawing/2014/main" id="{2890DF49-E28B-3A1D-BD6C-A57EDF0F95B0}"/>
                </a:ext>
              </a:extLst>
            </p:cNvPr>
            <p:cNvSpPr/>
            <p:nvPr/>
          </p:nvSpPr>
          <p:spPr>
            <a:xfrm rot="16200000">
              <a:off x="18707778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2" name="AutoShape 30">
              <a:extLst>
                <a:ext uri="{FF2B5EF4-FFF2-40B4-BE49-F238E27FC236}">
                  <a16:creationId xmlns:a16="http://schemas.microsoft.com/office/drawing/2014/main" id="{69445666-002D-0C70-FD6F-8ABA59945CE6}"/>
                </a:ext>
              </a:extLst>
            </p:cNvPr>
            <p:cNvSpPr/>
            <p:nvPr/>
          </p:nvSpPr>
          <p:spPr>
            <a:xfrm rot="16200000">
              <a:off x="16775825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BA6582-4E21-1F35-E769-369DD1E810E9}"/>
                </a:ext>
              </a:extLst>
            </p:cNvPr>
            <p:cNvSpPr txBox="1"/>
            <p:nvPr/>
          </p:nvSpPr>
          <p:spPr>
            <a:xfrm>
              <a:off x="17390533" y="5638800"/>
              <a:ext cx="92394" cy="64632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45718" tIns="45718" rIns="45718" bIns="45718" numCol="1" spcCol="38100" rtlCol="0" anchor="t">
              <a:spAutoFit/>
            </a:bodyPr>
            <a:lstStyle/>
            <a:p>
              <a:pPr marL="0" marR="0" indent="0" algn="l" defTabSz="1828432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DK" sz="3600" b="0" i="0" u="none" strike="noStrike" cap="none" spc="0" normalizeH="0" baseline="0" dirty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9220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that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notice this symbol later when looking at your working directory or changing to another directory.</a:t>
            </a:r>
            <a:endParaRPr lang="en-US" sz="3000" dirty="0">
              <a:solidFill>
                <a:srgbClr val="FFFFFF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29537" y="4337853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" name="CustomShape 13">
            <a:extLst>
              <a:ext uri="{FF2B5EF4-FFF2-40B4-BE49-F238E27FC236}">
                <a16:creationId xmlns:a16="http://schemas.microsoft.com/office/drawing/2014/main" id="{36723E52-53A1-D700-3A28-AD356A5BAEF0}"/>
              </a:ext>
            </a:extLst>
          </p:cNvPr>
          <p:cNvSpPr txBox="1"/>
          <p:nvPr/>
        </p:nvSpPr>
        <p:spPr>
          <a:xfrm>
            <a:off x="2263019" y="9408564"/>
            <a:ext cx="10996527" cy="3296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200" dirty="0">
              <a:latin typeface="YACkoL24Adk 0"/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Downloads,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~/Downloads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Documents/courses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ounded Rectangle"/>
          <p:cNvSpPr/>
          <p:nvPr/>
        </p:nvSpPr>
        <p:spPr>
          <a:xfrm>
            <a:off x="1442060" y="9951113"/>
            <a:ext cx="11219406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87" name="CustomShape 13"/>
          <p:cNvSpPr txBox="1"/>
          <p:nvPr/>
        </p:nvSpPr>
        <p:spPr>
          <a:xfrm>
            <a:off x="1835252" y="4183262"/>
            <a:ext cx="10765529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Each file and directory exist in one specific place on your computer. One could say they have an address.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‘address’ is called </a:t>
            </a:r>
            <a:r>
              <a:rPr lang="en-US" sz="3000" dirty="0"/>
              <a:t>a</a:t>
            </a:r>
            <a:r>
              <a:rPr sz="3000" dirty="0"/>
              <a:t> path.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Following the example from earlier, the path to you</a:t>
            </a:r>
            <a:r>
              <a:rPr lang="en-US" sz="3000" dirty="0"/>
              <a:t>r</a:t>
            </a:r>
            <a:r>
              <a:rPr sz="3000" dirty="0"/>
              <a:t> bed would be: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/entrance/</a:t>
            </a:r>
            <a:r>
              <a:rPr sz="3000" dirty="0" err="1"/>
              <a:t>living_room</a:t>
            </a:r>
            <a:r>
              <a:rPr sz="3000" dirty="0"/>
              <a:t>/Bedroom/bed.txt </a:t>
            </a:r>
          </a:p>
        </p:txBody>
      </p:sp>
      <p:grpSp>
        <p:nvGrpSpPr>
          <p:cNvPr id="790" name="Group"/>
          <p:cNvGrpSpPr/>
          <p:nvPr/>
        </p:nvGrpSpPr>
        <p:grpSpPr>
          <a:xfrm>
            <a:off x="13976205" y="4177207"/>
            <a:ext cx="8612586" cy="8352235"/>
            <a:chOff x="0" y="0"/>
            <a:chExt cx="8612584" cy="8352234"/>
          </a:xfrm>
        </p:grpSpPr>
        <p:pic>
          <p:nvPicPr>
            <p:cNvPr id="788" name="Group" descr="Group"/>
            <p:cNvPicPr>
              <a:picLocks noChangeAspect="1"/>
            </p:cNvPicPr>
            <p:nvPr/>
          </p:nvPicPr>
          <p:blipFill>
            <a:blip r:embed="rId3"/>
            <a:srcRect l="11031" t="601" r="11592" b="870"/>
            <a:stretch>
              <a:fillRect/>
            </a:stretch>
          </p:blipFill>
          <p:spPr>
            <a:xfrm>
              <a:off x="-1" y="0"/>
              <a:ext cx="8612586" cy="83522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9" h="21600" extrusionOk="0">
                  <a:moveTo>
                    <a:pt x="2020" y="0"/>
                  </a:moveTo>
                  <a:cubicBezTo>
                    <a:pt x="1427" y="0"/>
                    <a:pt x="1073" y="0"/>
                    <a:pt x="836" y="102"/>
                  </a:cubicBezTo>
                  <a:cubicBezTo>
                    <a:pt x="494" y="230"/>
                    <a:pt x="223" y="509"/>
                    <a:pt x="99" y="861"/>
                  </a:cubicBezTo>
                  <a:cubicBezTo>
                    <a:pt x="0" y="1105"/>
                    <a:pt x="0" y="1472"/>
                    <a:pt x="0" y="2083"/>
                  </a:cubicBezTo>
                  <a:lnTo>
                    <a:pt x="0" y="19519"/>
                  </a:lnTo>
                  <a:cubicBezTo>
                    <a:pt x="0" y="20130"/>
                    <a:pt x="0" y="20494"/>
                    <a:pt x="99" y="20739"/>
                  </a:cubicBezTo>
                  <a:cubicBezTo>
                    <a:pt x="223" y="21091"/>
                    <a:pt x="494" y="21369"/>
                    <a:pt x="836" y="21497"/>
                  </a:cubicBezTo>
                  <a:cubicBezTo>
                    <a:pt x="1073" y="21599"/>
                    <a:pt x="1427" y="21600"/>
                    <a:pt x="2020" y="21600"/>
                  </a:cubicBezTo>
                  <a:lnTo>
                    <a:pt x="19580" y="21600"/>
                  </a:lnTo>
                  <a:cubicBezTo>
                    <a:pt x="20173" y="21600"/>
                    <a:pt x="20527" y="21599"/>
                    <a:pt x="20764" y="21497"/>
                  </a:cubicBezTo>
                  <a:cubicBezTo>
                    <a:pt x="21106" y="21369"/>
                    <a:pt x="21377" y="21091"/>
                    <a:pt x="21501" y="20739"/>
                  </a:cubicBezTo>
                  <a:cubicBezTo>
                    <a:pt x="21600" y="20494"/>
                    <a:pt x="21600" y="20130"/>
                    <a:pt x="21600" y="19519"/>
                  </a:cubicBezTo>
                  <a:lnTo>
                    <a:pt x="21600" y="2083"/>
                  </a:lnTo>
                  <a:cubicBezTo>
                    <a:pt x="21600" y="1472"/>
                    <a:pt x="21600" y="1105"/>
                    <a:pt x="21501" y="861"/>
                  </a:cubicBezTo>
                  <a:cubicBezTo>
                    <a:pt x="21377" y="509"/>
                    <a:pt x="21106" y="230"/>
                    <a:pt x="20764" y="102"/>
                  </a:cubicBezTo>
                  <a:cubicBezTo>
                    <a:pt x="20527" y="0"/>
                    <a:pt x="20173" y="0"/>
                    <a:pt x="19580" y="0"/>
                  </a:cubicBezTo>
                  <a:lnTo>
                    <a:pt x="2020" y="0"/>
                  </a:lnTo>
                  <a:close/>
                </a:path>
              </a:pathLst>
            </a:custGeom>
            <a:ln w="127000" cap="flat">
              <a:solidFill>
                <a:srgbClr val="A4D2B4"/>
              </a:solidFill>
              <a:prstDash val="solid"/>
              <a:round/>
            </a:ln>
            <a:effectLst/>
          </p:spPr>
        </p:pic>
        <p:sp>
          <p:nvSpPr>
            <p:cNvPr id="789" name="CustomShape 17"/>
            <p:cNvSpPr/>
            <p:nvPr/>
          </p:nvSpPr>
          <p:spPr>
            <a:xfrm>
              <a:off x="6499564" y="5123261"/>
              <a:ext cx="2039228" cy="1752037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91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9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91116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9568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3844295"/>
            <a:ext cx="12388941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start at the root. Since ~ represent</a:t>
            </a:r>
            <a:r>
              <a:rPr lang="en-US" sz="3000" dirty="0"/>
              <a:t>s</a:t>
            </a:r>
            <a:r>
              <a:rPr sz="3000" dirty="0"/>
              <a:t> the path to your home directory it includes the root</a:t>
            </a:r>
            <a:r>
              <a:rPr lang="en-US" sz="3000" dirty="0"/>
              <a:t>,</a:t>
            </a:r>
            <a:r>
              <a:rPr sz="3000" dirty="0"/>
              <a:t> </a:t>
            </a:r>
            <a:r>
              <a:rPr lang="en-US" sz="3000" dirty="0"/>
              <a:t>s</a:t>
            </a:r>
            <a:r>
              <a:rPr sz="3000" dirty="0"/>
              <a:t>o</a:t>
            </a:r>
            <a:r>
              <a:rPr lang="en-US" sz="3000" dirty="0"/>
              <a:t>:</a:t>
            </a: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Are the same place and the same path</a:t>
            </a:r>
            <a:r>
              <a:rPr lang="en-US" sz="3000" dirty="0"/>
              <a:t> and are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are unambiguous </a:t>
            </a:r>
            <a:r>
              <a:rPr lang="en-US" sz="3000" dirty="0"/>
              <a:t>as</a:t>
            </a:r>
            <a:r>
              <a:rPr sz="3000" dirty="0"/>
              <a:t> they describe the entire 'journey' starting from the root.</a:t>
            </a:r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$ ls  –lh  ~/Documents/courses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courses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6CB0FED-1EBC-F7FF-FC6D-03EF021622F3}"/>
              </a:ext>
            </a:extLst>
          </p:cNvPr>
          <p:cNvSpPr txBox="1"/>
          <p:nvPr/>
        </p:nvSpPr>
        <p:spPr>
          <a:xfrm>
            <a:off x="20055309" y="8357655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recipes_copy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ED87F137-279D-5E0C-5690-FE9754C19C1B}"/>
              </a:ext>
            </a:extLst>
          </p:cNvPr>
          <p:cNvGrpSpPr/>
          <p:nvPr/>
        </p:nvGrpSpPr>
        <p:grpSpPr>
          <a:xfrm>
            <a:off x="20700857" y="7064187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E485B15-35C5-D84C-F4BA-D0F9DADD767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C9D3C06-9E53-3576-14B2-289C798E55D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DD0E4C8-1CB3-DCDD-54A2-BD193926190C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50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55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64</a:t>
            </a:fld>
            <a:endParaRPr/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69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71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74</a:t>
            </a:fld>
            <a:endParaRPr/>
          </a:p>
        </p:txBody>
      </p:sp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77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90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96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 </a:t>
            </a:r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980618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1246477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564099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873576"/>
            <a:ext cx="4574454" cy="42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t>Can be overwhelming</a:t>
            </a:r>
          </a:p>
        </p:txBody>
      </p:sp>
    </p:spTree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12715</TotalTime>
  <Words>8284</Words>
  <Application>Microsoft Macintosh PowerPoint</Application>
  <PresentationFormat>Custom</PresentationFormat>
  <Paragraphs>1695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0" baseType="lpstr"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Thilde Bagger Terkelsen</cp:lastModifiedBy>
  <cp:revision>83</cp:revision>
  <dcterms:modified xsi:type="dcterms:W3CDTF">2024-04-15T08:14:14Z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