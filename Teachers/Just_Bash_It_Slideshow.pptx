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1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332" r:id="rId16"/>
    <p:sldId id="267" r:id="rId17"/>
    <p:sldId id="268" r:id="rId18"/>
    <p:sldId id="269" r:id="rId19"/>
    <p:sldId id="338" r:id="rId20"/>
    <p:sldId id="271" r:id="rId21"/>
    <p:sldId id="272" r:id="rId22"/>
    <p:sldId id="273" r:id="rId23"/>
    <p:sldId id="274" r:id="rId24"/>
    <p:sldId id="275" r:id="rId25"/>
    <p:sldId id="276" r:id="rId26"/>
    <p:sldId id="279" r:id="rId27"/>
    <p:sldId id="280" r:id="rId28"/>
    <p:sldId id="281" r:id="rId29"/>
    <p:sldId id="282" r:id="rId30"/>
    <p:sldId id="283" r:id="rId31"/>
    <p:sldId id="333" r:id="rId32"/>
    <p:sldId id="339" r:id="rId33"/>
    <p:sldId id="277" r:id="rId34"/>
    <p:sldId id="278" r:id="rId35"/>
    <p:sldId id="343" r:id="rId36"/>
    <p:sldId id="342" r:id="rId37"/>
    <p:sldId id="344" r:id="rId38"/>
    <p:sldId id="345" r:id="rId39"/>
    <p:sldId id="340" r:id="rId40"/>
    <p:sldId id="341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350" r:id="rId52"/>
    <p:sldId id="294" r:id="rId53"/>
    <p:sldId id="352" r:id="rId54"/>
    <p:sldId id="295" r:id="rId55"/>
    <p:sldId id="296" r:id="rId56"/>
    <p:sldId id="297" r:id="rId57"/>
    <p:sldId id="298" r:id="rId58"/>
    <p:sldId id="299" r:id="rId59"/>
    <p:sldId id="353" r:id="rId60"/>
    <p:sldId id="359" r:id="rId61"/>
    <p:sldId id="301" r:id="rId62"/>
    <p:sldId id="302" r:id="rId63"/>
    <p:sldId id="304" r:id="rId64"/>
    <p:sldId id="303" r:id="rId65"/>
    <p:sldId id="355" r:id="rId66"/>
    <p:sldId id="356" r:id="rId67"/>
    <p:sldId id="365" r:id="rId68"/>
    <p:sldId id="357" r:id="rId69"/>
    <p:sldId id="305" r:id="rId70"/>
    <p:sldId id="358" r:id="rId71"/>
    <p:sldId id="306" r:id="rId72"/>
    <p:sldId id="360" r:id="rId73"/>
    <p:sldId id="367" r:id="rId74"/>
    <p:sldId id="307" r:id="rId75"/>
    <p:sldId id="363" r:id="rId76"/>
    <p:sldId id="364" r:id="rId77"/>
    <p:sldId id="373" r:id="rId78"/>
    <p:sldId id="362" r:id="rId79"/>
    <p:sldId id="366" r:id="rId80"/>
    <p:sldId id="361" r:id="rId81"/>
    <p:sldId id="308" r:id="rId82"/>
    <p:sldId id="309" r:id="rId83"/>
    <p:sldId id="310" r:id="rId84"/>
    <p:sldId id="311" r:id="rId85"/>
    <p:sldId id="312" r:id="rId86"/>
    <p:sldId id="313" r:id="rId87"/>
    <p:sldId id="314" r:id="rId88"/>
    <p:sldId id="315" r:id="rId89"/>
    <p:sldId id="375" r:id="rId90"/>
    <p:sldId id="316" r:id="rId91"/>
    <p:sldId id="368" r:id="rId92"/>
    <p:sldId id="317" r:id="rId93"/>
    <p:sldId id="318" r:id="rId94"/>
    <p:sldId id="319" r:id="rId95"/>
    <p:sldId id="320" r:id="rId96"/>
    <p:sldId id="321" r:id="rId97"/>
    <p:sldId id="374" r:id="rId98"/>
    <p:sldId id="322" r:id="rId99"/>
    <p:sldId id="323" r:id="rId100"/>
    <p:sldId id="324" r:id="rId101"/>
    <p:sldId id="325" r:id="rId102"/>
    <p:sldId id="326" r:id="rId103"/>
    <p:sldId id="327" r:id="rId104"/>
    <p:sldId id="371" r:id="rId105"/>
    <p:sldId id="328" r:id="rId106"/>
    <p:sldId id="369" r:id="rId107"/>
    <p:sldId id="370" r:id="rId108"/>
    <p:sldId id="329" r:id="rId109"/>
    <p:sldId id="330" r:id="rId110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C1FF"/>
    <a:srgbClr val="374556"/>
    <a:srgbClr val="FFA7C0"/>
    <a:srgbClr val="FF6966"/>
    <a:srgbClr val="F0CEFF"/>
    <a:srgbClr val="D4A5FF"/>
    <a:srgbClr val="B4C9FF"/>
    <a:srgbClr val="8EB4E3"/>
    <a:srgbClr val="9CC9B4"/>
    <a:srgbClr val="FFEE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47"/>
    <p:restoredTop sz="84564" autoAdjust="0"/>
  </p:normalViewPr>
  <p:slideViewPr>
    <p:cSldViewPr snapToGrid="0">
      <p:cViewPr varScale="1">
        <p:scale>
          <a:sx n="45" d="100"/>
          <a:sy n="45" d="100"/>
        </p:scale>
        <p:origin x="6112" y="2152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err="1"/>
              <a:t>sh</a:t>
            </a:r>
            <a:r>
              <a:t>).</a:t>
            </a:r>
            <a:endParaRPr dirty="0"/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48197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06473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t>We’ll talk about </a:t>
            </a:r>
            <a:r>
              <a:rPr b="1"/>
              <a:t>paths</a:t>
            </a:r>
            <a:r>
              <a:t> in a bit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88731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 = delete </a:t>
            </a:r>
          </a:p>
          <a:p>
            <a:r>
              <a:rPr lang="en-GB" dirty="0"/>
              <a:t>p = print</a:t>
            </a:r>
          </a:p>
          <a:p>
            <a:r>
              <a:rPr lang="en-GB" dirty="0"/>
              <a:t>s = substitute</a:t>
            </a:r>
          </a:p>
          <a:p>
            <a:r>
              <a:rPr lang="en-GB" dirty="0"/>
              <a:t>g= globally</a:t>
            </a:r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38247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9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0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0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0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0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0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4.jpeg"/><Relationship Id="rId4" Type="http://schemas.openxmlformats.org/officeDocument/2006/relationships/image" Target="../media/image53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0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1.png"/><Relationship Id="rId5" Type="http://schemas.openxmlformats.org/officeDocument/2006/relationships/image" Target="../media/image45.png"/><Relationship Id="rId4" Type="http://schemas.openxmlformats.org/officeDocument/2006/relationships/image" Target="../media/image58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0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1.wdp"/><Relationship Id="rId4" Type="http://schemas.openxmlformats.org/officeDocument/2006/relationships/image" Target="../media/image6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65.jp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305066" y="9799810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4956622" y="9799893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A867D87-FE20-DF05-836F-FD40DB9F73B9}"/>
              </a:ext>
            </a:extLst>
          </p:cNvPr>
          <p:cNvGrpSpPr>
            <a:grpSpLocks noChangeAspect="1"/>
          </p:cNvGrpSpPr>
          <p:nvPr/>
        </p:nvGrpSpPr>
        <p:grpSpPr>
          <a:xfrm>
            <a:off x="14936933" y="6816436"/>
            <a:ext cx="2770734" cy="2776394"/>
            <a:chOff x="14803708" y="4943820"/>
            <a:chExt cx="2985513" cy="2991612"/>
          </a:xfrm>
        </p:grpSpPr>
        <p:grpSp>
          <p:nvGrpSpPr>
            <p:cNvPr id="406" name="Group"/>
            <p:cNvGrpSpPr/>
            <p:nvPr/>
          </p:nvGrpSpPr>
          <p:grpSpPr>
            <a:xfrm>
              <a:off x="14803708" y="4958822"/>
              <a:ext cx="2976610" cy="2976610"/>
              <a:chOff x="0" y="0"/>
              <a:chExt cx="2976608" cy="2976608"/>
            </a:xfrm>
          </p:grpSpPr>
          <p:sp>
            <p:nvSpPr>
              <p:cNvPr id="404" name="Circle"/>
              <p:cNvSpPr/>
              <p:nvPr/>
            </p:nvSpPr>
            <p:spPr>
              <a:xfrm>
                <a:off x="-1" y="-1"/>
                <a:ext cx="2976610" cy="2976610"/>
              </a:xfrm>
              <a:prstGeom prst="ellipse">
                <a:avLst/>
              </a:prstGeom>
              <a:solidFill>
                <a:srgbClr val="D6D6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999999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pic>
            <p:nvPicPr>
              <p:cNvPr id="405" name="linkedinphotoscaled.jpg" descr="linkedinphotoscaled.jpg"/>
              <p:cNvPicPr>
                <a:picLocks noChangeAspect="1"/>
              </p:cNvPicPr>
              <p:nvPr/>
            </p:nvPicPr>
            <p:blipFill>
              <a:blip r:embed="rId4"/>
              <a:srcRect l="8" r="1" b="176"/>
              <a:stretch>
                <a:fillRect/>
              </a:stretch>
            </p:blipFill>
            <p:spPr>
              <a:xfrm>
                <a:off x="325333" y="171569"/>
                <a:ext cx="2325689" cy="280497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0531" extrusionOk="0">
                    <a:moveTo>
                      <a:pt x="4077" y="0"/>
                    </a:moveTo>
                    <a:cubicBezTo>
                      <a:pt x="2940" y="486"/>
                      <a:pt x="1867" y="1097"/>
                      <a:pt x="903" y="1845"/>
                    </a:cubicBezTo>
                    <a:cubicBezTo>
                      <a:pt x="581" y="2095"/>
                      <a:pt x="284" y="2354"/>
                      <a:pt x="0" y="2620"/>
                    </a:cubicBezTo>
                    <a:lnTo>
                      <a:pt x="0" y="16544"/>
                    </a:lnTo>
                    <a:cubicBezTo>
                      <a:pt x="284" y="16810"/>
                      <a:pt x="581" y="17076"/>
                      <a:pt x="903" y="17325"/>
                    </a:cubicBezTo>
                    <a:cubicBezTo>
                      <a:pt x="6407" y="21600"/>
                      <a:pt x="15332" y="21600"/>
                      <a:pt x="20837" y="17325"/>
                    </a:cubicBezTo>
                    <a:cubicBezTo>
                      <a:pt x="21109" y="17114"/>
                      <a:pt x="21355" y="16887"/>
                      <a:pt x="21600" y="16663"/>
                    </a:cubicBezTo>
                    <a:lnTo>
                      <a:pt x="21600" y="2501"/>
                    </a:lnTo>
                    <a:cubicBezTo>
                      <a:pt x="21355" y="2278"/>
                      <a:pt x="21109" y="2056"/>
                      <a:pt x="20837" y="1845"/>
                    </a:cubicBezTo>
                    <a:cubicBezTo>
                      <a:pt x="19872" y="1097"/>
                      <a:pt x="18797" y="486"/>
                      <a:pt x="17660" y="0"/>
                    </a:cubicBezTo>
                    <a:lnTo>
                      <a:pt x="4077" y="0"/>
                    </a:lnTo>
                    <a:close/>
                  </a:path>
                </a:pathLst>
              </a:custGeom>
              <a:ln w="12700" cap="flat">
                <a:noFill/>
                <a:miter lim="400000"/>
              </a:ln>
              <a:effectLst/>
            </p:spPr>
          </p:pic>
        </p:grpSp>
        <p:sp>
          <p:nvSpPr>
            <p:cNvPr id="407" name="Circle"/>
            <p:cNvSpPr/>
            <p:nvPr/>
          </p:nvSpPr>
          <p:spPr>
            <a:xfrm>
              <a:off x="14809553" y="4943820"/>
              <a:ext cx="2979668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6BC6EA0-6C8D-9111-89CC-D123B56F778E}"/>
              </a:ext>
            </a:extLst>
          </p:cNvPr>
          <p:cNvGrpSpPr>
            <a:grpSpLocks noChangeAspect="1"/>
          </p:cNvGrpSpPr>
          <p:nvPr/>
        </p:nvGrpSpPr>
        <p:grpSpPr>
          <a:xfrm>
            <a:off x="19305066" y="6816436"/>
            <a:ext cx="2765051" cy="2759230"/>
            <a:chOff x="19147773" y="4943835"/>
            <a:chExt cx="2995736" cy="2989429"/>
          </a:xfrm>
        </p:grpSpPr>
        <p:pic>
          <p:nvPicPr>
            <p:cNvPr id="417" name="thilde_terkelsen.jpg" descr="thilde_terkelsen.jpg"/>
            <p:cNvPicPr>
              <a:picLocks noChangeAspect="1"/>
            </p:cNvPicPr>
            <p:nvPr/>
          </p:nvPicPr>
          <p:blipFill>
            <a:blip r:embed="rId5"/>
            <a:srcRect l="34087" r="11117" b="157"/>
            <a:stretch>
              <a:fillRect/>
            </a:stretch>
          </p:blipFill>
          <p:spPr>
            <a:xfrm>
              <a:off x="19147773" y="4956536"/>
              <a:ext cx="2995736" cy="29767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20589" extrusionOk="0">
                  <a:moveTo>
                    <a:pt x="8357" y="0"/>
                  </a:moveTo>
                  <a:cubicBezTo>
                    <a:pt x="6354" y="320"/>
                    <a:pt x="4424" y="1279"/>
                    <a:pt x="2881" y="2903"/>
                  </a:cubicBezTo>
                  <a:cubicBezTo>
                    <a:pt x="-961" y="6949"/>
                    <a:pt x="-961" y="13509"/>
                    <a:pt x="2881" y="17555"/>
                  </a:cubicBezTo>
                  <a:cubicBezTo>
                    <a:pt x="6723" y="21600"/>
                    <a:pt x="12955" y="21600"/>
                    <a:pt x="16797" y="17555"/>
                  </a:cubicBezTo>
                  <a:cubicBezTo>
                    <a:pt x="20639" y="13509"/>
                    <a:pt x="20639" y="6949"/>
                    <a:pt x="16797" y="2903"/>
                  </a:cubicBezTo>
                  <a:cubicBezTo>
                    <a:pt x="15254" y="1279"/>
                    <a:pt x="13325" y="320"/>
                    <a:pt x="11321" y="0"/>
                  </a:cubicBezTo>
                  <a:lnTo>
                    <a:pt x="8357" y="0"/>
                  </a:lnTo>
                  <a:close/>
                </a:path>
              </a:pathLst>
            </a:custGeom>
            <a:ln w="12700">
              <a:miter lim="400000"/>
            </a:ln>
          </p:spPr>
        </p:pic>
        <p:sp>
          <p:nvSpPr>
            <p:cNvPr id="418" name="Circle"/>
            <p:cNvSpPr/>
            <p:nvPr/>
          </p:nvSpPr>
          <p:spPr>
            <a:xfrm>
              <a:off x="19162879" y="4943835"/>
              <a:ext cx="2979669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565397" y="4814050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142044"/>
              </p:ext>
            </p:extLst>
          </p:nvPr>
        </p:nvGraphicFramePr>
        <p:xfrm>
          <a:off x="1090815" y="4061337"/>
          <a:ext cx="9363158" cy="900125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13:45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Q + A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10541"/>
              </p:ext>
            </p:extLst>
          </p:nvPr>
        </p:nvGraphicFramePr>
        <p:xfrm>
          <a:off x="12252368" y="4061337"/>
          <a:ext cx="7706909" cy="742231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INSTALLATIONS, CONFIG FILES, WORKFLOW LANGUAGE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306438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3044635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9" y="9749761"/>
            <a:ext cx="19571448" cy="26279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Many scientific programs do not have a GUI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14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24" grpId="0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3" name="CustomShape 11"/>
          <p:cNvSpPr txBox="1"/>
          <p:nvPr/>
        </p:nvSpPr>
        <p:spPr>
          <a:xfrm>
            <a:off x="1225079" y="5656319"/>
            <a:ext cx="6812282" cy="1868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sp>
        <p:nvSpPr>
          <p:cNvPr id="654" name="Group 3"/>
          <p:cNvSpPr txBox="1"/>
          <p:nvPr/>
        </p:nvSpPr>
        <p:spPr>
          <a:xfrm>
            <a:off x="3172866" y="1093075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</a:t>
            </a:r>
            <a:r>
              <a:rPr dirty="0"/>
              <a:t> TREE</a:t>
            </a:r>
          </a:p>
        </p:txBody>
      </p:sp>
      <p:pic>
        <p:nvPicPr>
          <p:cNvPr id="656" name="Group" descr="Group"/>
          <p:cNvPicPr>
            <a:picLocks noChangeAspect="1"/>
          </p:cNvPicPr>
          <p:nvPr/>
        </p:nvPicPr>
        <p:blipFill>
          <a:blip r:embed="rId3"/>
          <a:srcRect l="11031" t="602" r="11593" b="874"/>
          <a:stretch>
            <a:fillRect/>
          </a:stretch>
        </p:blipFill>
        <p:spPr>
          <a:xfrm>
            <a:off x="13748188" y="3279572"/>
            <a:ext cx="8655845" cy="839430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2019" y="0"/>
                </a:moveTo>
                <a:cubicBezTo>
                  <a:pt x="1427" y="0"/>
                  <a:pt x="1071" y="0"/>
                  <a:pt x="834" y="102"/>
                </a:cubicBezTo>
                <a:cubicBezTo>
                  <a:pt x="492" y="230"/>
                  <a:pt x="223" y="507"/>
                  <a:pt x="99" y="860"/>
                </a:cubicBezTo>
                <a:cubicBezTo>
                  <a:pt x="0" y="1104"/>
                  <a:pt x="0" y="1471"/>
                  <a:pt x="0" y="2082"/>
                </a:cubicBezTo>
                <a:lnTo>
                  <a:pt x="0" y="19517"/>
                </a:lnTo>
                <a:cubicBezTo>
                  <a:pt x="0" y="20128"/>
                  <a:pt x="0" y="20495"/>
                  <a:pt x="99" y="20739"/>
                </a:cubicBezTo>
                <a:cubicBezTo>
                  <a:pt x="223" y="21092"/>
                  <a:pt x="492" y="21370"/>
                  <a:pt x="834" y="21498"/>
                </a:cubicBezTo>
                <a:cubicBezTo>
                  <a:pt x="1071" y="21600"/>
                  <a:pt x="1427" y="21599"/>
                  <a:pt x="2019" y="21599"/>
                </a:cubicBezTo>
                <a:lnTo>
                  <a:pt x="19581" y="21599"/>
                </a:lnTo>
                <a:cubicBezTo>
                  <a:pt x="20173" y="21599"/>
                  <a:pt x="20529" y="21600"/>
                  <a:pt x="20766" y="21498"/>
                </a:cubicBezTo>
                <a:cubicBezTo>
                  <a:pt x="21108" y="21370"/>
                  <a:pt x="21377" y="21092"/>
                  <a:pt x="21501" y="20739"/>
                </a:cubicBezTo>
                <a:cubicBezTo>
                  <a:pt x="21600" y="20495"/>
                  <a:pt x="21600" y="20128"/>
                  <a:pt x="21600" y="19517"/>
                </a:cubicBezTo>
                <a:lnTo>
                  <a:pt x="21600" y="2082"/>
                </a:lnTo>
                <a:cubicBezTo>
                  <a:pt x="21600" y="1471"/>
                  <a:pt x="21600" y="1104"/>
                  <a:pt x="21501" y="860"/>
                </a:cubicBezTo>
                <a:cubicBezTo>
                  <a:pt x="21377" y="507"/>
                  <a:pt x="21108" y="230"/>
                  <a:pt x="20766" y="102"/>
                </a:cubicBezTo>
                <a:cubicBezTo>
                  <a:pt x="20529" y="0"/>
                  <a:pt x="20173" y="0"/>
                  <a:pt x="19581" y="0"/>
                </a:cubicBezTo>
                <a:lnTo>
                  <a:pt x="2019" y="0"/>
                </a:lnTo>
                <a:close/>
              </a:path>
            </a:pathLst>
          </a:custGeom>
          <a:ln w="127000">
            <a:solidFill>
              <a:srgbClr val="FFC899"/>
            </a:solidFill>
          </a:ln>
        </p:spPr>
      </p:pic>
      <p:sp>
        <p:nvSpPr>
          <p:cNvPr id="657" name="Line"/>
          <p:cNvSpPr/>
          <p:nvPr/>
        </p:nvSpPr>
        <p:spPr>
          <a:xfrm>
            <a:off x="153136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17</a:t>
            </a:r>
            <a:endParaRPr dirty="0"/>
          </a:p>
        </p:txBody>
      </p:sp>
      <p:sp>
        <p:nvSpPr>
          <p:cNvPr id="2" name="TextBox 90">
            <a:extLst>
              <a:ext uri="{FF2B5EF4-FFF2-40B4-BE49-F238E27FC236}">
                <a16:creationId xmlns:a16="http://schemas.microsoft.com/office/drawing/2014/main" id="{E74F641E-A773-C220-D9A2-E71B2D3C6BE1}"/>
              </a:ext>
            </a:extLst>
          </p:cNvPr>
          <p:cNvSpPr txBox="1"/>
          <p:nvPr/>
        </p:nvSpPr>
        <p:spPr>
          <a:xfrm>
            <a:off x="1647705" y="3967875"/>
            <a:ext cx="10235194" cy="79406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r>
              <a:rPr lang="en-US" sz="3000" dirty="0">
                <a:solidFill>
                  <a:srgbClr val="F8F8F8"/>
                </a:solidFill>
                <a:effectLst/>
              </a:rPr>
              <a:t>You can think of the </a:t>
            </a:r>
            <a:r>
              <a:rPr lang="en-US" sz="3000" b="1" dirty="0">
                <a:solidFill>
                  <a:srgbClr val="F8F8F8"/>
                </a:solidFill>
                <a:effectLst/>
              </a:rPr>
              <a:t>file tree </a:t>
            </a:r>
            <a:r>
              <a:rPr lang="en-US" sz="3000" dirty="0">
                <a:solidFill>
                  <a:srgbClr val="F8F8F8"/>
                </a:solidFill>
                <a:effectLst/>
              </a:rPr>
              <a:t>like the floor plan of a house:</a:t>
            </a:r>
          </a:p>
          <a:p>
            <a:r>
              <a:rPr lang="en-US" sz="3000" dirty="0">
                <a:solidFill>
                  <a:srgbClr val="F8F8F8"/>
                </a:solidFill>
                <a:effectLst/>
              </a:rPr>
              <a:t> </a:t>
            </a:r>
          </a:p>
          <a:p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Rooms and items are in specific places. The bed i.e. is in the bedroom.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</a:rPr>
              <a:t>You are always in a specific room. You cannot be in two different rooms at the same time.</a:t>
            </a:r>
            <a:r>
              <a:rPr lang="en-US" sz="3000" dirty="0">
                <a:solidFill>
                  <a:srgbClr val="F8F8F8"/>
                </a:solidFill>
                <a:effectLst/>
              </a:rPr>
              <a:t> 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In order to interact with items, you need to know where in your house it is.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Items can be moved from one room to another.</a:t>
            </a:r>
          </a:p>
          <a:p>
            <a:pPr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4165728589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roup 3"/>
          <p:cNvSpPr txBox="1"/>
          <p:nvPr/>
        </p:nvSpPr>
        <p:spPr>
          <a:xfrm>
            <a:off x="9100192" y="1016000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</a:t>
            </a:r>
            <a:r>
              <a:rPr dirty="0"/>
              <a:t> TREE</a:t>
            </a:r>
          </a:p>
        </p:txBody>
      </p:sp>
      <p:sp>
        <p:nvSpPr>
          <p:cNvPr id="661" name="CustomShape 13"/>
          <p:cNvSpPr txBox="1"/>
          <p:nvPr/>
        </p:nvSpPr>
        <p:spPr>
          <a:xfrm>
            <a:off x="3520318" y="3406970"/>
            <a:ext cx="8047802" cy="1146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 loose translation of the floor plan into a directory tree:</a:t>
            </a:r>
          </a:p>
        </p:txBody>
      </p:sp>
      <p:sp>
        <p:nvSpPr>
          <p:cNvPr id="662" name="CustomShape 13"/>
          <p:cNvSpPr txBox="1"/>
          <p:nvPr/>
        </p:nvSpPr>
        <p:spPr>
          <a:xfrm>
            <a:off x="13975017" y="3330579"/>
            <a:ext cx="7965118" cy="1146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directory tree</a:t>
            </a:r>
            <a:r>
              <a:rPr sz="3000" dirty="0"/>
              <a:t> is hierarchical and starts at the ‘root’ = ‘/’</a:t>
            </a:r>
          </a:p>
        </p:txBody>
      </p:sp>
      <p:sp>
        <p:nvSpPr>
          <p:cNvPr id="674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grpSp>
        <p:nvGrpSpPr>
          <p:cNvPr id="677" name="Group"/>
          <p:cNvGrpSpPr/>
          <p:nvPr/>
        </p:nvGrpSpPr>
        <p:grpSpPr>
          <a:xfrm>
            <a:off x="3633833" y="5239916"/>
            <a:ext cx="7357270" cy="7135019"/>
            <a:chOff x="0" y="0"/>
            <a:chExt cx="7357268" cy="7135018"/>
          </a:xfrm>
        </p:grpSpPr>
        <p:pic>
          <p:nvPicPr>
            <p:cNvPr id="675" name="Group" descr="Group"/>
            <p:cNvPicPr>
              <a:picLocks noChangeAspect="1"/>
            </p:cNvPicPr>
            <p:nvPr/>
          </p:nvPicPr>
          <p:blipFill>
            <a:blip r:embed="rId3"/>
            <a:srcRect l="11031" t="602" r="11591" b="870"/>
            <a:stretch>
              <a:fillRect/>
            </a:stretch>
          </p:blipFill>
          <p:spPr>
            <a:xfrm>
              <a:off x="0" y="0"/>
              <a:ext cx="7357269" cy="71350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19" y="0"/>
                  </a:moveTo>
                  <a:cubicBezTo>
                    <a:pt x="1427" y="0"/>
                    <a:pt x="1071" y="0"/>
                    <a:pt x="834" y="102"/>
                  </a:cubicBezTo>
                  <a:cubicBezTo>
                    <a:pt x="493" y="230"/>
                    <a:pt x="223" y="508"/>
                    <a:pt x="99" y="860"/>
                  </a:cubicBezTo>
                  <a:cubicBezTo>
                    <a:pt x="0" y="1105"/>
                    <a:pt x="0" y="1471"/>
                    <a:pt x="0" y="2082"/>
                  </a:cubicBezTo>
                  <a:lnTo>
                    <a:pt x="0" y="19518"/>
                  </a:lnTo>
                  <a:cubicBezTo>
                    <a:pt x="0" y="20129"/>
                    <a:pt x="0" y="20495"/>
                    <a:pt x="99" y="20740"/>
                  </a:cubicBezTo>
                  <a:cubicBezTo>
                    <a:pt x="223" y="21092"/>
                    <a:pt x="493" y="21370"/>
                    <a:pt x="834" y="21498"/>
                  </a:cubicBezTo>
                  <a:cubicBezTo>
                    <a:pt x="1071" y="21600"/>
                    <a:pt x="1427" y="21600"/>
                    <a:pt x="2019" y="21600"/>
                  </a:cubicBezTo>
                  <a:lnTo>
                    <a:pt x="19581" y="21600"/>
                  </a:lnTo>
                  <a:cubicBezTo>
                    <a:pt x="20173" y="21600"/>
                    <a:pt x="20529" y="21600"/>
                    <a:pt x="20766" y="21498"/>
                  </a:cubicBezTo>
                  <a:cubicBezTo>
                    <a:pt x="21107" y="21370"/>
                    <a:pt x="21377" y="21092"/>
                    <a:pt x="21501" y="20740"/>
                  </a:cubicBezTo>
                  <a:cubicBezTo>
                    <a:pt x="21600" y="20495"/>
                    <a:pt x="21600" y="20129"/>
                    <a:pt x="21600" y="19518"/>
                  </a:cubicBezTo>
                  <a:lnTo>
                    <a:pt x="21600" y="2082"/>
                  </a:lnTo>
                  <a:cubicBezTo>
                    <a:pt x="21600" y="1471"/>
                    <a:pt x="21600" y="1105"/>
                    <a:pt x="21501" y="860"/>
                  </a:cubicBezTo>
                  <a:cubicBezTo>
                    <a:pt x="21377" y="508"/>
                    <a:pt x="21107" y="230"/>
                    <a:pt x="20766" y="102"/>
                  </a:cubicBezTo>
                  <a:cubicBezTo>
                    <a:pt x="20529" y="0"/>
                    <a:pt x="20173" y="0"/>
                    <a:pt x="19581" y="0"/>
                  </a:cubicBezTo>
                  <a:lnTo>
                    <a:pt x="2019" y="0"/>
                  </a:lnTo>
                  <a:close/>
                </a:path>
              </a:pathLst>
            </a:custGeom>
            <a:ln w="127000" cap="flat">
              <a:solidFill>
                <a:srgbClr val="FFC899"/>
              </a:solidFill>
              <a:prstDash val="solid"/>
              <a:round/>
            </a:ln>
            <a:effectLst/>
          </p:spPr>
        </p:pic>
        <p:sp>
          <p:nvSpPr>
            <p:cNvPr id="676" name="CustomShape 17"/>
            <p:cNvSpPr/>
            <p:nvPr/>
          </p:nvSpPr>
          <p:spPr>
            <a:xfrm>
              <a:off x="5552355" y="4376627"/>
              <a:ext cx="1742041" cy="1496705"/>
            </a:xfrm>
            <a:prstGeom prst="ellipse">
              <a:avLst/>
            </a:prstGeom>
            <a:noFill/>
            <a:ln w="57240" cap="flat">
              <a:solidFill>
                <a:srgbClr val="C5180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18</a:t>
            </a:r>
            <a:endParaRPr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C603205-7E4B-4B66-1829-DF895AACE581}"/>
              </a:ext>
            </a:extLst>
          </p:cNvPr>
          <p:cNvGrpSpPr>
            <a:grpSpLocks noChangeAspect="1"/>
          </p:cNvGrpSpPr>
          <p:nvPr/>
        </p:nvGrpSpPr>
        <p:grpSpPr>
          <a:xfrm>
            <a:off x="15010136" y="5029200"/>
            <a:ext cx="5968181" cy="7760972"/>
            <a:chOff x="15010137" y="5624926"/>
            <a:chExt cx="5510068" cy="7165246"/>
          </a:xfrm>
        </p:grpSpPr>
        <p:sp>
          <p:nvSpPr>
            <p:cNvPr id="664" name="CustomShape 3"/>
            <p:cNvSpPr/>
            <p:nvPr/>
          </p:nvSpPr>
          <p:spPr>
            <a:xfrm>
              <a:off x="15010137" y="9084262"/>
              <a:ext cx="844051" cy="104009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>
              <a:miter lim="400000"/>
            </a:ln>
          </p:spPr>
          <p:txBody>
            <a:bodyPr lIns="45718" tIns="45718" rIns="45718" bIns="45718"/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671" name="Group 4"/>
            <p:cNvGrpSpPr/>
            <p:nvPr/>
          </p:nvGrpSpPr>
          <p:grpSpPr>
            <a:xfrm>
              <a:off x="16065389" y="9070296"/>
              <a:ext cx="1203966" cy="1186007"/>
              <a:chOff x="0" y="2"/>
              <a:chExt cx="1342329" cy="1322305"/>
            </a:xfrm>
          </p:grpSpPr>
          <p:sp>
            <p:nvSpPr>
              <p:cNvPr id="665" name="CustomShape 5"/>
              <p:cNvSpPr/>
              <p:nvPr/>
            </p:nvSpPr>
            <p:spPr>
              <a:xfrm rot="2220000">
                <a:off x="670706" y="927220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6" name="CustomShape 6"/>
              <p:cNvSpPr/>
              <p:nvPr/>
            </p:nvSpPr>
            <p:spPr>
              <a:xfrm rot="2220000">
                <a:off x="61688" y="478740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7" name="CustomShape 7"/>
              <p:cNvSpPr/>
              <p:nvPr/>
            </p:nvSpPr>
            <p:spPr>
              <a:xfrm rot="2220000">
                <a:off x="760880" y="184649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8" name="CustomShape 8"/>
              <p:cNvSpPr/>
              <p:nvPr/>
            </p:nvSpPr>
            <p:spPr>
              <a:xfrm rot="2220000">
                <a:off x="848664" y="442189"/>
                <a:ext cx="357272" cy="5728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9" name="CustomShape 9"/>
              <p:cNvSpPr/>
              <p:nvPr/>
            </p:nvSpPr>
            <p:spPr>
              <a:xfrm rot="9420000">
                <a:off x="249220" y="702466"/>
                <a:ext cx="357272" cy="57281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70" name="CustomShape 10"/>
              <p:cNvSpPr/>
              <p:nvPr/>
            </p:nvSpPr>
            <p:spPr>
              <a:xfrm rot="2220000" flipH="1">
                <a:off x="329488" y="49733"/>
                <a:ext cx="356930" cy="572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673" name="CustomShape 17"/>
            <p:cNvSpPr/>
            <p:nvPr/>
          </p:nvSpPr>
          <p:spPr>
            <a:xfrm>
              <a:off x="18236906" y="10832420"/>
              <a:ext cx="1432094" cy="1357719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5">
              <a:extLst>
                <a:ext uri="{FF2B5EF4-FFF2-40B4-BE49-F238E27FC236}">
                  <a16:creationId xmlns:a16="http://schemas.microsoft.com/office/drawing/2014/main" id="{34800861-90F6-7B3D-5CEC-45363E61BFFB}"/>
                </a:ext>
              </a:extLst>
            </p:cNvPr>
            <p:cNvSpPr txBox="1"/>
            <p:nvPr/>
          </p:nvSpPr>
          <p:spPr>
            <a:xfrm>
              <a:off x="15375323" y="8107684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Kitchen</a:t>
              </a:r>
            </a:p>
          </p:txBody>
        </p:sp>
        <p:sp>
          <p:nvSpPr>
            <p:cNvPr id="8" name="TextBox 18">
              <a:extLst>
                <a:ext uri="{FF2B5EF4-FFF2-40B4-BE49-F238E27FC236}">
                  <a16:creationId xmlns:a16="http://schemas.microsoft.com/office/drawing/2014/main" id="{913D68B0-8F7A-22C6-501D-BD75A19C26A1}"/>
                </a:ext>
              </a:extLst>
            </p:cNvPr>
            <p:cNvSpPr txBox="1"/>
            <p:nvPr/>
          </p:nvSpPr>
          <p:spPr>
            <a:xfrm>
              <a:off x="15813733" y="10166750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Bathroom</a:t>
              </a:r>
            </a:p>
          </p:txBody>
        </p:sp>
        <p:sp>
          <p:nvSpPr>
            <p:cNvPr id="9" name="TextBox 19">
              <a:extLst>
                <a:ext uri="{FF2B5EF4-FFF2-40B4-BE49-F238E27FC236}">
                  <a16:creationId xmlns:a16="http://schemas.microsoft.com/office/drawing/2014/main" id="{2D199743-BA45-3D0A-A21E-77CB9BBC1F46}"/>
                </a:ext>
              </a:extLst>
            </p:cNvPr>
            <p:cNvSpPr txBox="1"/>
            <p:nvPr/>
          </p:nvSpPr>
          <p:spPr>
            <a:xfrm>
              <a:off x="17900376" y="10166750"/>
              <a:ext cx="2619829" cy="46987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Master Bedroom</a:t>
              </a:r>
            </a:p>
          </p:txBody>
        </p:sp>
        <p:sp>
          <p:nvSpPr>
            <p:cNvPr id="10" name="TextBox 20">
              <a:extLst>
                <a:ext uri="{FF2B5EF4-FFF2-40B4-BE49-F238E27FC236}">
                  <a16:creationId xmlns:a16="http://schemas.microsoft.com/office/drawing/2014/main" id="{A1EC7362-7632-6835-FA1C-4BB59E7C0BED}"/>
                </a:ext>
              </a:extLst>
            </p:cNvPr>
            <p:cNvSpPr txBox="1"/>
            <p:nvPr/>
          </p:nvSpPr>
          <p:spPr>
            <a:xfrm>
              <a:off x="17876894" y="12368390"/>
              <a:ext cx="2345491" cy="4217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</a:pPr>
              <a:r>
                <a:rPr lang="en-US" sz="2800" dirty="0">
                  <a:solidFill>
                    <a:srgbClr val="FFFFFF"/>
                  </a:solidFill>
                  <a:latin typeface="HK Grotesk Medium"/>
                </a:rPr>
                <a:t>my_bed.csv</a:t>
              </a:r>
            </a:p>
          </p:txBody>
        </p:sp>
        <p:grpSp>
          <p:nvGrpSpPr>
            <p:cNvPr id="11" name="Picture 22">
              <a:extLst>
                <a:ext uri="{FF2B5EF4-FFF2-40B4-BE49-F238E27FC236}">
                  <a16:creationId xmlns:a16="http://schemas.microsoft.com/office/drawing/2014/main" id="{98EA6729-4C76-2EC6-5562-E32C2B1A9F60}"/>
                </a:ext>
              </a:extLst>
            </p:cNvPr>
            <p:cNvGrpSpPr/>
            <p:nvPr/>
          </p:nvGrpSpPr>
          <p:grpSpPr>
            <a:xfrm>
              <a:off x="15934032" y="7243139"/>
              <a:ext cx="1027815" cy="79391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8F040674-5163-B373-79CB-5DE0C6275382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573FD0B7-2812-BD30-5425-ABCFB3640D4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3C21304D-E1F8-FA81-B2C3-D8C5CA778AB6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2" name="Picture 23">
              <a:extLst>
                <a:ext uri="{FF2B5EF4-FFF2-40B4-BE49-F238E27FC236}">
                  <a16:creationId xmlns:a16="http://schemas.microsoft.com/office/drawing/2014/main" id="{33AD7324-1F3B-AB09-3755-4C1DD4A8DCFF}"/>
                </a:ext>
              </a:extLst>
            </p:cNvPr>
            <p:cNvGrpSpPr/>
            <p:nvPr/>
          </p:nvGrpSpPr>
          <p:grpSpPr>
            <a:xfrm>
              <a:off x="18048579" y="7243139"/>
              <a:ext cx="1027815" cy="79391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2F171DE-56DD-BDFF-B607-49D51AE3C5C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1B469355-9F54-9912-8A4A-C0B29305EDE5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B6BB836B-F46A-E8BF-6F6C-9F4C0C233C9F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4">
              <a:extLst>
                <a:ext uri="{FF2B5EF4-FFF2-40B4-BE49-F238E27FC236}">
                  <a16:creationId xmlns:a16="http://schemas.microsoft.com/office/drawing/2014/main" id="{FEC4F5D4-AD45-4748-7ADD-A7CE71550552}"/>
                </a:ext>
              </a:extLst>
            </p:cNvPr>
            <p:cNvGrpSpPr/>
            <p:nvPr/>
          </p:nvGrpSpPr>
          <p:grpSpPr>
            <a:xfrm>
              <a:off x="16384525" y="9225469"/>
              <a:ext cx="1027815" cy="793914"/>
              <a:chOff x="8281530" y="8325179"/>
              <a:chExt cx="1145935" cy="885154"/>
            </a:xfrm>
            <a:solidFill>
              <a:srgbClr val="FFFFFF"/>
            </a:solidFill>
          </p:grpSpPr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1F6095C4-E6A8-71F3-2CC4-1ECCCF144061}"/>
                  </a:ext>
                </a:extLst>
              </p:cNvPr>
              <p:cNvSpPr/>
              <p:nvPr/>
            </p:nvSpPr>
            <p:spPr>
              <a:xfrm>
                <a:off x="8281530" y="8325179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5ADA801B-F508-DDE2-618A-0818FEF5AF57}"/>
                  </a:ext>
                </a:extLst>
              </p:cNvPr>
              <p:cNvSpPr/>
              <p:nvPr/>
            </p:nvSpPr>
            <p:spPr>
              <a:xfrm>
                <a:off x="8429713" y="8398808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9202FD4-B124-4599-4A20-0BED2308618F}"/>
                  </a:ext>
                </a:extLst>
              </p:cNvPr>
              <p:cNvSpPr/>
              <p:nvPr/>
            </p:nvSpPr>
            <p:spPr>
              <a:xfrm>
                <a:off x="8355936" y="8398808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4" name="Picture 25">
              <a:extLst>
                <a:ext uri="{FF2B5EF4-FFF2-40B4-BE49-F238E27FC236}">
                  <a16:creationId xmlns:a16="http://schemas.microsoft.com/office/drawing/2014/main" id="{E392056F-4365-BA11-9598-C9984D076592}"/>
                </a:ext>
              </a:extLst>
            </p:cNvPr>
            <p:cNvGrpSpPr/>
            <p:nvPr/>
          </p:nvGrpSpPr>
          <p:grpSpPr>
            <a:xfrm>
              <a:off x="18313720" y="9225469"/>
              <a:ext cx="1027815" cy="793914"/>
              <a:chOff x="10432435" y="8349853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966DC447-CE49-7CBC-74C4-82DA55F22847}"/>
                  </a:ext>
                </a:extLst>
              </p:cNvPr>
              <p:cNvSpPr/>
              <p:nvPr/>
            </p:nvSpPr>
            <p:spPr>
              <a:xfrm>
                <a:off x="10432435" y="8349853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301BA4BE-00D2-DA6B-8585-C076641CF204}"/>
                  </a:ext>
                </a:extLst>
              </p:cNvPr>
              <p:cNvSpPr/>
              <p:nvPr/>
            </p:nvSpPr>
            <p:spPr>
              <a:xfrm>
                <a:off x="10580618" y="8423482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5D5163C4-600B-549C-2BDF-3648EA514433}"/>
                  </a:ext>
                </a:extLst>
              </p:cNvPr>
              <p:cNvSpPr/>
              <p:nvPr/>
            </p:nvSpPr>
            <p:spPr>
              <a:xfrm>
                <a:off x="10506841" y="8423482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5" name="Picture 26">
              <a:extLst>
                <a:ext uri="{FF2B5EF4-FFF2-40B4-BE49-F238E27FC236}">
                  <a16:creationId xmlns:a16="http://schemas.microsoft.com/office/drawing/2014/main" id="{D2D25C1D-A10F-60AE-1894-6AFCFEF7E661}"/>
                </a:ext>
              </a:extLst>
            </p:cNvPr>
            <p:cNvGrpSpPr/>
            <p:nvPr/>
          </p:nvGrpSpPr>
          <p:grpSpPr>
            <a:xfrm>
              <a:off x="16828938" y="5624926"/>
              <a:ext cx="1027815" cy="793915"/>
              <a:chOff x="8777016" y="3895501"/>
              <a:chExt cx="1145935" cy="885155"/>
            </a:xfrm>
            <a:solidFill>
              <a:srgbClr val="FFFFFF"/>
            </a:solidFill>
          </p:grpSpPr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A2567FCD-CFF2-FCEC-9DF1-FBC8BE39BAE4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5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1F82CAE8-7AB1-C6E5-D5DA-8290B962C6CE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477F90E6-F100-8E41-520B-C3C7E298826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6" name="AutoShape 27">
              <a:extLst>
                <a:ext uri="{FF2B5EF4-FFF2-40B4-BE49-F238E27FC236}">
                  <a16:creationId xmlns:a16="http://schemas.microsoft.com/office/drawing/2014/main" id="{14BB718E-B190-B901-5AC5-F7D6950CAB29}"/>
                </a:ext>
              </a:extLst>
            </p:cNvPr>
            <p:cNvSpPr/>
            <p:nvPr/>
          </p:nvSpPr>
          <p:spPr>
            <a:xfrm>
              <a:off x="16352660" y="6814198"/>
              <a:ext cx="2226912" cy="23075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0">
              <a:extLst>
                <a:ext uri="{FF2B5EF4-FFF2-40B4-BE49-F238E27FC236}">
                  <a16:creationId xmlns:a16="http://schemas.microsoft.com/office/drawing/2014/main" id="{E021B408-8E50-5D48-7F5C-2FBD40224713}"/>
                </a:ext>
              </a:extLst>
            </p:cNvPr>
            <p:cNvSpPr/>
            <p:nvPr/>
          </p:nvSpPr>
          <p:spPr>
            <a:xfrm rot="16200000">
              <a:off x="18374050" y="7008623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1">
              <a:extLst>
                <a:ext uri="{FF2B5EF4-FFF2-40B4-BE49-F238E27FC236}">
                  <a16:creationId xmlns:a16="http://schemas.microsoft.com/office/drawing/2014/main" id="{64C9FC78-EAB2-10C8-68B7-83E1C5599ECD}"/>
                </a:ext>
              </a:extLst>
            </p:cNvPr>
            <p:cNvSpPr/>
            <p:nvPr/>
          </p:nvSpPr>
          <p:spPr>
            <a:xfrm rot="16200000">
              <a:off x="18374049" y="8807426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AutoShape 32">
              <a:extLst>
                <a:ext uri="{FF2B5EF4-FFF2-40B4-BE49-F238E27FC236}">
                  <a16:creationId xmlns:a16="http://schemas.microsoft.com/office/drawing/2014/main" id="{90238838-5D92-2897-8202-C382B5E2C423}"/>
                </a:ext>
              </a:extLst>
            </p:cNvPr>
            <p:cNvSpPr/>
            <p:nvPr/>
          </p:nvSpPr>
          <p:spPr>
            <a:xfrm>
              <a:off x="16899258" y="8981847"/>
              <a:ext cx="192919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1" name="AutoShape 35">
              <a:extLst>
                <a:ext uri="{FF2B5EF4-FFF2-40B4-BE49-F238E27FC236}">
                  <a16:creationId xmlns:a16="http://schemas.microsoft.com/office/drawing/2014/main" id="{C3BA96B1-B561-1BDD-AD2D-EB1902D315AF}"/>
                </a:ext>
              </a:extLst>
            </p:cNvPr>
            <p:cNvSpPr/>
            <p:nvPr/>
          </p:nvSpPr>
          <p:spPr>
            <a:xfrm rot="16200000">
              <a:off x="18730145" y="10923616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4" name="Picture 13">
              <a:extLst>
                <a:ext uri="{FF2B5EF4-FFF2-40B4-BE49-F238E27FC236}">
                  <a16:creationId xmlns:a16="http://schemas.microsoft.com/office/drawing/2014/main" id="{A72B3A48-9BF0-C778-CE6C-E5DE511C0B58}"/>
                </a:ext>
              </a:extLst>
            </p:cNvPr>
            <p:cNvSpPr/>
            <p:nvPr/>
          </p:nvSpPr>
          <p:spPr>
            <a:xfrm>
              <a:off x="18627449" y="11157544"/>
              <a:ext cx="712521" cy="821566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TextBox 17">
              <a:extLst>
                <a:ext uri="{FF2B5EF4-FFF2-40B4-BE49-F238E27FC236}">
                  <a16:creationId xmlns:a16="http://schemas.microsoft.com/office/drawing/2014/main" id="{4D27297E-5674-616F-CAF6-9D63A8DE0FBE}"/>
                </a:ext>
              </a:extLst>
            </p:cNvPr>
            <p:cNvSpPr txBox="1"/>
            <p:nvPr/>
          </p:nvSpPr>
          <p:spPr>
            <a:xfrm>
              <a:off x="17611349" y="8107684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Living room</a:t>
              </a:r>
            </a:p>
          </p:txBody>
        </p:sp>
        <p:sp>
          <p:nvSpPr>
            <p:cNvPr id="48" name="AutoShape 30">
              <a:extLst>
                <a:ext uri="{FF2B5EF4-FFF2-40B4-BE49-F238E27FC236}">
                  <a16:creationId xmlns:a16="http://schemas.microsoft.com/office/drawing/2014/main" id="{B712A57F-96B9-802F-05ED-CBD0898B3D44}"/>
                </a:ext>
              </a:extLst>
            </p:cNvPr>
            <p:cNvSpPr/>
            <p:nvPr/>
          </p:nvSpPr>
          <p:spPr>
            <a:xfrm rot="16200000">
              <a:off x="16188006" y="7002635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9" name="AutoShape 30">
              <a:extLst>
                <a:ext uri="{FF2B5EF4-FFF2-40B4-BE49-F238E27FC236}">
                  <a16:creationId xmlns:a16="http://schemas.microsoft.com/office/drawing/2014/main" id="{AAC41C4C-4460-59F5-B242-48825C8F0DC5}"/>
                </a:ext>
              </a:extLst>
            </p:cNvPr>
            <p:cNvSpPr/>
            <p:nvPr/>
          </p:nvSpPr>
          <p:spPr>
            <a:xfrm rot="16200000">
              <a:off x="17165199" y="6631749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AutoShape 30">
              <a:extLst>
                <a:ext uri="{FF2B5EF4-FFF2-40B4-BE49-F238E27FC236}">
                  <a16:creationId xmlns:a16="http://schemas.microsoft.com/office/drawing/2014/main" id="{2890DF49-E28B-3A1D-BD6C-A57EDF0F95B0}"/>
                </a:ext>
              </a:extLst>
            </p:cNvPr>
            <p:cNvSpPr/>
            <p:nvPr/>
          </p:nvSpPr>
          <p:spPr>
            <a:xfrm rot="16200000">
              <a:off x="18707778" y="9087681"/>
              <a:ext cx="239699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2" name="AutoShape 30">
              <a:extLst>
                <a:ext uri="{FF2B5EF4-FFF2-40B4-BE49-F238E27FC236}">
                  <a16:creationId xmlns:a16="http://schemas.microsoft.com/office/drawing/2014/main" id="{69445666-002D-0C70-FD6F-8ABA59945CE6}"/>
                </a:ext>
              </a:extLst>
            </p:cNvPr>
            <p:cNvSpPr/>
            <p:nvPr/>
          </p:nvSpPr>
          <p:spPr>
            <a:xfrm rot="16200000">
              <a:off x="16775825" y="9087681"/>
              <a:ext cx="239699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BA6582-4E21-1F35-E769-369DD1E810E9}"/>
                </a:ext>
              </a:extLst>
            </p:cNvPr>
            <p:cNvSpPr txBox="1"/>
            <p:nvPr/>
          </p:nvSpPr>
          <p:spPr>
            <a:xfrm>
              <a:off x="17390533" y="5638800"/>
              <a:ext cx="92394" cy="64632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45718" tIns="45718" rIns="45718" bIns="45718" numCol="1" spcCol="38100" rtlCol="0" anchor="t">
              <a:spAutoFit/>
            </a:bodyPr>
            <a:lstStyle/>
            <a:p>
              <a:pPr marL="0" marR="0" indent="0" algn="l" defTabSz="1828432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DK" sz="3600" b="0" i="0" u="none" strike="noStrike" cap="none" spc="0" normalizeH="0" baseline="0" dirty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783388" cy="9220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named with your </a:t>
            </a:r>
            <a:r>
              <a:rPr lang="en-US" sz="3000" b="1" dirty="0"/>
              <a:t>user name </a:t>
            </a:r>
            <a:r>
              <a:rPr lang="en-US" sz="3000" dirty="0"/>
              <a:t>that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notice this symbol later when looking at your working directory or changing to another directory.</a:t>
            </a:r>
            <a:endParaRPr lang="en-US" sz="3000" dirty="0">
              <a:solidFill>
                <a:srgbClr val="FFFFFF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4693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29537" y="4337853"/>
            <a:ext cx="10783386" cy="4380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located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called the working directory and you can print it with: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21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" name="CustomShape 13">
            <a:extLst>
              <a:ext uri="{FF2B5EF4-FFF2-40B4-BE49-F238E27FC236}">
                <a16:creationId xmlns:a16="http://schemas.microsoft.com/office/drawing/2014/main" id="{36723E52-53A1-D700-3A28-AD356A5BAEF0}"/>
              </a:ext>
            </a:extLst>
          </p:cNvPr>
          <p:cNvSpPr txBox="1"/>
          <p:nvPr/>
        </p:nvSpPr>
        <p:spPr>
          <a:xfrm>
            <a:off x="2263019" y="9408564"/>
            <a:ext cx="10996527" cy="3296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following slides corresponds to what you have in the ‘Files’ folder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200" dirty="0">
              <a:latin typeface="YACkoL24Adk 0"/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63341" y="9828507"/>
            <a:ext cx="4868099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562498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98285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041878"/>
            <a:ext cx="10940645" cy="8143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, including other directories: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 the example on the right this would give you the Downloads,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list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~/Downloads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  <a:r>
              <a:rPr lang="en-US" sz="3000" dirty="0"/>
              <a:t>We’ll get to that later.</a:t>
            </a:r>
            <a:endParaRPr sz="3000" dirty="0"/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6767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you can easily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Documents/courses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Rounded Rectangle"/>
          <p:cNvSpPr/>
          <p:nvPr/>
        </p:nvSpPr>
        <p:spPr>
          <a:xfrm>
            <a:off x="1442060" y="9951113"/>
            <a:ext cx="11219406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87" name="CustomShape 13"/>
          <p:cNvSpPr txBox="1"/>
          <p:nvPr/>
        </p:nvSpPr>
        <p:spPr>
          <a:xfrm>
            <a:off x="1835252" y="4183262"/>
            <a:ext cx="10765529" cy="6534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Each file and directory exist in one specific place on your computer. One could say they have an address.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‘address’ is called </a:t>
            </a:r>
            <a:r>
              <a:rPr lang="en-US" sz="3000" dirty="0"/>
              <a:t>a</a:t>
            </a:r>
            <a:r>
              <a:rPr sz="3000" dirty="0"/>
              <a:t> path.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Following the example from earlier, the path to you</a:t>
            </a:r>
            <a:r>
              <a:rPr lang="en-US" sz="3000" dirty="0"/>
              <a:t>r</a:t>
            </a:r>
            <a:r>
              <a:rPr sz="3000" dirty="0"/>
              <a:t> bed would be: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/entrance/</a:t>
            </a:r>
            <a:r>
              <a:rPr sz="3000" dirty="0" err="1"/>
              <a:t>living_room</a:t>
            </a:r>
            <a:r>
              <a:rPr sz="3000" dirty="0"/>
              <a:t>/Bedroom/bed.txt </a:t>
            </a:r>
          </a:p>
        </p:txBody>
      </p:sp>
      <p:grpSp>
        <p:nvGrpSpPr>
          <p:cNvPr id="790" name="Group"/>
          <p:cNvGrpSpPr/>
          <p:nvPr/>
        </p:nvGrpSpPr>
        <p:grpSpPr>
          <a:xfrm>
            <a:off x="13976205" y="4177207"/>
            <a:ext cx="8612586" cy="8352235"/>
            <a:chOff x="0" y="0"/>
            <a:chExt cx="8612584" cy="8352234"/>
          </a:xfrm>
        </p:grpSpPr>
        <p:pic>
          <p:nvPicPr>
            <p:cNvPr id="788" name="Group" descr="Group"/>
            <p:cNvPicPr>
              <a:picLocks noChangeAspect="1"/>
            </p:cNvPicPr>
            <p:nvPr/>
          </p:nvPicPr>
          <p:blipFill>
            <a:blip r:embed="rId3"/>
            <a:srcRect l="11031" t="601" r="11592" b="870"/>
            <a:stretch>
              <a:fillRect/>
            </a:stretch>
          </p:blipFill>
          <p:spPr>
            <a:xfrm>
              <a:off x="-1" y="0"/>
              <a:ext cx="8612586" cy="835223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9" h="21600" extrusionOk="0">
                  <a:moveTo>
                    <a:pt x="2020" y="0"/>
                  </a:moveTo>
                  <a:cubicBezTo>
                    <a:pt x="1427" y="0"/>
                    <a:pt x="1073" y="0"/>
                    <a:pt x="836" y="102"/>
                  </a:cubicBezTo>
                  <a:cubicBezTo>
                    <a:pt x="494" y="230"/>
                    <a:pt x="223" y="509"/>
                    <a:pt x="99" y="861"/>
                  </a:cubicBezTo>
                  <a:cubicBezTo>
                    <a:pt x="0" y="1105"/>
                    <a:pt x="0" y="1472"/>
                    <a:pt x="0" y="2083"/>
                  </a:cubicBezTo>
                  <a:lnTo>
                    <a:pt x="0" y="19519"/>
                  </a:lnTo>
                  <a:cubicBezTo>
                    <a:pt x="0" y="20130"/>
                    <a:pt x="0" y="20494"/>
                    <a:pt x="99" y="20739"/>
                  </a:cubicBezTo>
                  <a:cubicBezTo>
                    <a:pt x="223" y="21091"/>
                    <a:pt x="494" y="21369"/>
                    <a:pt x="836" y="21497"/>
                  </a:cubicBezTo>
                  <a:cubicBezTo>
                    <a:pt x="1073" y="21599"/>
                    <a:pt x="1427" y="21600"/>
                    <a:pt x="2020" y="21600"/>
                  </a:cubicBezTo>
                  <a:lnTo>
                    <a:pt x="19580" y="21600"/>
                  </a:lnTo>
                  <a:cubicBezTo>
                    <a:pt x="20173" y="21600"/>
                    <a:pt x="20527" y="21599"/>
                    <a:pt x="20764" y="21497"/>
                  </a:cubicBezTo>
                  <a:cubicBezTo>
                    <a:pt x="21106" y="21369"/>
                    <a:pt x="21377" y="21091"/>
                    <a:pt x="21501" y="20739"/>
                  </a:cubicBezTo>
                  <a:cubicBezTo>
                    <a:pt x="21600" y="20494"/>
                    <a:pt x="21600" y="20130"/>
                    <a:pt x="21600" y="19519"/>
                  </a:cubicBezTo>
                  <a:lnTo>
                    <a:pt x="21600" y="2083"/>
                  </a:lnTo>
                  <a:cubicBezTo>
                    <a:pt x="21600" y="1472"/>
                    <a:pt x="21600" y="1105"/>
                    <a:pt x="21501" y="861"/>
                  </a:cubicBezTo>
                  <a:cubicBezTo>
                    <a:pt x="21377" y="509"/>
                    <a:pt x="21106" y="230"/>
                    <a:pt x="20764" y="102"/>
                  </a:cubicBezTo>
                  <a:cubicBezTo>
                    <a:pt x="20527" y="0"/>
                    <a:pt x="20173" y="0"/>
                    <a:pt x="19580" y="0"/>
                  </a:cubicBezTo>
                  <a:lnTo>
                    <a:pt x="2020" y="0"/>
                  </a:lnTo>
                  <a:close/>
                </a:path>
              </a:pathLst>
            </a:custGeom>
            <a:ln w="127000" cap="flat">
              <a:solidFill>
                <a:srgbClr val="A4D2B4"/>
              </a:solidFill>
              <a:prstDash val="solid"/>
              <a:round/>
            </a:ln>
            <a:effectLst/>
          </p:spPr>
        </p:pic>
        <p:sp>
          <p:nvSpPr>
            <p:cNvPr id="789" name="CustomShape 17"/>
            <p:cNvSpPr/>
            <p:nvPr/>
          </p:nvSpPr>
          <p:spPr>
            <a:xfrm>
              <a:off x="6499564" y="5123261"/>
              <a:ext cx="2039228" cy="1752037"/>
            </a:xfrm>
            <a:prstGeom prst="ellipse">
              <a:avLst/>
            </a:prstGeom>
            <a:noFill/>
            <a:ln w="57240" cap="flat">
              <a:solidFill>
                <a:srgbClr val="C5180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91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9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25</a:t>
            </a:r>
            <a:endParaRPr dirty="0"/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91116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9568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084183" y="3844295"/>
            <a:ext cx="12388941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Full paths start at the root. Since ~ represent</a:t>
            </a:r>
            <a:r>
              <a:rPr lang="en-US" sz="3000" dirty="0"/>
              <a:t>s</a:t>
            </a:r>
            <a:r>
              <a:rPr sz="3000" dirty="0"/>
              <a:t> the path to your home directory it includes the root</a:t>
            </a:r>
            <a:r>
              <a:rPr lang="en-US" sz="3000" dirty="0"/>
              <a:t>,</a:t>
            </a:r>
            <a:r>
              <a:rPr sz="3000" dirty="0"/>
              <a:t> </a:t>
            </a:r>
            <a:r>
              <a:rPr lang="en-US" sz="3000" dirty="0"/>
              <a:t>s</a:t>
            </a:r>
            <a:r>
              <a:rPr sz="3000" dirty="0"/>
              <a:t>o</a:t>
            </a:r>
            <a:r>
              <a:rPr lang="en-US" sz="3000" dirty="0"/>
              <a:t>:</a:t>
            </a: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Are the same place and the same path</a:t>
            </a:r>
            <a:r>
              <a:rPr lang="en-US" sz="3000" dirty="0"/>
              <a:t> and are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Full paths are unambiguous </a:t>
            </a:r>
            <a:r>
              <a:rPr lang="en-US" sz="3000" dirty="0"/>
              <a:t>as</a:t>
            </a:r>
            <a:r>
              <a:rPr sz="3000" dirty="0"/>
              <a:t> they describe the entire 'journey' starting from the root.</a:t>
            </a:r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10178251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783209" y="8180359"/>
            <a:ext cx="11491691" cy="4378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strictly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938734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34978" y="3872625"/>
            <a:ext cx="11738599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working directory.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am working in </a:t>
            </a:r>
            <a:r>
              <a:rPr sz="3000" dirty="0"/>
              <a:t>‘Documents’, I can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courses/Just-Bash-It/Commandline.pptx</a:t>
            </a: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715070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10328744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3221966" y="11714178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henever we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why 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445299"/>
            <a:ext cx="13815085" cy="4525650"/>
            <a:chOff x="5016261" y="6831379"/>
            <a:chExt cx="13815085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4503052" cy="16653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$ ls  –lh  ~/Documents/courses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813253"/>
            <a:ext cx="2130857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 </a:t>
            </a:r>
            <a:r>
              <a:rPr sz="3000" b="1" dirty="0"/>
              <a:t>cd</a:t>
            </a:r>
            <a:r>
              <a:rPr sz="3000" dirty="0"/>
              <a:t>,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can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courses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29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58862" y="1063988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30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6823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6424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Let’s </a:t>
            </a:r>
            <a:r>
              <a:rPr sz="3000" dirty="0"/>
              <a:t>go 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(and directories) from one place </a:t>
            </a:r>
            <a:r>
              <a:rPr lang="en-US" sz="3000" dirty="0"/>
              <a:t>to</a:t>
            </a:r>
            <a:r>
              <a:rPr sz="3000" dirty="0"/>
              <a:t> another with </a:t>
            </a:r>
            <a:r>
              <a:rPr sz="3000" b="1" dirty="0"/>
              <a:t>mv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duplicated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first argument is the file you want to copy,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664530" y="9477569"/>
            <a:ext cx="11745735" cy="3297658"/>
            <a:chOff x="2587656" y="9937508"/>
            <a:chExt cx="10264530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 to copy the file to: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587656" y="12039957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/>
              <a:t>new_recipy</a:t>
            </a:r>
            <a:r>
              <a:rPr dirty="0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8" name="TextBox 15">
            <a:extLst>
              <a:ext uri="{FF2B5EF4-FFF2-40B4-BE49-F238E27FC236}">
                <a16:creationId xmlns:a16="http://schemas.microsoft.com/office/drawing/2014/main" id="{B6CB0FED-1EBC-F7FF-FC6D-03EF021622F3}"/>
              </a:ext>
            </a:extLst>
          </p:cNvPr>
          <p:cNvSpPr txBox="1"/>
          <p:nvPr/>
        </p:nvSpPr>
        <p:spPr>
          <a:xfrm>
            <a:off x="20055309" y="8357655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recipes_copy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ED87F137-279D-5E0C-5690-FE9754C19C1B}"/>
              </a:ext>
            </a:extLst>
          </p:cNvPr>
          <p:cNvGrpSpPr/>
          <p:nvPr/>
        </p:nvGrpSpPr>
        <p:grpSpPr>
          <a:xfrm>
            <a:off x="20700857" y="7064187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E485B15-35C5-D84C-F4BA-D0F9DADD767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C9D3C06-9E53-3576-14B2-289C798E55D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DD0E4C8-1CB3-DCDD-54A2-BD193926190C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0108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recipes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505446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4081842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38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80454"/>
            <a:ext cx="10007757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There are many ways to create files, mostly as output from programs, but you can always create an empty file by using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919951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8087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Above we have seen how to interact with single files and directories. But 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39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94269" y="87878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623564" y="4623611"/>
            <a:ext cx="9471134" cy="6525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also 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If we only want to see files with names ending in md we can specify that like this: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40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43</a:t>
            </a:r>
            <a:endParaRPr dirty="0"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44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7092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44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46</a:t>
            </a:r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47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863294" y="6179595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792410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t>git</a:t>
            </a:r>
            <a:r>
              <a:rPr b="0"/>
              <a:t> &amp; </a:t>
            </a:r>
            <a:r>
              <a:t>GitHub</a:t>
            </a:r>
            <a:r>
              <a:rPr b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48</a:t>
            </a:r>
            <a:endParaRPr dirty="0"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216159" y="6855365"/>
            <a:ext cx="370947" cy="805612"/>
            <a:chOff x="0" y="0"/>
            <a:chExt cx="370946" cy="805611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859735" y="6855365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401961" y="9557447"/>
            <a:ext cx="2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401961" y="8313402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249149" y="512992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249148" y="6302613"/>
            <a:ext cx="1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49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20065330" y="838591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20076613" y="957550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50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7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51</a:t>
            </a:r>
          </a:p>
        </p:txBody>
      </p:sp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50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52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'history’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54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56</a:t>
            </a:r>
            <a:endParaRPr dirty="0"/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8" y="2894074"/>
            <a:ext cx="7018709" cy="9452252"/>
            <a:chOff x="-1" y="0"/>
            <a:chExt cx="7018708" cy="9452250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573261" y="1419217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781653" y="2440531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37977" y="370765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69495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60467" y="73286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55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0901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3970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61191" y="10223316"/>
            <a:ext cx="2841630" cy="2841628"/>
            <a:chOff x="-1" y="-1"/>
            <a:chExt cx="2841629" cy="2841627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tail</a:t>
              </a:r>
            </a:p>
          </p:txBody>
        </p:sp>
      </p:grpSp>
      <p:graphicFrame>
        <p:nvGraphicFramePr>
          <p:cNvPr id="1443" name="Table 1"/>
          <p:cNvGraphicFramePr/>
          <p:nvPr/>
        </p:nvGraphicFramePr>
        <p:xfrm>
          <a:off x="5040210" y="69370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73201" y="3280487"/>
            <a:ext cx="2017611" cy="2017610"/>
            <a:chOff x="0" y="-1"/>
            <a:chExt cx="2017610" cy="2017609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31659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9545" y="3976821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</a:p>
        </p:txBody>
      </p:sp>
      <p:sp>
        <p:nvSpPr>
          <p:cNvPr id="1451" name="TextBox 90"/>
          <p:cNvSpPr txBox="1"/>
          <p:nvPr/>
        </p:nvSpPr>
        <p:spPr>
          <a:xfrm>
            <a:off x="5049545" y="1082704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 &gt; myfile_small.txt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4884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9940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88791"/>
            <a:ext cx="9115885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Compresses a file with standard </a:t>
            </a:r>
            <a:r>
              <a:rPr sz="3000" dirty="0" err="1"/>
              <a:t>gzip</a:t>
            </a:r>
            <a:r>
              <a:rPr sz="30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276308"/>
            <a:ext cx="7629977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1503309" y="6968601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</a:t>
            </a:r>
          </a:p>
        </p:txBody>
      </p:sp>
      <p:sp>
        <p:nvSpPr>
          <p:cNvPr id="1517" name=".GZ"/>
          <p:cNvSpPr txBox="1"/>
          <p:nvPr/>
        </p:nvSpPr>
        <p:spPr>
          <a:xfrm>
            <a:off x="1757309" y="4758802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.GZ</a:t>
            </a:r>
          </a:p>
        </p:txBody>
      </p:sp>
      <p:sp>
        <p:nvSpPr>
          <p:cNvPr id="1518" name=".TAR.GZ"/>
          <p:cNvSpPr txBox="1"/>
          <p:nvPr/>
        </p:nvSpPr>
        <p:spPr>
          <a:xfrm>
            <a:off x="1001743" y="9256602"/>
            <a:ext cx="2306443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.TAR.GZ</a:t>
            </a:r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9075640"/>
            <a:ext cx="9273432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000" dirty="0" err="1"/>
              <a:t>gzip</a:t>
            </a:r>
            <a:r>
              <a:rPr sz="3000" dirty="0"/>
              <a:t> and tar </a:t>
            </a:r>
            <a:r>
              <a:rPr sz="30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000" dirty="0"/>
              <a:t>Compresses multiple files and puts them into one, single file </a:t>
            </a:r>
            <a:r>
              <a:rPr sz="3000" dirty="0"/>
              <a:t>archive</a:t>
            </a:r>
            <a:r>
              <a:rPr lang="en-US" sz="3000" dirty="0"/>
              <a:t>.</a:t>
            </a:r>
            <a:endParaRPr sz="30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59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-[f][file]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</a:t>
            </a:r>
            <a:r>
              <a:rPr lang="en-GB" dirty="0"/>
              <a:t>quit less </a:t>
            </a:r>
            <a:r>
              <a:rPr lang="en-GB" b="0" dirty="0"/>
              <a:t>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Refreshed from lunch we do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10177257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7662047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9196696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8135248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7988238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791934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790029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7898510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7858754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4363900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9195271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9219708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9218284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10454184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6496430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6495006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6483110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6481686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4171280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9221132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9219708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6483822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6482398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10454184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4298123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</a:t>
            </a:r>
            <a:r>
              <a:rPr sz="3400" i="1" dirty="0"/>
              <a:t>flexible</a:t>
            </a:r>
            <a:r>
              <a:rPr sz="3400" dirty="0"/>
              <a:t> search pattern</a:t>
            </a:r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64</a:t>
            </a:fld>
            <a:endParaRPr/>
          </a:p>
        </p:txBody>
      </p:sp>
    </p:spTree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69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71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71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for today, </a:t>
            </a:r>
            <a:r>
              <a:rPr lang="en-US" b="1" dirty="0"/>
              <a:t>Exercise 5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9615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73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386853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</a:t>
              </a:r>
              <a:r>
                <a:rPr lang="en-US" sz="24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6781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love pretty (useless) things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913292" y="9370087"/>
              <a:ext cx="3026321" cy="111833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Nah,</a:t>
              </a:r>
              <a:r>
                <a:rPr lang="en-US" sz="24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I’m good…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3956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 work in science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8168740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43688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74</a:t>
            </a:fld>
            <a:endParaRPr/>
          </a:p>
        </p:txBody>
      </p:sp>
    </p:spTree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76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77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First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0320258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623839" y="4711410"/>
            <a:ext cx="8652728" cy="7400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817914" y="5652629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35073" y="628356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5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7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8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9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12386" y="9614365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172366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92611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stdout: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&gt; list_results.txt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 &gt; list_results.txt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&amp;&gt; both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89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87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8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817914" y="5652629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Keyboard</a:t>
            </a:r>
          </a:p>
        </p:txBody>
      </p:sp>
      <p:sp>
        <p:nvSpPr>
          <p:cNvPr id="1794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735073" y="628356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8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9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0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2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4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805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wc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61375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wc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493718" y="7549360"/>
            <a:ext cx="5771452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59" y="6402764"/>
            <a:ext cx="13273521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695703"/>
            <a:ext cx="13273520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-3144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7939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lang="en-US" sz="3000" dirty="0"/>
              <a:t>What about commands that require an input file because of their syntax? 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</a:t>
            </a:r>
            <a:r>
              <a:rPr lang="en-US" sz="3000" dirty="0"/>
              <a:t> of patients and add it as  a column to the lifestyle file: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patients.txt |</a:t>
            </a:r>
            <a:r>
              <a:rPr lang="en-US" sz="3000" dirty="0"/>
              <a:t> paste ??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Solution: we replace the filename with '-'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-d ',' -f 2 patients.txt | paste -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Technically '-' means 'read from stdin' which many commands do by default.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96660-6BD0-965E-097D-2F07175C0C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0651"/>
          <a:stretch/>
        </p:blipFill>
        <p:spPr>
          <a:xfrm>
            <a:off x="14684355" y="5363213"/>
            <a:ext cx="8905013" cy="47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45131"/>
      </p:ext>
    </p:extLst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90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</p:spTree>
  </p:cSld>
  <p:clrMapOvr>
    <a:masterClrMapping/>
  </p:clrMapOvr>
  <p:transition spd="med"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248436" y="5838959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82635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1935" name="Group"/>
          <p:cNvGrpSpPr/>
          <p:nvPr/>
        </p:nvGrpSpPr>
        <p:grpSpPr>
          <a:xfrm>
            <a:off x="838459" y="3420049"/>
            <a:ext cx="11551667" cy="4495304"/>
            <a:chOff x="0" y="0"/>
            <a:chExt cx="11551666" cy="4495303"/>
          </a:xfrm>
        </p:grpSpPr>
        <p:sp>
          <p:nvSpPr>
            <p:cNvPr id="1933" name="Rectangle"/>
            <p:cNvSpPr/>
            <p:nvPr/>
          </p:nvSpPr>
          <p:spPr>
            <a:xfrm>
              <a:off x="0" y="0"/>
              <a:ext cx="11551667" cy="4495304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r="1271"/>
            <a:stretch>
              <a:fillRect/>
            </a:stretch>
          </p:blipFill>
          <p:spPr>
            <a:xfrm>
              <a:off x="311923" y="203624"/>
              <a:ext cx="11018597" cy="40977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 descr="Picture 12"/>
          <p:cNvPicPr>
            <a:picLocks noChangeAspect="1"/>
          </p:cNvPicPr>
          <p:nvPr/>
        </p:nvPicPr>
        <p:blipFill>
          <a:blip r:embed="rId4"/>
          <a:srcRect l="585" r="1695" b="47403"/>
          <a:stretch>
            <a:fillRect/>
          </a:stretch>
        </p:blipFill>
        <p:spPr>
          <a:xfrm>
            <a:off x="14749779" y="3261190"/>
            <a:ext cx="8335658" cy="463534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939" name="Group"/>
          <p:cNvGrpSpPr/>
          <p:nvPr/>
        </p:nvGrpSpPr>
        <p:grpSpPr>
          <a:xfrm>
            <a:off x="11297582" y="9652037"/>
            <a:ext cx="12045920" cy="3176549"/>
            <a:chOff x="0" y="0"/>
            <a:chExt cx="12045918" cy="3176548"/>
          </a:xfrm>
        </p:grpSpPr>
        <p:sp>
          <p:nvSpPr>
            <p:cNvPr id="1937" name="Rectangle"/>
            <p:cNvSpPr/>
            <p:nvPr/>
          </p:nvSpPr>
          <p:spPr>
            <a:xfrm>
              <a:off x="0" y="0"/>
              <a:ext cx="12045919" cy="3176549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/>
            <a:stretch>
              <a:fillRect/>
            </a:stretch>
          </p:blipFill>
          <p:spPr>
            <a:xfrm>
              <a:off x="243284" y="248449"/>
              <a:ext cx="11610151" cy="271502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995401" y="8627723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555436" y="3117750"/>
            <a:ext cx="21444809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Useful if you want to specify the file you want to run the script 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script is called with </a:t>
            </a:r>
            <a:r>
              <a:rPr sz="3000" b="1" i="1" dirty="0"/>
              <a:t>bash</a:t>
            </a:r>
            <a:r>
              <a:rPr sz="3000" dirty="0"/>
              <a:t> (or simply </a:t>
            </a:r>
            <a:r>
              <a:rPr sz="3000" b="1" i="1" dirty="0" err="1"/>
              <a:t>sh</a:t>
            </a:r>
            <a:r>
              <a:rPr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dirty="0" err="1"/>
              <a:t>Use</a:t>
            </a:r>
            <a:r>
              <a:rPr lang="da-DK" sz="3000" dirty="0"/>
              <a:t> -x </a:t>
            </a:r>
            <a:r>
              <a:rPr lang="da-DK" sz="3000" dirty="0" err="1"/>
              <a:t>when</a:t>
            </a:r>
            <a:r>
              <a:rPr lang="da-DK" sz="3000" dirty="0"/>
              <a:t> </a:t>
            </a:r>
            <a:r>
              <a:rPr lang="da-DK" sz="3000" dirty="0" err="1"/>
              <a:t>you</a:t>
            </a:r>
            <a:r>
              <a:rPr lang="da-DK" sz="3000" dirty="0"/>
              <a:t> </a:t>
            </a:r>
            <a:r>
              <a:rPr lang="da-DK" sz="3000" dirty="0" err="1"/>
              <a:t>execute</a:t>
            </a:r>
            <a:r>
              <a:rPr lang="da-DK" sz="3000" dirty="0"/>
              <a:t> the script to show the </a:t>
            </a:r>
            <a:r>
              <a:rPr lang="da-DK" sz="3000" dirty="0" err="1"/>
              <a:t>commands</a:t>
            </a:r>
            <a:r>
              <a:rPr lang="da-DK" sz="3000" dirty="0"/>
              <a:t> and progression </a:t>
            </a:r>
            <a:endParaRPr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1960" name="Скругленный прямоугольник 7"/>
          <p:cNvSpPr/>
          <p:nvPr/>
        </p:nvSpPr>
        <p:spPr>
          <a:xfrm>
            <a:off x="1235705" y="4680742"/>
            <a:ext cx="10573393" cy="7297898"/>
          </a:xfrm>
          <a:prstGeom prst="roundRect">
            <a:avLst>
              <a:gd name="adj" fmla="val 295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 lang="en-US" dirty="0"/>
              <a:t>v</a:t>
            </a:r>
            <a:endParaRPr dirty="0"/>
          </a:p>
        </p:txBody>
      </p:sp>
      <p:sp>
        <p:nvSpPr>
          <p:cNvPr id="1961" name="TextShape 28"/>
          <p:cNvSpPr txBox="1"/>
          <p:nvPr/>
        </p:nvSpPr>
        <p:spPr>
          <a:xfrm>
            <a:off x="1706332" y="5166359"/>
            <a:ext cx="10106923" cy="75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#example of a for loop in bash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file in *.txt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echo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</a:t>
            </a:r>
            <a:r>
              <a:rPr dirty="0" err="1"/>
              <a:t>wc</a:t>
            </a:r>
            <a:r>
              <a:rPr dirty="0"/>
              <a:t>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#the general syntax of a for loop is: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[iterator] in [generator]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commands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 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96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 </a:t>
            </a:r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980618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1246477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564099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873576"/>
            <a:ext cx="4574454" cy="42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t>Can be overwhelming</a:t>
            </a:r>
          </a:p>
        </p:txBody>
      </p:sp>
    </p:spTree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Works like any linux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457872" y="6327304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 $ conda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105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exercise, let’s install and run a software using the command line,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107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/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/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/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/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/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/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</p:cSld>
  <p:clrMapOvr>
    <a:masterClrMapping/>
  </p:clrMapOvr>
  <p:transition spd="med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109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12715</TotalTime>
  <Words>8284</Words>
  <Application>Microsoft Macintosh PowerPoint</Application>
  <PresentationFormat>Custom</PresentationFormat>
  <Paragraphs>1695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20" baseType="lpstr">
      <vt:lpstr>Arial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Thilde Bagger Terkelsen</cp:lastModifiedBy>
  <cp:revision>82</cp:revision>
  <dcterms:modified xsi:type="dcterms:W3CDTF">2024-04-11T13:55:34Z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