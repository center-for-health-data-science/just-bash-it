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8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268" r:id="rId16"/>
    <p:sldId id="275" r:id="rId17"/>
    <p:sldId id="338" r:id="rId18"/>
    <p:sldId id="377" r:id="rId19"/>
    <p:sldId id="269" r:id="rId20"/>
    <p:sldId id="378" r:id="rId21"/>
    <p:sldId id="276" r:id="rId22"/>
    <p:sldId id="271" r:id="rId23"/>
    <p:sldId id="272" r:id="rId24"/>
    <p:sldId id="273" r:id="rId25"/>
    <p:sldId id="279" r:id="rId26"/>
    <p:sldId id="280" r:id="rId27"/>
    <p:sldId id="281" r:id="rId28"/>
    <p:sldId id="282" r:id="rId29"/>
    <p:sldId id="283" r:id="rId30"/>
    <p:sldId id="333" r:id="rId31"/>
    <p:sldId id="339" r:id="rId32"/>
    <p:sldId id="277" r:id="rId33"/>
    <p:sldId id="278" r:id="rId34"/>
    <p:sldId id="343" r:id="rId35"/>
    <p:sldId id="342" r:id="rId36"/>
    <p:sldId id="344" r:id="rId37"/>
    <p:sldId id="345" r:id="rId38"/>
    <p:sldId id="340" r:id="rId39"/>
    <p:sldId id="341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350" r:id="rId51"/>
    <p:sldId id="294" r:id="rId52"/>
    <p:sldId id="352" r:id="rId53"/>
    <p:sldId id="295" r:id="rId54"/>
    <p:sldId id="296" r:id="rId55"/>
    <p:sldId id="297" r:id="rId56"/>
    <p:sldId id="298" r:id="rId57"/>
    <p:sldId id="299" r:id="rId58"/>
    <p:sldId id="353" r:id="rId59"/>
    <p:sldId id="359" r:id="rId60"/>
    <p:sldId id="301" r:id="rId61"/>
    <p:sldId id="302" r:id="rId62"/>
    <p:sldId id="304" r:id="rId63"/>
    <p:sldId id="303" r:id="rId64"/>
    <p:sldId id="355" r:id="rId65"/>
    <p:sldId id="356" r:id="rId66"/>
    <p:sldId id="365" r:id="rId67"/>
    <p:sldId id="357" r:id="rId68"/>
    <p:sldId id="305" r:id="rId69"/>
    <p:sldId id="358" r:id="rId70"/>
    <p:sldId id="306" r:id="rId71"/>
    <p:sldId id="360" r:id="rId72"/>
    <p:sldId id="307" r:id="rId73"/>
    <p:sldId id="363" r:id="rId74"/>
    <p:sldId id="364" r:id="rId75"/>
    <p:sldId id="373" r:id="rId76"/>
    <p:sldId id="362" r:id="rId77"/>
    <p:sldId id="366" r:id="rId78"/>
    <p:sldId id="367" r:id="rId79"/>
    <p:sldId id="361" r:id="rId80"/>
    <p:sldId id="308" r:id="rId81"/>
    <p:sldId id="309" r:id="rId82"/>
    <p:sldId id="310" r:id="rId83"/>
    <p:sldId id="311" r:id="rId84"/>
    <p:sldId id="312" r:id="rId85"/>
    <p:sldId id="313" r:id="rId86"/>
    <p:sldId id="314" r:id="rId87"/>
    <p:sldId id="315" r:id="rId88"/>
    <p:sldId id="375" r:id="rId89"/>
    <p:sldId id="316" r:id="rId90"/>
    <p:sldId id="368" r:id="rId91"/>
    <p:sldId id="317" r:id="rId92"/>
    <p:sldId id="318" r:id="rId93"/>
    <p:sldId id="319" r:id="rId94"/>
    <p:sldId id="320" r:id="rId95"/>
    <p:sldId id="321" r:id="rId96"/>
    <p:sldId id="374" r:id="rId97"/>
    <p:sldId id="322" r:id="rId98"/>
    <p:sldId id="323" r:id="rId99"/>
    <p:sldId id="376" r:id="rId100"/>
    <p:sldId id="324" r:id="rId101"/>
    <p:sldId id="325" r:id="rId102"/>
    <p:sldId id="326" r:id="rId103"/>
    <p:sldId id="327" r:id="rId104"/>
    <p:sldId id="328" r:id="rId105"/>
    <p:sldId id="371" r:id="rId106"/>
    <p:sldId id="369" r:id="rId107"/>
    <p:sldId id="380" r:id="rId108"/>
    <p:sldId id="329" r:id="rId109"/>
    <p:sldId id="385" r:id="rId110"/>
    <p:sldId id="382" r:id="rId111"/>
    <p:sldId id="381" r:id="rId112"/>
    <p:sldId id="383" r:id="rId113"/>
    <p:sldId id="384" r:id="rId114"/>
    <p:sldId id="379" r:id="rId115"/>
    <p:sldId id="370" r:id="rId116"/>
    <p:sldId id="330" r:id="rId117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899"/>
    <a:srgbClr val="D2CFB4"/>
    <a:srgbClr val="B8BFFF"/>
    <a:srgbClr val="A4D2B4"/>
    <a:srgbClr val="374556"/>
    <a:srgbClr val="A0B7FF"/>
    <a:srgbClr val="D8C1FF"/>
    <a:srgbClr val="FFA7C0"/>
    <a:srgbClr val="FF6966"/>
    <a:srgbClr val="F0C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39" autoAdjust="0"/>
    <p:restoredTop sz="85390" autoAdjust="0"/>
  </p:normalViewPr>
  <p:slideViewPr>
    <p:cSldViewPr snapToGrid="0">
      <p:cViewPr varScale="1">
        <p:scale>
          <a:sx n="52" d="100"/>
          <a:sy n="52" d="100"/>
        </p:scale>
        <p:origin x="1288" y="19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dirty="0" err="1"/>
              <a:t>sh</a:t>
            </a:r>
            <a:r>
              <a:rPr dirty="0"/>
              <a:t>).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714307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320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rPr dirty="0"/>
              <a:t>We’ll talk about </a:t>
            </a:r>
            <a:r>
              <a:rPr b="1" dirty="0"/>
              <a:t>paths</a:t>
            </a:r>
            <a:r>
              <a:rPr dirty="0"/>
              <a:t> in a bit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  <a:p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is a powerful text stream editor. Can do insertion, deletion, search and replace(substitution).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command in </a:t>
            </a:r>
            <a:r>
              <a:rPr lang="en-GB" dirty="0" err="1"/>
              <a:t>unix</a:t>
            </a:r>
            <a:r>
              <a:rPr lang="en-GB" dirty="0"/>
              <a:t> supports regular expression which allows it perform complex pattern matching.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2400" dirty="0" err="1"/>
              <a:t>Use</a:t>
            </a:r>
            <a:r>
              <a:rPr lang="da-DK" sz="2400" dirty="0"/>
              <a:t> -x </a:t>
            </a:r>
            <a:r>
              <a:rPr lang="da-DK" sz="2400" dirty="0" err="1"/>
              <a:t>when</a:t>
            </a:r>
            <a:r>
              <a:rPr lang="da-DK" sz="2400" dirty="0"/>
              <a:t> </a:t>
            </a:r>
            <a:r>
              <a:rPr lang="da-DK" sz="2400" dirty="0" err="1"/>
              <a:t>you</a:t>
            </a:r>
            <a:r>
              <a:rPr lang="da-DK" sz="2400" dirty="0"/>
              <a:t> </a:t>
            </a:r>
            <a:r>
              <a:rPr lang="da-DK" sz="2400" dirty="0" err="1"/>
              <a:t>execute</a:t>
            </a:r>
            <a:r>
              <a:rPr lang="da-DK" sz="2400" dirty="0"/>
              <a:t> the script to show the </a:t>
            </a:r>
            <a:r>
              <a:rPr lang="da-DK" sz="2400" dirty="0" err="1"/>
              <a:t>commands</a:t>
            </a:r>
            <a:r>
              <a:rPr lang="da-DK" sz="2400" dirty="0"/>
              <a:t> and progression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8532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9EF26-6B88-7502-0D0A-104897588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32A916-6C26-62D9-F66B-89B44ED47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C31B-1906-BE74-3097-0A4CA4FB1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41987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57F07-AE55-8546-F5D3-A60A4AD2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0FD26-833C-B894-01F3-41D73D0C0F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55A649-69B5-1D3C-D0FF-532A4DF09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859958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A54C5-A9BC-3A30-DDF4-3F4F6E360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83AB7-2852-3958-ED58-E614DF257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C02E49-392E-06D8-229F-B6C5E4F00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 scheduler:</a:t>
            </a:r>
          </a:p>
          <a:p>
            <a:pPr marL="342900" indent="-342900">
              <a:buFontTx/>
              <a:buChar char="-"/>
            </a:pPr>
            <a:r>
              <a:rPr lang="en-GB" dirty="0"/>
              <a:t>Commands spend time waiting for resources to become free but don’t release the ones they are currently using</a:t>
            </a:r>
          </a:p>
          <a:p>
            <a:pPr marL="342900" indent="-342900">
              <a:buFontTx/>
              <a:buChar char="-"/>
            </a:pPr>
            <a:r>
              <a:rPr lang="en-GB" dirty="0"/>
              <a:t>No load scheduling = the server is a nightmare from 8 to 17 and completely empty at other times </a:t>
            </a:r>
          </a:p>
        </p:txBody>
      </p:sp>
    </p:spTree>
    <p:extLst>
      <p:ext uri="{BB962C8B-B14F-4D97-AF65-F5344CB8AC3E}">
        <p14:creationId xmlns:p14="http://schemas.microsoft.com/office/powerpoint/2010/main" val="1550983073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7C0CC-128F-2918-6E87-9290BD90E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C959A-1A7B-0F02-A295-323186E1D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686A0C-2C71-FFE1-9CD4-7544163AA0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Node == 1 little computer. It has a certain number of CPUs. 1 CPU can run 1 task.</a:t>
            </a:r>
          </a:p>
          <a:p>
            <a:endParaRPr lang="en-US" dirty="0"/>
          </a:p>
          <a:p>
            <a:r>
              <a:rPr lang="en-US" dirty="0"/>
              <a:t>More </a:t>
            </a:r>
            <a:r>
              <a:rPr lang="en-US" dirty="0" err="1"/>
              <a:t>sbatch</a:t>
            </a:r>
            <a:r>
              <a:rPr lang="en-US" dirty="0"/>
              <a:t> options:</a:t>
            </a:r>
          </a:p>
          <a:p>
            <a:r>
              <a:rPr lang="da-DK" dirty="0"/>
              <a:t>#SBATCH --</a:t>
            </a:r>
            <a:r>
              <a:rPr lang="da-DK" dirty="0" err="1"/>
              <a:t>cpus</a:t>
            </a:r>
            <a:r>
              <a:rPr lang="da-DK" dirty="0"/>
              <a:t>-per-task=1</a:t>
            </a:r>
            <a:endParaRPr lang="en-US" dirty="0"/>
          </a:p>
          <a:p>
            <a:r>
              <a:rPr lang="en-US" dirty="0"/>
              <a:t>In this instance, we request one task (process) to be run on one </a:t>
            </a:r>
            <a:r>
              <a:rPr lang="en-US" dirty="0" err="1"/>
              <a:t>cpu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/>
              <a:t>#SBATCH --</a:t>
            </a:r>
            <a:r>
              <a:rPr lang="en-US" sz="2400" dirty="0" err="1"/>
              <a:t>ntasks</a:t>
            </a:r>
            <a:r>
              <a:rPr lang="en-US" sz="2400" dirty="0"/>
              <a:t>-per-node=28</a:t>
            </a:r>
          </a:p>
          <a:p>
            <a:r>
              <a:rPr lang="en-US" dirty="0"/>
              <a:t>Here we ask for 28 tasks to be run on one node (that node should have 28 CPUs to be able to do that since 1 CPU == 1 task) </a:t>
            </a:r>
          </a:p>
          <a:p>
            <a:endParaRPr lang="en-US" dirty="0"/>
          </a:p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/>
              <a:t>#SBATCH --partition short-28core</a:t>
            </a:r>
          </a:p>
          <a:p>
            <a:r>
              <a:rPr lang="en-GB" dirty="0"/>
              <a:t>If there are several partitions, specify on which one you want to run</a:t>
            </a:r>
          </a:p>
        </p:txBody>
      </p:sp>
    </p:spTree>
    <p:extLst>
      <p:ext uri="{BB962C8B-B14F-4D97-AF65-F5344CB8AC3E}">
        <p14:creationId xmlns:p14="http://schemas.microsoft.com/office/powerpoint/2010/main" val="25567935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60E9B-B738-10B8-16D2-504A4693C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468BF5-470A-E397-7792-91045564C4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CC121-B5F9-3BD6-DB37-0FB9873F6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Software can be loaded from different sources </a:t>
            </a:r>
          </a:p>
          <a:p>
            <a:r>
              <a:rPr lang="en-GB" dirty="0"/>
              <a:t>Different options work better depending on the situation and the management of the HPCs, what is allowed </a:t>
            </a:r>
            <a:r>
              <a:rPr lang="en-GB" dirty="0" err="1"/>
              <a:t>ect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6965080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4E3E9-221C-0CF9-79B9-B31056DDD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753DC-2ECE-40F6-18FE-B3F11AA1C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55C58-C844-DAD1-857B-F209743436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submit </a:t>
            </a:r>
            <a:r>
              <a:rPr lang="en-GB" dirty="0" err="1"/>
              <a:t>nextflow</a:t>
            </a:r>
            <a:r>
              <a:rPr lang="en-GB" dirty="0"/>
              <a:t> or </a:t>
            </a:r>
            <a:r>
              <a:rPr lang="en-GB" dirty="0" err="1"/>
              <a:t>snakemake</a:t>
            </a:r>
            <a:r>
              <a:rPr lang="en-GB" dirty="0"/>
              <a:t> pipelines in a </a:t>
            </a:r>
            <a:r>
              <a:rPr lang="en-GB" dirty="0" err="1"/>
              <a:t>slurm</a:t>
            </a:r>
            <a:r>
              <a:rPr lang="en-GB" dirty="0"/>
              <a:t> job</a:t>
            </a:r>
          </a:p>
        </p:txBody>
      </p:sp>
    </p:spTree>
    <p:extLst>
      <p:ext uri="{BB962C8B-B14F-4D97-AF65-F5344CB8AC3E}">
        <p14:creationId xmlns:p14="http://schemas.microsoft.com/office/powerpoint/2010/main" val="296514992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B9BD3-EAFE-6D99-F6F7-97241D112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90AFF2-535E-E2C2-E91D-C08B260E27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560671-7941-CE1F-C16C-4DF5C49ED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40821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0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0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0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0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7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2.wdp"/><Relationship Id="rId4" Type="http://schemas.openxmlformats.org/officeDocument/2006/relationships/image" Target="../media/image63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sv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7.svg"/><Relationship Id="rId5" Type="http://schemas.openxmlformats.org/officeDocument/2006/relationships/image" Target="../media/image66.png"/><Relationship Id="rId10" Type="http://schemas.openxmlformats.org/officeDocument/2006/relationships/image" Target="../media/image71.svg"/><Relationship Id="rId4" Type="http://schemas.openxmlformats.org/officeDocument/2006/relationships/image" Target="../media/image65.svg"/><Relationship Id="rId9" Type="http://schemas.openxmlformats.org/officeDocument/2006/relationships/image" Target="../media/image70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12.sv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73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30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30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jp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78.jp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079414" y="7581625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5334271" y="7598432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405" name="linkedinphotoscaled.jpg" descr="linkedinphotoscaled.jpg"/>
          <p:cNvPicPr>
            <a:picLocks noChangeAspect="1"/>
          </p:cNvPicPr>
          <p:nvPr/>
        </p:nvPicPr>
        <p:blipFill>
          <a:blip r:embed="rId4"/>
          <a:srcRect l="8" r="1" b="176"/>
          <a:stretch>
            <a:fillRect/>
          </a:stretch>
        </p:blipFill>
        <p:spPr>
          <a:xfrm>
            <a:off x="15524626" y="4322229"/>
            <a:ext cx="2414179" cy="29117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417" name="thilde_terkelsen.jpg" descr="thilde_terkelsen.jpg"/>
          <p:cNvPicPr>
            <a:picLocks noChangeAspect="1"/>
          </p:cNvPicPr>
          <p:nvPr/>
        </p:nvPicPr>
        <p:blipFill>
          <a:blip r:embed="rId5"/>
          <a:srcRect l="37683" t="-1" r="17407" b="157"/>
          <a:stretch/>
        </p:blipFill>
        <p:spPr>
          <a:xfrm>
            <a:off x="19241730" y="4322229"/>
            <a:ext cx="2372632" cy="2876578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785530" y="4441519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pic>
        <p:nvPicPr>
          <p:cNvPr id="1026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746F1004-0F90-BA3F-C88C-F1BA693323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brigh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2618"/>
          <a:stretch/>
        </p:blipFill>
        <p:spPr bwMode="auto">
          <a:xfrm>
            <a:off x="15569669" y="8811453"/>
            <a:ext cx="2320199" cy="2910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Henrike Zschach">
            <a:extLst>
              <a:ext uri="{FF2B5EF4-FFF2-40B4-BE49-F238E27FC236}">
                <a16:creationId xmlns:a16="http://schemas.microsoft.com/office/drawing/2014/main" id="{AE482584-EE26-A06D-BF92-D4FADCE3DB95}"/>
              </a:ext>
            </a:extLst>
          </p:cNvPr>
          <p:cNvSpPr txBox="1"/>
          <p:nvPr/>
        </p:nvSpPr>
        <p:spPr>
          <a:xfrm>
            <a:off x="15354767" y="12056682"/>
            <a:ext cx="2803653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Helene Wegener</a:t>
            </a:r>
            <a:endParaRPr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065F6A-C07C-11AD-E330-E08A7B072437}"/>
              </a:ext>
            </a:extLst>
          </p:cNvPr>
          <p:cNvSpPr/>
          <p:nvPr/>
        </p:nvSpPr>
        <p:spPr>
          <a:xfrm>
            <a:off x="15354767" y="417984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399706-4F22-B8A1-02D2-79F791002C06}"/>
              </a:ext>
            </a:extLst>
          </p:cNvPr>
          <p:cNvSpPr/>
          <p:nvPr/>
        </p:nvSpPr>
        <p:spPr>
          <a:xfrm>
            <a:off x="19036875" y="4165556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10D55-FD24-03C8-6853-E67A01E2870B}"/>
              </a:ext>
            </a:extLst>
          </p:cNvPr>
          <p:cNvSpPr/>
          <p:nvPr/>
        </p:nvSpPr>
        <p:spPr>
          <a:xfrm>
            <a:off x="15354767" y="865435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401015"/>
              </p:ext>
            </p:extLst>
          </p:nvPr>
        </p:nvGraphicFramePr>
        <p:xfrm>
          <a:off x="1090815" y="3893697"/>
          <a:ext cx="9363158" cy="946601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44907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</a:p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09:55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</a:p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endParaRPr kumimoji="0" lang="da-DK" sz="2000" b="1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4577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10:50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11:10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38822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</a:p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13:55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14:24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086742"/>
              </p:ext>
            </p:extLst>
          </p:nvPr>
        </p:nvGraphicFramePr>
        <p:xfrm>
          <a:off x="12252368" y="3893697"/>
          <a:ext cx="7706909" cy="73472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08:30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 + Q&amp;A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 &amp; CONFIG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13:50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10: COMPUTING ON HPCs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i="0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Helvetica"/>
                          <a:cs typeface="Helvetica"/>
                          <a:sym typeface="Helvetica"/>
                        </a:rPr>
                        <a:t>COFFEE 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289674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2896744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8" y="9749761"/>
            <a:ext cx="19993087" cy="2635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Some scientific software do not have GUIs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45DB9084-D3F6-86CE-AE4D-A7052FC372E0}"/>
              </a:ext>
            </a:extLst>
          </p:cNvPr>
          <p:cNvSpPr txBox="1">
            <a:spLocks/>
          </p:cNvSpPr>
          <p:nvPr/>
        </p:nvSpPr>
        <p:spPr>
          <a:xfrm>
            <a:off x="23627966" y="12949908"/>
            <a:ext cx="327295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9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14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9100194" y="1001526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 TREE</a:t>
            </a:r>
            <a:endParaRPr dirty="0"/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2030843" cy="43526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data is stored inside the file tree.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Branching and hierarchical structure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topmost place is called the </a:t>
            </a:r>
            <a:r>
              <a:rPr lang="en-US" sz="3000" b="1" dirty="0"/>
              <a:t>'root</a:t>
            </a:r>
            <a:r>
              <a:rPr lang="en-US" sz="3000" dirty="0"/>
              <a:t>’ - written as '/'.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CustomShape 17">
            <a:extLst>
              <a:ext uri="{FF2B5EF4-FFF2-40B4-BE49-F238E27FC236}">
                <a16:creationId xmlns:a16="http://schemas.microsoft.com/office/drawing/2014/main" id="{75674A59-0FE7-F8A2-0AA3-40101ADEA069}"/>
              </a:ext>
            </a:extLst>
          </p:cNvPr>
          <p:cNvSpPr/>
          <p:nvPr/>
        </p:nvSpPr>
        <p:spPr>
          <a:xfrm>
            <a:off x="17777239" y="4815083"/>
            <a:ext cx="634604" cy="629335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Picture 26">
            <a:extLst>
              <a:ext uri="{FF2B5EF4-FFF2-40B4-BE49-F238E27FC236}">
                <a16:creationId xmlns:a16="http://schemas.microsoft.com/office/drawing/2014/main" id="{2F811757-CD61-C28A-8ECA-B4214CCF7C12}"/>
              </a:ext>
            </a:extLst>
          </p:cNvPr>
          <p:cNvGrpSpPr/>
          <p:nvPr/>
        </p:nvGrpSpPr>
        <p:grpSpPr>
          <a:xfrm>
            <a:off x="19704601" y="6126894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986D609-A13C-C846-EFAC-682832382CB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9D2505-7E0D-D2C9-729C-530018FE39F3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5A0BEF3-FFCB-27C5-0C74-667BD8F181E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1" name="TextBox 14">
            <a:extLst>
              <a:ext uri="{FF2B5EF4-FFF2-40B4-BE49-F238E27FC236}">
                <a16:creationId xmlns:a16="http://schemas.microsoft.com/office/drawing/2014/main" id="{7390207E-4F49-254B-C9BF-C22A4BB62E2B}"/>
              </a:ext>
            </a:extLst>
          </p:cNvPr>
          <p:cNvSpPr txBox="1"/>
          <p:nvPr/>
        </p:nvSpPr>
        <p:spPr>
          <a:xfrm>
            <a:off x="19190473" y="708570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98412CF7-E908-63C4-6463-23755FFF7C20}"/>
              </a:ext>
            </a:extLst>
          </p:cNvPr>
          <p:cNvSpPr/>
          <p:nvPr/>
        </p:nvSpPr>
        <p:spPr>
          <a:xfrm flipV="1">
            <a:off x="18117819" y="5798138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5" name="AutoShape 39">
            <a:extLst>
              <a:ext uri="{FF2B5EF4-FFF2-40B4-BE49-F238E27FC236}">
                <a16:creationId xmlns:a16="http://schemas.microsoft.com/office/drawing/2014/main" id="{00267E17-7F68-C7E8-50FD-293556B37F6B}"/>
              </a:ext>
            </a:extLst>
          </p:cNvPr>
          <p:cNvSpPr/>
          <p:nvPr/>
        </p:nvSpPr>
        <p:spPr>
          <a:xfrm rot="16200000">
            <a:off x="19954056" y="592780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F1043A-2E21-6921-59F2-38474A9FE762}"/>
              </a:ext>
            </a:extLst>
          </p:cNvPr>
          <p:cNvSpPr txBox="1"/>
          <p:nvPr/>
        </p:nvSpPr>
        <p:spPr>
          <a:xfrm>
            <a:off x="2128883" y="8173317"/>
            <a:ext cx="12184380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slides corresponds to what you have in ‘Files’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i="1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CustomShape 13"/>
          <p:cNvSpPr txBox="1"/>
          <p:nvPr/>
        </p:nvSpPr>
        <p:spPr>
          <a:xfrm>
            <a:off x="2084183" y="3718025"/>
            <a:ext cx="14324097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Each file and directory exist in one specific place on the file tree.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One could say they have an 'address' which is called their path.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16</a:t>
            </a:r>
            <a:endParaRPr dirty="0"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Henrike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28981B4C-324F-B930-5B71-91EE294D69A3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DD396-6D62-F80F-19F7-055341FC559C}"/>
              </a:ext>
            </a:extLst>
          </p:cNvPr>
          <p:cNvGrpSpPr/>
          <p:nvPr/>
        </p:nvGrpSpPr>
        <p:grpSpPr>
          <a:xfrm>
            <a:off x="2084183" y="7892598"/>
            <a:ext cx="10761319" cy="831004"/>
            <a:chOff x="1971339" y="10894726"/>
            <a:chExt cx="10761319" cy="831004"/>
          </a:xfrm>
        </p:grpSpPr>
        <p:sp>
          <p:nvSpPr>
            <p:cNvPr id="795" name="Rounded Rectangle"/>
            <p:cNvSpPr/>
            <p:nvPr/>
          </p:nvSpPr>
          <p:spPr>
            <a:xfrm>
              <a:off x="1971339" y="10894726"/>
              <a:ext cx="10382519" cy="831004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 defTabSz="1828431"/>
              <a:endParaRPr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CE0A55-7028-30CC-D16C-DB93E562E8B0}"/>
                </a:ext>
              </a:extLst>
            </p:cNvPr>
            <p:cNvSpPr txBox="1"/>
            <p:nvPr/>
          </p:nvSpPr>
          <p:spPr>
            <a:xfrm>
              <a:off x="2429072" y="10968271"/>
              <a:ext cx="10303586" cy="634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/Users/Henrike/Documents </a:t>
              </a:r>
              <a:endParaRPr lang="en-US" sz="3000" dirty="0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3550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12772" y="3703347"/>
            <a:ext cx="13530672" cy="49191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the working directory and you can print it with: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17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0AC00B06-0EDF-EB15-DD92-170739C6C0B2}"/>
              </a:ext>
            </a:extLst>
          </p:cNvPr>
          <p:cNvSpPr/>
          <p:nvPr/>
        </p:nvSpPr>
        <p:spPr>
          <a:xfrm>
            <a:off x="2012772" y="9312212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B0EC8-2FC9-79D8-3466-A488AAB9ECA4}"/>
              </a:ext>
            </a:extLst>
          </p:cNvPr>
          <p:cNvSpPr txBox="1"/>
          <p:nvPr/>
        </p:nvSpPr>
        <p:spPr>
          <a:xfrm>
            <a:off x="2274799" y="9446514"/>
            <a:ext cx="10303586" cy="6347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/Users/Henrike</a:t>
            </a:r>
            <a:endParaRPr lang="en-US" sz="3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0" y="3919927"/>
            <a:ext cx="13389843" cy="65070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your </a:t>
            </a:r>
            <a:r>
              <a:rPr lang="en-US" sz="3000" b="1" dirty="0"/>
              <a:t>user name </a:t>
            </a:r>
            <a:r>
              <a:rPr lang="en-US" sz="3000" dirty="0"/>
              <a:t>and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18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869404731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85401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3853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112886" y="3289076"/>
            <a:ext cx="1314351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Full paths start at the </a:t>
            </a:r>
            <a:r>
              <a:rPr lang="en-US" sz="3000" b="1" dirty="0"/>
              <a:t>root</a:t>
            </a:r>
            <a:r>
              <a:rPr lang="en-US" sz="3000" dirty="0"/>
              <a:t>. They are unambiguous because they describe the entire 'journey' starting from the root.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Remember, </a:t>
            </a:r>
            <a:r>
              <a:rPr sz="3000" dirty="0"/>
              <a:t>~ represent</a:t>
            </a:r>
            <a:r>
              <a:rPr lang="en-US" sz="3000" dirty="0"/>
              <a:t>s</a:t>
            </a:r>
            <a:r>
              <a:rPr sz="3000" dirty="0"/>
              <a:t> the path to your home directory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</a:t>
            </a:r>
            <a:r>
              <a:rPr sz="3000" dirty="0"/>
              <a:t>re the same place and the same path</a:t>
            </a:r>
            <a:r>
              <a:rPr lang="en-US" sz="3000" dirty="0"/>
              <a:t> and are </a:t>
            </a:r>
            <a:r>
              <a:rPr lang="en-US" sz="3000" b="1" dirty="0"/>
              <a:t>both</a:t>
            </a:r>
            <a:r>
              <a:rPr lang="en-US" sz="3000" dirty="0"/>
              <a:t>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Any path starting with '/' or '~' is a full path.</a:t>
            </a: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9810438" y="1016000"/>
            <a:ext cx="505522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FULL </a:t>
            </a:r>
            <a:r>
              <a:rPr dirty="0"/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  <p:extLst>
      <p:ext uri="{BB962C8B-B14F-4D97-AF65-F5344CB8AC3E}">
        <p14:creationId xmlns:p14="http://schemas.microsoft.com/office/powerpoint/2010/main" val="4226231740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9406726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895593" y="7893271"/>
            <a:ext cx="12020062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395809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91055" y="4357850"/>
            <a:ext cx="13585160" cy="27646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</a:t>
            </a:r>
            <a:r>
              <a:rPr lang="en-US" sz="3000" dirty="0"/>
              <a:t>d</a:t>
            </a:r>
            <a:r>
              <a:rPr sz="3000" dirty="0"/>
              <a:t>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in </a:t>
            </a:r>
            <a:r>
              <a:rPr sz="3000" dirty="0"/>
              <a:t>‘Documents’, I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C</a:t>
            </a:r>
            <a:r>
              <a:rPr sz="3000" dirty="0"/>
              <a:t>ourses/Just-Bash-It/Commandline.ppt</a:t>
            </a: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8829402" y="1016000"/>
            <a:ext cx="701730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RELATIVE </a:t>
            </a:r>
            <a:r>
              <a:rPr dirty="0"/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21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655634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9614369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25386" y="10057107"/>
            <a:ext cx="430716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248173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100571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270478"/>
            <a:ext cx="11681264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Example on the right will give you the Data,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</a:t>
            </a:r>
            <a:r>
              <a:rPr sz="3000" dirty="0"/>
              <a:t>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~/Data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1052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2748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lang="en-US" sz="3000" dirty="0"/>
              <a:t>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</a:t>
            </a:r>
            <a:r>
              <a:rPr lang="en-US" dirty="0"/>
              <a:t>C</a:t>
            </a:r>
            <a:r>
              <a:rPr dirty="0"/>
              <a:t>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2133234" y="11582881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330999"/>
            <a:ext cx="15596767" cy="4525650"/>
            <a:chOff x="5016261" y="6831379"/>
            <a:chExt cx="15596767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6284734" cy="113250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$ ls  –</a:t>
              </a:r>
              <a:r>
                <a:rPr dirty="0" err="1"/>
                <a:t>lh</a:t>
              </a:r>
              <a:r>
                <a:rPr dirty="0"/>
                <a:t>  ~/Documents/</a:t>
              </a:r>
              <a:r>
                <a:rPr lang="en-US" dirty="0"/>
                <a:t>C</a:t>
              </a:r>
              <a:r>
                <a:rPr dirty="0"/>
                <a:t>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25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584653"/>
            <a:ext cx="21308577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</a:t>
            </a:r>
            <a:r>
              <a:rPr lang="en-US" sz="3000" dirty="0">
                <a:cs typeface="Courier New" panose="02070309020205020404" pitchFamily="49" charset="0"/>
              </a:rPr>
              <a:t>C</a:t>
            </a:r>
            <a:r>
              <a:rPr sz="3000" dirty="0">
                <a:cs typeface="Courier New" panose="02070309020205020404" pitchFamily="49" charset="0"/>
              </a:rPr>
              <a:t>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87437" y="1081133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rPr dirty="0"/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29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1108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0709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38326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Go </a:t>
            </a:r>
            <a:r>
              <a:rPr sz="3000" dirty="0"/>
              <a:t>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(directories) with </a:t>
            </a:r>
            <a:r>
              <a:rPr sz="3000" b="1" dirty="0"/>
              <a:t>mv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</a:t>
            </a:r>
            <a:r>
              <a:rPr lang="en-US" sz="3000" dirty="0"/>
              <a:t>copied</a:t>
            </a:r>
            <a:r>
              <a:rPr sz="3000" dirty="0"/>
              <a:t>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First argument is the file and 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33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542830" y="9477569"/>
            <a:ext cx="11867435" cy="3297658"/>
            <a:chOff x="2481303" y="9937508"/>
            <a:chExt cx="10370883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481303" y="12039958"/>
              <a:ext cx="10370883" cy="792956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6E12596-4DDE-64F0-3191-75AF4CE15ED8}"/>
              </a:ext>
            </a:extLst>
          </p:cNvPr>
          <p:cNvGrpSpPr/>
          <p:nvPr/>
        </p:nvGrpSpPr>
        <p:grpSpPr>
          <a:xfrm>
            <a:off x="20055309" y="7064187"/>
            <a:ext cx="2681760" cy="1770137"/>
            <a:chOff x="20055309" y="7064187"/>
            <a:chExt cx="2681760" cy="1770137"/>
          </a:xfrm>
        </p:grpSpPr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B6CB0FED-1EBC-F7FF-FC6D-03EF021622F3}"/>
                </a:ext>
              </a:extLst>
            </p:cNvPr>
            <p:cNvSpPr txBox="1"/>
            <p:nvPr/>
          </p:nvSpPr>
          <p:spPr>
            <a:xfrm>
              <a:off x="20055309" y="8357655"/>
              <a:ext cx="2681760" cy="476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3000" dirty="0">
                <a:solidFill>
                  <a:srgbClr val="FFFFFF"/>
                </a:solidFill>
                <a:latin typeface="HK Grotesk Medium"/>
              </a:endParaRPr>
            </a:p>
          </p:txBody>
        </p:sp>
        <p:grpSp>
          <p:nvGrpSpPr>
            <p:cNvPr id="41" name="Picture 22">
              <a:extLst>
                <a:ext uri="{FF2B5EF4-FFF2-40B4-BE49-F238E27FC236}">
                  <a16:creationId xmlns:a16="http://schemas.microsoft.com/office/drawing/2014/main" id="{ED87F137-279D-5E0C-5690-FE9754C19C1B}"/>
                </a:ext>
              </a:extLst>
            </p:cNvPr>
            <p:cNvGrpSpPr/>
            <p:nvPr/>
          </p:nvGrpSpPr>
          <p:grpSpPr>
            <a:xfrm>
              <a:off x="20700857" y="7064187"/>
              <a:ext cx="1376635" cy="10633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E485B15-35C5-D84C-F4BA-D0F9DADD7670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2C9D3C06-9E53-3576-14B2-289C798E55D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DD0E4C8-1CB3-DCDD-54A2-BD193926190C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</p:grp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2965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34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</a:t>
            </a:r>
            <a:r>
              <a:rPr lang="en-US" sz="3000" dirty="0" err="1"/>
              <a:t>recipes_copy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496874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399698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828782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Many ways to create files, mostly as output from programs, but you can always create an empty with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8142238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7064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422869" y="93593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566414" y="4623611"/>
            <a:ext cx="9712800" cy="7064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If we only want to see files with names ending in .</a:t>
            </a:r>
            <a:r>
              <a:rPr lang="en-US" sz="3000" i="1" dirty="0"/>
              <a:t>md</a:t>
            </a:r>
            <a:r>
              <a:rPr lang="en-US" sz="3000" dirty="0"/>
              <a:t> we can specify that: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38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39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40</a:t>
            </a:r>
            <a:endParaRPr dirty="0"/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7002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948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586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179726" y="9077486"/>
            <a:ext cx="1829376" cy="502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lang="en-US" dirty="0" err="1"/>
              <a:t>Proj</a:t>
            </a:r>
            <a:r>
              <a:rPr lang="en-US" dirty="0"/>
              <a:t>. </a:t>
            </a:r>
            <a:r>
              <a:rPr dirty="0"/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3061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8108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6734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43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934246" y="5982718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878135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rPr sz="3200" dirty="0"/>
              <a:t>git</a:t>
            </a:r>
            <a:r>
              <a:rPr sz="3200" b="0" dirty="0"/>
              <a:t> &amp; </a:t>
            </a:r>
            <a:r>
              <a:rPr sz="3200" dirty="0"/>
              <a:t>GitHub</a:t>
            </a:r>
            <a:r>
              <a:rPr sz="3200" b="0" dirty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122980" y="6867916"/>
            <a:ext cx="370948" cy="805614"/>
            <a:chOff x="0" y="-1"/>
            <a:chExt cx="370947" cy="805613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0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 dirty="0"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757904" y="6867918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285434" y="9552040"/>
            <a:ext cx="0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285434" y="8326854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096170" y="5096083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116375" y="6317993"/>
            <a:ext cx="0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46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19944241" y="8385915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19944241" y="9558224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47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6494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48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48</a:t>
            </a:r>
          </a:p>
        </p:txBody>
      </p:sp>
      <p:sp>
        <p:nvSpPr>
          <p:cNvPr id="3" name="SCRATCH">
            <a:extLst>
              <a:ext uri="{FF2B5EF4-FFF2-40B4-BE49-F238E27FC236}">
                <a16:creationId xmlns:a16="http://schemas.microsoft.com/office/drawing/2014/main" id="{B1957BA3-1737-BAA4-44DB-CD6F2FF40C37}"/>
              </a:ext>
            </a:extLst>
          </p:cNvPr>
          <p:cNvSpPr txBox="1"/>
          <p:nvPr/>
        </p:nvSpPr>
        <p:spPr>
          <a:xfrm>
            <a:off x="11179726" y="9077486"/>
            <a:ext cx="1829376" cy="502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lang="en-US" dirty="0" err="1"/>
              <a:t>Proj</a:t>
            </a:r>
            <a:r>
              <a:rPr lang="en-US" dirty="0"/>
              <a:t>. </a:t>
            </a:r>
            <a:r>
              <a:rPr dirty="0"/>
              <a:t>Name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history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51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53</a:t>
            </a:r>
            <a:endParaRPr dirty="0"/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lang="en-US" sz="3000" dirty="0"/>
              <a:t>Interrupt</a:t>
            </a:r>
            <a:r>
              <a:rPr sz="3000" dirty="0"/>
              <a:t>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54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7" y="2894073"/>
            <a:ext cx="7018710" cy="9452254"/>
            <a:chOff x="-2" y="-1"/>
            <a:chExt cx="7018709" cy="9452252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601836" y="1504942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838803" y="2583406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95127" y="379337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75210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89042" y="81859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54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2425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5494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49530" y="2922719"/>
            <a:ext cx="2841631" cy="2841629"/>
            <a:chOff x="-2" y="-2"/>
            <a:chExt cx="2841630" cy="2841628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84862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tail</a:t>
              </a:r>
            </a:p>
          </p:txBody>
        </p:sp>
      </p:grpSp>
      <p:graphicFrame>
        <p:nvGraphicFramePr>
          <p:cNvPr id="1443" name="Table 1"/>
          <p:cNvGraphicFramePr/>
          <p:nvPr>
            <p:extLst>
              <p:ext uri="{D42A27DB-BD31-4B8C-83A1-F6EECF244321}">
                <p14:modId xmlns:p14="http://schemas.microsoft.com/office/powerpoint/2010/main" val="814095994"/>
              </p:ext>
            </p:extLst>
          </p:nvPr>
        </p:nvGraphicFramePr>
        <p:xfrm>
          <a:off x="5040210" y="70894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49879" y="10787752"/>
            <a:ext cx="2017612" cy="2017611"/>
            <a:chOff x="-1" y="-2"/>
            <a:chExt cx="2017611" cy="2017610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60234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0210" y="10884339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  <a:r>
              <a:rPr lang="en-US" dirty="0"/>
              <a:t> </a:t>
            </a:r>
            <a:r>
              <a:rPr lang="da-DK" dirty="0"/>
              <a:t>&gt; hello.txt</a:t>
            </a:r>
            <a:endParaRPr dirty="0"/>
          </a:p>
        </p:txBody>
      </p:sp>
      <p:sp>
        <p:nvSpPr>
          <p:cNvPr id="1451" name="TextBox 90"/>
          <p:cNvSpPr txBox="1"/>
          <p:nvPr/>
        </p:nvSpPr>
        <p:spPr>
          <a:xfrm>
            <a:off x="5147452" y="342288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tail</a:t>
            </a:r>
            <a:r>
              <a:rPr dirty="0"/>
              <a:t> -n 20 myfile.txt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8948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10194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  <p:sp>
        <p:nvSpPr>
          <p:cNvPr id="2" name="TextBox 90">
            <a:extLst>
              <a:ext uri="{FF2B5EF4-FFF2-40B4-BE49-F238E27FC236}">
                <a16:creationId xmlns:a16="http://schemas.microsoft.com/office/drawing/2014/main" id="{CF30E6FA-6365-0908-48AC-81D3ED13BFB5}"/>
              </a:ext>
            </a:extLst>
          </p:cNvPr>
          <p:cNvSpPr txBox="1"/>
          <p:nvPr/>
        </p:nvSpPr>
        <p:spPr>
          <a:xfrm>
            <a:off x="5040209" y="11501325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‘</a:t>
            </a:r>
            <a:r>
              <a:rPr lang="en-US" dirty="0"/>
              <a:t>More text</a:t>
            </a:r>
            <a:r>
              <a:rPr dirty="0"/>
              <a:t>’</a:t>
            </a:r>
            <a:r>
              <a:rPr lang="en-US" dirty="0"/>
              <a:t> </a:t>
            </a:r>
            <a:r>
              <a:rPr lang="da-DK" dirty="0"/>
              <a:t>&gt;&gt; hello.txt</a:t>
            </a:r>
            <a:endParaRPr dirty="0"/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/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03066"/>
            <a:ext cx="9115885" cy="1077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200" dirty="0"/>
              <a:t>Compresses a file with standard </a:t>
            </a:r>
            <a:r>
              <a:rPr sz="3200" dirty="0" err="1"/>
              <a:t>gzip</a:t>
            </a:r>
            <a:r>
              <a:rPr sz="32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190583"/>
            <a:ext cx="7629977" cy="1077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2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2057103" y="6879531"/>
            <a:ext cx="1303310" cy="830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sz="4800" dirty="0"/>
              <a:t>.</a:t>
            </a:r>
            <a:r>
              <a:rPr lang="en-US" sz="4800" dirty="0"/>
              <a:t>tar</a:t>
            </a:r>
            <a:endParaRPr sz="4800" dirty="0"/>
          </a:p>
        </p:txBody>
      </p:sp>
      <p:sp>
        <p:nvSpPr>
          <p:cNvPr id="1517" name=".GZ"/>
          <p:cNvSpPr txBox="1"/>
          <p:nvPr/>
        </p:nvSpPr>
        <p:spPr>
          <a:xfrm>
            <a:off x="2057102" y="4616988"/>
            <a:ext cx="1303311" cy="830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sz="4800" dirty="0"/>
              <a:t>.</a:t>
            </a:r>
            <a:r>
              <a:rPr lang="en-US" sz="4800" dirty="0" err="1"/>
              <a:t>gz</a:t>
            </a:r>
            <a:endParaRPr sz="4800" dirty="0"/>
          </a:p>
        </p:txBody>
      </p:sp>
      <p:sp>
        <p:nvSpPr>
          <p:cNvPr id="1518" name=".TAR.GZ"/>
          <p:cNvSpPr txBox="1"/>
          <p:nvPr/>
        </p:nvSpPr>
        <p:spPr>
          <a:xfrm>
            <a:off x="937877" y="9091626"/>
            <a:ext cx="3541762" cy="830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sz="4800" dirty="0"/>
              <a:t>.</a:t>
            </a:r>
            <a:r>
              <a:rPr lang="en-US" sz="4800" dirty="0" err="1"/>
              <a:t>tar</a:t>
            </a:r>
            <a:r>
              <a:rPr sz="4800" dirty="0" err="1"/>
              <a:t>.</a:t>
            </a:r>
            <a:r>
              <a:rPr lang="en-US" sz="4800" dirty="0" err="1"/>
              <a:t>gz</a:t>
            </a:r>
            <a:r>
              <a:rPr lang="en-US" sz="4800" dirty="0"/>
              <a:t> (</a:t>
            </a:r>
            <a:r>
              <a:rPr lang="da-DK" sz="4800" dirty="0"/>
              <a:t>.</a:t>
            </a:r>
            <a:r>
              <a:rPr lang="da-DK" sz="4800" dirty="0" err="1"/>
              <a:t>tgz</a:t>
            </a:r>
            <a:r>
              <a:rPr lang="da-DK" sz="4800" dirty="0"/>
              <a:t>)</a:t>
            </a:r>
            <a:endParaRPr sz="4800" dirty="0"/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8989915"/>
            <a:ext cx="9273432" cy="1077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200" dirty="0" err="1"/>
              <a:t>gzip</a:t>
            </a:r>
            <a:r>
              <a:rPr sz="3200" dirty="0"/>
              <a:t> and tar </a:t>
            </a:r>
            <a:r>
              <a:rPr sz="32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200" dirty="0"/>
              <a:t>Compresses multiple files and puts them into one, single file </a:t>
            </a:r>
            <a:r>
              <a:rPr sz="3200" dirty="0"/>
              <a:t>archive</a:t>
            </a:r>
            <a:r>
              <a:rPr lang="en-US" sz="3200" dirty="0"/>
              <a:t>.</a:t>
            </a:r>
            <a:endParaRPr sz="32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The only thing between you and lunch is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60</a:t>
            </a:fld>
            <a:endParaRPr dirty="0"/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748E786A-5421-BC4B-8650-C624C03CD0B6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chemeClr val="bg1"/>
                </a:solidFill>
              </a:rPr>
              <a:pPr/>
              <a:t>61</a:t>
            </a:fld>
            <a:endParaRPr lang="da-DK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8982946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6467736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8002385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6940937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6793927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6725037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6705987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6704199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6664443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3169589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8000960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8025397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8023973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9259873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5302119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5300695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5288799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5287375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2976969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8026821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8025397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5289511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5288087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9259873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3103812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search pattern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6FE644-1AE2-5BEC-26F8-BAE5E4162062}"/>
              </a:ext>
            </a:extLst>
          </p:cNvPr>
          <p:cNvGrpSpPr/>
          <p:nvPr/>
        </p:nvGrpSpPr>
        <p:grpSpPr>
          <a:xfrm>
            <a:off x="15535462" y="11333150"/>
            <a:ext cx="7585252" cy="1486131"/>
            <a:chOff x="15535462" y="11333150"/>
            <a:chExt cx="7585252" cy="1486131"/>
          </a:xfrm>
        </p:grpSpPr>
        <p:sp>
          <p:nvSpPr>
            <p:cNvPr id="2" name="Rectangle">
              <a:extLst>
                <a:ext uri="{FF2B5EF4-FFF2-40B4-BE49-F238E27FC236}">
                  <a16:creationId xmlns:a16="http://schemas.microsoft.com/office/drawing/2014/main" id="{DEB6F038-7776-027D-5639-8F3958CDA6AC}"/>
                </a:ext>
              </a:extLst>
            </p:cNvPr>
            <p:cNvSpPr/>
            <p:nvPr/>
          </p:nvSpPr>
          <p:spPr>
            <a:xfrm>
              <a:off x="15535462" y="11333150"/>
              <a:ext cx="7337563" cy="1486131"/>
            </a:xfrm>
            <a:prstGeom prst="round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" name="&gt; = Redirect - Save output to new file.…">
              <a:extLst>
                <a:ext uri="{FF2B5EF4-FFF2-40B4-BE49-F238E27FC236}">
                  <a16:creationId xmlns:a16="http://schemas.microsoft.com/office/drawing/2014/main" id="{599AA3B3-566B-CD99-2110-1A9BA6D2DC4C}"/>
                </a:ext>
              </a:extLst>
            </p:cNvPr>
            <p:cNvSpPr txBox="1"/>
            <p:nvPr/>
          </p:nvSpPr>
          <p:spPr>
            <a:xfrm>
              <a:off x="15783151" y="11464760"/>
              <a:ext cx="7337563" cy="11272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>
              <a:spAutoFit/>
            </a:bodyPr>
            <a:lstStyle/>
            <a:p>
              <a:pPr>
                <a:lnSpc>
                  <a:spcPts val="4200"/>
                </a:lnSpc>
                <a:defRPr sz="3000" spc="321">
                  <a:solidFill>
                    <a:srgbClr val="3F4756"/>
                  </a:solidFill>
                </a:defRPr>
              </a:pPr>
              <a:r>
                <a:rPr lang="en-US" sz="2400" dirty="0"/>
                <a:t>Handy trick to show hidden characters!</a:t>
              </a:r>
              <a:endParaRPr lang="en-US" sz="2400" b="1" spc="385" dirty="0">
                <a:solidFill>
                  <a:srgbClr val="374556"/>
                </a:solidFill>
                <a:latin typeface="Courier New"/>
                <a:cs typeface="Courier New"/>
                <a:sym typeface="Courier New"/>
              </a:endParaRPr>
            </a:p>
            <a:p>
              <a:pPr>
                <a:lnSpc>
                  <a:spcPts val="4200"/>
                </a:lnSpc>
                <a:defRPr sz="3000" spc="321">
                  <a:solidFill>
                    <a:srgbClr val="3F4756"/>
                  </a:solidFill>
                </a:defRPr>
              </a:pPr>
              <a:r>
                <a:rPr lang="en-US" sz="2400" b="1" spc="385" dirty="0">
                  <a:solidFill>
                    <a:srgbClr val="374556"/>
                  </a:solidFill>
                  <a:latin typeface="Courier New"/>
                  <a:cs typeface="Courier New"/>
                  <a:sym typeface="Courier New"/>
                </a:rPr>
                <a:t>cat –</a:t>
              </a:r>
              <a:r>
                <a:rPr lang="en-US" sz="2400" b="1" spc="385" dirty="0" err="1">
                  <a:solidFill>
                    <a:srgbClr val="374556"/>
                  </a:solidFill>
                  <a:latin typeface="Courier New"/>
                  <a:cs typeface="Courier New"/>
                  <a:sym typeface="Courier New"/>
                </a:rPr>
                <a:t>tve</a:t>
              </a:r>
              <a:r>
                <a:rPr lang="en-US" sz="2400" b="1" spc="385" dirty="0">
                  <a:solidFill>
                    <a:srgbClr val="374556"/>
                  </a:solidFill>
                  <a:latin typeface="Courier New"/>
                  <a:cs typeface="Courier New"/>
                  <a:sym typeface="Courier New"/>
                </a:rPr>
                <a:t> [file]</a:t>
              </a:r>
            </a:p>
          </p:txBody>
        </p:sp>
      </p:grp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64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66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446381" y="1021119"/>
            <a:ext cx="1132617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STREAM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68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Regular expression (</a:t>
            </a:r>
            <a:r>
              <a:rPr b="1" dirty="0" err="1"/>
              <a:t>RegEx</a:t>
            </a:r>
            <a:r>
              <a:rPr b="1" dirty="0"/>
              <a:t>)</a:t>
            </a:r>
            <a:r>
              <a:rPr dirty="0"/>
              <a:t> = sequence of characters that specify a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70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5</a:t>
            </a:r>
            <a:r>
              <a:rPr lang="en-US" dirty="0"/>
              <a:t>, ready to wrangle!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72</a:t>
            </a:fld>
            <a:endParaRPr/>
          </a:p>
        </p:txBody>
      </p:sp>
    </p:spTree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74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75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78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5043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78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249668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Yes</a:t>
              </a:r>
              <a:r>
                <a:rPr lang="en-US" sz="26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77072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And I love pretty (useless) things</a:t>
              </a:r>
              <a:endParaRPr sz="26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733839" y="9249668"/>
              <a:ext cx="3026321" cy="11975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Nah,</a:t>
              </a:r>
              <a:r>
                <a:rPr lang="en-US" sz="26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I’m good…</a:t>
              </a:r>
              <a:endParaRPr sz="26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975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I work in science</a:t>
              </a:r>
              <a:endParaRPr sz="26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7925478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39116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1452734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887820" y="4297540"/>
            <a:ext cx="9598731" cy="768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lang="en-US" sz="3000" dirty="0"/>
          </a:p>
          <a:p>
            <a:pPr marL="1143000" lvl="3">
              <a:spcBef>
                <a:spcPts val="1100"/>
              </a:spcBef>
              <a:buSzPct val="100000"/>
              <a:defRPr sz="2800" spc="296">
                <a:solidFill>
                  <a:srgbClr val="3F4756"/>
                </a:solidFill>
              </a:defRPr>
            </a:pP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lang="en-US" sz="3000" dirty="0"/>
          </a:p>
          <a:p>
            <a:pPr marL="1143000" lvl="3">
              <a:spcBef>
                <a:spcPts val="1100"/>
              </a:spcBef>
              <a:buSzPct val="100000"/>
              <a:defRPr sz="2800" spc="296">
                <a:solidFill>
                  <a:srgbClr val="3F4756"/>
                </a:solidFill>
              </a:defRPr>
            </a:pP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8B7D540-28EE-51BC-FBBA-87B7EB956C3C}"/>
              </a:ext>
            </a:extLst>
          </p:cNvPr>
          <p:cNvGrpSpPr/>
          <p:nvPr/>
        </p:nvGrpSpPr>
        <p:grpSpPr>
          <a:xfrm>
            <a:off x="4246933" y="8631070"/>
            <a:ext cx="3653641" cy="989284"/>
            <a:chOff x="4246933" y="8631070"/>
            <a:chExt cx="3653641" cy="989284"/>
          </a:xfrm>
        </p:grpSpPr>
        <p:sp>
          <p:nvSpPr>
            <p:cNvPr id="1717" name="CustomShape 20"/>
            <p:cNvSpPr/>
            <p:nvPr/>
          </p:nvSpPr>
          <p:spPr>
            <a:xfrm>
              <a:off x="4334413" y="8631070"/>
              <a:ext cx="3566161" cy="8942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8985" y="1955"/>
                    <a:pt x="1785" y="9155"/>
                    <a:pt x="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8" name="CustomShape 21"/>
            <p:cNvSpPr/>
            <p:nvPr/>
          </p:nvSpPr>
          <p:spPr>
            <a:xfrm>
              <a:off x="4246933" y="9495431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21600" y="320"/>
                  </a:moveTo>
                  <a:cubicBezTo>
                    <a:pt x="13025" y="21600"/>
                    <a:pt x="5825" y="21493"/>
                    <a:pt x="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4135C10-9E10-A2FB-E77D-155436706487}"/>
              </a:ext>
            </a:extLst>
          </p:cNvPr>
          <p:cNvGrpSpPr/>
          <p:nvPr/>
        </p:nvGrpSpPr>
        <p:grpSpPr>
          <a:xfrm>
            <a:off x="5573173" y="5946195"/>
            <a:ext cx="3688921" cy="1332142"/>
            <a:chOff x="5573173" y="5946195"/>
            <a:chExt cx="3688921" cy="1332142"/>
          </a:xfrm>
        </p:grpSpPr>
        <p:sp>
          <p:nvSpPr>
            <p:cNvPr id="1715" name="CustomShape 18"/>
            <p:cNvSpPr/>
            <p:nvPr/>
          </p:nvSpPr>
          <p:spPr>
            <a:xfrm>
              <a:off x="5573173" y="5946195"/>
              <a:ext cx="3607561" cy="1168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cubicBezTo>
                    <a:pt x="12615" y="1955"/>
                    <a:pt x="19815" y="9155"/>
                    <a:pt x="2160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9" name="CustomShape 22"/>
            <p:cNvSpPr/>
            <p:nvPr/>
          </p:nvSpPr>
          <p:spPr>
            <a:xfrm>
              <a:off x="9066973" y="7153414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0" y="320"/>
                  </a:moveTo>
                  <a:cubicBezTo>
                    <a:pt x="8575" y="21600"/>
                    <a:pt x="15775" y="21493"/>
                    <a:pt x="2160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 err="1"/>
              <a:t>stdout</a:t>
            </a:r>
            <a:endParaRPr dirty="0"/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7" grpId="0" animBg="1"/>
      <p:bldP spid="1698" grpId="0" animBg="1"/>
      <p:bldP spid="1711" grpId="0" animBg="1"/>
      <p:bldP spid="1714" grpId="0" animBg="1"/>
      <p:bldP spid="1721" grpId="0" animBg="1"/>
      <p:bldP spid="1722" grpId="0" animBg="1"/>
      <p:bldP spid="17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40961" y="958579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258091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86896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</a:t>
            </a:r>
            <a:r>
              <a:rPr dirty="0" err="1"/>
              <a:t>stdout</a:t>
            </a:r>
            <a:r>
              <a:rPr dirty="0"/>
              <a:t>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&gt; </a:t>
            </a:r>
            <a:r>
              <a:rPr dirty="0" err="1"/>
              <a:t>list_results.txt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2&gt; </a:t>
            </a:r>
            <a:r>
              <a:rPr dirty="0" err="1"/>
              <a:t>err.txt</a:t>
            </a:r>
            <a:endParaRPr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2&gt; </a:t>
            </a:r>
            <a:r>
              <a:rPr dirty="0" err="1"/>
              <a:t>err.txt</a:t>
            </a:r>
            <a:r>
              <a:rPr dirty="0"/>
              <a:t> &gt; </a:t>
            </a:r>
            <a:r>
              <a:rPr dirty="0" err="1"/>
              <a:t>list_results.txt</a:t>
            </a:r>
            <a:endParaRPr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&amp;&gt; both</a:t>
            </a:r>
            <a:endParaRPr dirty="0"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4714384" y="834785"/>
            <a:ext cx="1494254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REDIRECTING OUTPUT AND ERRORS</a:t>
            </a:r>
            <a:endParaRPr dirty="0"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7849852" y="834785"/>
            <a:ext cx="867160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WHAT ABOUT STDIN?</a:t>
            </a:r>
            <a:endParaRPr dirty="0"/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wc</a:t>
            </a:r>
            <a:r>
              <a:rPr dirty="0"/>
              <a:t>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32800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 dirty="0" err="1"/>
              <a:t>wc</a:t>
            </a:r>
            <a:r>
              <a:rPr sz="3200" dirty="0"/>
              <a:t>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/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/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/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 dirty="0" err="1"/>
              <a:t>stdout</a:t>
            </a:r>
            <a:endParaRPr sz="3200" dirty="0"/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236543" y="7463635"/>
            <a:ext cx="6575912" cy="58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sz="3200" dirty="0"/>
              <a:t>$ </a:t>
            </a:r>
            <a:r>
              <a:rPr sz="3200" dirty="0" err="1"/>
              <a:t>wc</a:t>
            </a:r>
            <a:r>
              <a:rPr sz="3200" dirty="0"/>
              <a:t>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2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80281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955295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787655"/>
            <a:ext cx="12959913" cy="8862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b="1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886600" y="5341119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91</a:t>
            </a:fld>
            <a:endParaRPr/>
          </a:p>
        </p:txBody>
      </p:sp>
    </p:spTree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084673" y="4770412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69300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142FA2-D9A1-C12F-D15E-28F8F5CE2C8A}"/>
              </a:ext>
            </a:extLst>
          </p:cNvPr>
          <p:cNvGrpSpPr/>
          <p:nvPr/>
        </p:nvGrpSpPr>
        <p:grpSpPr>
          <a:xfrm>
            <a:off x="838459" y="3705800"/>
            <a:ext cx="11551668" cy="2494478"/>
            <a:chOff x="838459" y="3420050"/>
            <a:chExt cx="11551668" cy="2494478"/>
          </a:xfrm>
        </p:grpSpPr>
        <p:sp>
          <p:nvSpPr>
            <p:cNvPr id="1933" name="Rectangle"/>
            <p:cNvSpPr/>
            <p:nvPr/>
          </p:nvSpPr>
          <p:spPr>
            <a:xfrm>
              <a:off x="838459" y="3420050"/>
              <a:ext cx="11551668" cy="2494478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t="54062" r="1271" b="1330"/>
            <a:stretch/>
          </p:blipFill>
          <p:spPr>
            <a:xfrm>
              <a:off x="1167052" y="3744518"/>
              <a:ext cx="11018598" cy="182793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" b="34872"/>
          <a:stretch/>
        </p:blipFill>
        <p:spPr>
          <a:xfrm>
            <a:off x="14749779" y="3261191"/>
            <a:ext cx="8335658" cy="301954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931DFD7C-3AD2-F8D0-CE09-62F647EE1267}"/>
              </a:ext>
            </a:extLst>
          </p:cNvPr>
          <p:cNvGrpSpPr/>
          <p:nvPr/>
        </p:nvGrpSpPr>
        <p:grpSpPr>
          <a:xfrm>
            <a:off x="11297582" y="8432837"/>
            <a:ext cx="12045921" cy="1336003"/>
            <a:chOff x="11297582" y="8432837"/>
            <a:chExt cx="12045921" cy="1336003"/>
          </a:xfrm>
        </p:grpSpPr>
        <p:sp>
          <p:nvSpPr>
            <p:cNvPr id="1937" name="Rectangle"/>
            <p:cNvSpPr/>
            <p:nvPr/>
          </p:nvSpPr>
          <p:spPr>
            <a:xfrm>
              <a:off x="11297582" y="8432837"/>
              <a:ext cx="12045921" cy="1336003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 b="74537"/>
            <a:stretch/>
          </p:blipFill>
          <p:spPr>
            <a:xfrm>
              <a:off x="11540866" y="8681287"/>
              <a:ext cx="11610153" cy="6913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1027797" y="7000702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0DABD7-153E-C395-ED89-69AB40393967}"/>
              </a:ext>
            </a:extLst>
          </p:cNvPr>
          <p:cNvSpPr txBox="1"/>
          <p:nvPr/>
        </p:nvSpPr>
        <p:spPr>
          <a:xfrm>
            <a:off x="838459" y="2803807"/>
            <a:ext cx="16573500" cy="5539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Example: I want to create a file with only </a:t>
            </a:r>
            <a:r>
              <a:rPr lang="en-US" sz="3000" i="1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Herlev</a:t>
            </a:r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patients but also the header. </a:t>
            </a:r>
            <a:endParaRPr lang="en-GB" sz="3000" i="1" dirty="0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1" grpId="0" animBg="1"/>
      <p:bldP spid="1932" grpId="0" animBg="1"/>
      <p:bldP spid="1940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419451" y="3340282"/>
            <a:ext cx="21444809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script is executed with </a:t>
            </a:r>
            <a:r>
              <a:rPr lang="en-US" sz="3000" b="1" i="1" dirty="0"/>
              <a:t>bash</a:t>
            </a:r>
            <a:r>
              <a:rPr lang="en-US" sz="3000" dirty="0"/>
              <a:t> (or simply </a:t>
            </a:r>
            <a:r>
              <a:rPr lang="en-US" sz="3000" b="1" i="1" dirty="0" err="1"/>
              <a:t>sh</a:t>
            </a:r>
            <a:r>
              <a:rPr lang="en-US"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</a:t>
            </a:r>
            <a:r>
              <a:rPr sz="3000" dirty="0" err="1"/>
              <a:t>it.Useful</a:t>
            </a:r>
            <a:r>
              <a:rPr sz="3000" dirty="0"/>
              <a:t> if you want to specify the file you want to run the script on.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46ADB56-8ECD-2E30-475E-2B76572BFB3E}"/>
              </a:ext>
            </a:extLst>
          </p:cNvPr>
          <p:cNvGrpSpPr/>
          <p:nvPr/>
        </p:nvGrpSpPr>
        <p:grpSpPr>
          <a:xfrm>
            <a:off x="1235705" y="4680742"/>
            <a:ext cx="10886160" cy="8017818"/>
            <a:chOff x="1235705" y="4680742"/>
            <a:chExt cx="10886160" cy="8017818"/>
          </a:xfrm>
        </p:grpSpPr>
        <p:sp>
          <p:nvSpPr>
            <p:cNvPr id="1960" name="Скругленный прямоугольник 7"/>
            <p:cNvSpPr/>
            <p:nvPr/>
          </p:nvSpPr>
          <p:spPr>
            <a:xfrm>
              <a:off x="1235705" y="4680742"/>
              <a:ext cx="10573393" cy="7297898"/>
            </a:xfrm>
            <a:prstGeom prst="roundRect">
              <a:avLst>
                <a:gd name="adj" fmla="val 2958"/>
              </a:avLst>
            </a:prstGeom>
            <a:solidFill>
              <a:srgbClr val="B3C2FF"/>
            </a:solidFill>
            <a:ln w="12700">
              <a:miter lim="400000"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 dirty="0"/>
            </a:p>
          </p:txBody>
        </p:sp>
        <p:sp>
          <p:nvSpPr>
            <p:cNvPr id="1961" name="TextShape 28"/>
            <p:cNvSpPr txBox="1"/>
            <p:nvPr/>
          </p:nvSpPr>
          <p:spPr>
            <a:xfrm>
              <a:off x="2014942" y="5128259"/>
              <a:ext cx="10106923" cy="75703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#example of a for loop in bash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file in *.txt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echo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</a:t>
              </a:r>
              <a:r>
                <a:rPr dirty="0" err="1"/>
                <a:t>wc</a:t>
              </a:r>
              <a:r>
                <a:rPr dirty="0"/>
                <a:t>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#the general syntax of a for loop is: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[iterator] in [generator]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commands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 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97</a:t>
            </a:fld>
            <a:endParaRPr/>
          </a:p>
        </p:txBody>
      </p:sp>
    </p:spTree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</a:t>
            </a:r>
            <a:br>
              <a:rPr lang="en-US" sz="3000" dirty="0"/>
            </a:br>
            <a:r>
              <a:rPr sz="3000" dirty="0"/>
              <a:t>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b="1" dirty="0"/>
              <a:t>Be </a:t>
            </a:r>
            <a:r>
              <a:rPr lang="da-DK" sz="3000" b="1" dirty="0" err="1"/>
              <a:t>aware</a:t>
            </a:r>
            <a:r>
              <a:rPr lang="da-DK" sz="3000" b="1" dirty="0"/>
              <a:t> </a:t>
            </a:r>
            <a:r>
              <a:rPr lang="da-DK" sz="3000" b="1" dirty="0" err="1"/>
              <a:t>that</a:t>
            </a:r>
            <a:r>
              <a:rPr lang="da-DK" sz="3000" b="1" dirty="0"/>
              <a:t> </a:t>
            </a:r>
            <a:r>
              <a:rPr lang="da-DK" sz="3000" b="1" dirty="0" err="1"/>
              <a:t>some</a:t>
            </a:r>
            <a:r>
              <a:rPr lang="da-DK" sz="3000" b="1" dirty="0"/>
              <a:t> </a:t>
            </a:r>
            <a:r>
              <a:rPr lang="da-DK" sz="3000" b="1" dirty="0" err="1"/>
              <a:t>channels</a:t>
            </a:r>
            <a:r>
              <a:rPr lang="da-DK" sz="3000" b="1" dirty="0"/>
              <a:t> </a:t>
            </a:r>
            <a:r>
              <a:rPr lang="da-DK" sz="3000" b="1" dirty="0" err="1"/>
              <a:t>are</a:t>
            </a:r>
            <a:r>
              <a:rPr lang="da-DK" sz="3000" b="1" dirty="0"/>
              <a:t> not </a:t>
            </a:r>
            <a:r>
              <a:rPr lang="da-DK" sz="3000" b="1" dirty="0" err="1"/>
              <a:t>free</a:t>
            </a:r>
            <a:r>
              <a:rPr lang="da-DK" sz="3000" b="1" dirty="0"/>
              <a:t> to </a:t>
            </a:r>
            <a:r>
              <a:rPr lang="da-DK" sz="3000" b="1" dirty="0" err="1"/>
              <a:t>use</a:t>
            </a:r>
            <a:r>
              <a:rPr lang="da-DK" sz="3000" b="1" dirty="0"/>
              <a:t> for </a:t>
            </a:r>
            <a:r>
              <a:rPr lang="da-DK" sz="3000" b="1" dirty="0" err="1"/>
              <a:t>organizations</a:t>
            </a:r>
            <a:endParaRPr sz="3000" b="1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744646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0848271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328127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475370"/>
            <a:ext cx="4574454" cy="909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rPr dirty="0"/>
              <a:t>Can be overwhelming</a:t>
            </a:r>
            <a:endParaRPr lang="en-US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channels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free</a:t>
            </a:r>
            <a:endParaRPr dirty="0"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 what is free?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 err="1"/>
              <a:t>conda</a:t>
            </a:r>
            <a:r>
              <a:rPr lang="en-US" sz="3000" b="1" dirty="0"/>
              <a:t>, </a:t>
            </a:r>
            <a:r>
              <a:rPr lang="en-US" sz="3000" dirty="0"/>
              <a:t>the software program for package and environment management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packages</a:t>
            </a:r>
            <a:r>
              <a:rPr lang="en-US" sz="3000" dirty="0"/>
              <a:t> in </a:t>
            </a:r>
            <a:r>
              <a:rPr lang="en-US" sz="3000" dirty="0" err="1"/>
              <a:t>conda</a:t>
            </a:r>
            <a:r>
              <a:rPr lang="en-US" sz="3000" dirty="0"/>
              <a:t>-forge and </a:t>
            </a:r>
            <a:r>
              <a:rPr lang="en-US" sz="3000" dirty="0" err="1"/>
              <a:t>Bioconda</a:t>
            </a:r>
            <a:r>
              <a:rPr lang="en-US" sz="3000" dirty="0"/>
              <a:t> channels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What is paid?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conda</a:t>
            </a:r>
            <a:r>
              <a:rPr lang="en-US" sz="3000" dirty="0"/>
              <a:t>-compatible </a:t>
            </a:r>
            <a:r>
              <a:rPr lang="en-US" sz="3000" b="1" dirty="0"/>
              <a:t>packages</a:t>
            </a:r>
            <a:r>
              <a:rPr lang="en-US" sz="3000" dirty="0"/>
              <a:t> in the </a:t>
            </a:r>
            <a:r>
              <a:rPr lang="en-US" sz="3000" b="1" dirty="0"/>
              <a:t>default</a:t>
            </a:r>
            <a:r>
              <a:rPr lang="en-US" sz="3000" dirty="0"/>
              <a:t> channel and Anaconda Distribution (if &gt; 200 people)</a:t>
            </a:r>
            <a:endParaRPr sz="3000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34EA-56C2-6DE8-1144-76B9B51A9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2CBBC-B16C-4203-D5BE-92C7AE59D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management,</a:t>
            </a:r>
            <a:r>
              <a:rPr kumimoji="0" lang="da-DK" altLang="da-D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free to use by anyone.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197854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rPr dirty="0"/>
              <a:t>Works like any </a:t>
            </a:r>
            <a:r>
              <a:rPr dirty="0" err="1"/>
              <a:t>linux</a:t>
            </a:r>
            <a:r>
              <a:rPr dirty="0"/>
              <a:t>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rPr dirty="0"/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rPr dirty="0"/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225677" y="6285780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 $</a:t>
            </a:r>
            <a:r>
              <a:rPr lang="en-US" dirty="0"/>
              <a:t> </a:t>
            </a:r>
            <a:r>
              <a:rPr dirty="0" err="1"/>
              <a:t>conda</a:t>
            </a:r>
            <a:r>
              <a:rPr dirty="0"/>
              <a:t>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862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Like a real hacker we’ll install and run a software in the command line in </a:t>
            </a:r>
            <a:r>
              <a:rPr lang="en-US" b="1" dirty="0"/>
              <a:t>Exercise 9!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485298" y="12949908"/>
            <a:ext cx="612630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06409-B56F-C287-8F80-45929DE7F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>
            <a:extLst>
              <a:ext uri="{FF2B5EF4-FFF2-40B4-BE49-F238E27FC236}">
                <a16:creationId xmlns:a16="http://schemas.microsoft.com/office/drawing/2014/main" id="{ED5DF083-56C3-8545-B2A8-04A42F5ADDA4}"/>
              </a:ext>
            </a:extLst>
          </p:cNvPr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>
            <a:extLst>
              <a:ext uri="{FF2B5EF4-FFF2-40B4-BE49-F238E27FC236}">
                <a16:creationId xmlns:a16="http://schemas.microsoft.com/office/drawing/2014/main" id="{E870DB53-CFE6-DB9D-E8F0-3C5DD20C46CA}"/>
              </a:ext>
            </a:extLst>
          </p:cNvPr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>
              <a:extLst>
                <a:ext uri="{FF2B5EF4-FFF2-40B4-BE49-F238E27FC236}">
                  <a16:creationId xmlns:a16="http://schemas.microsoft.com/office/drawing/2014/main" id="{5C3724B5-F75B-6BEC-D41F-6985F7D47A6E}"/>
                </a:ext>
              </a:extLst>
            </p:cNvPr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>
                <a:extLst>
                  <a:ext uri="{FF2B5EF4-FFF2-40B4-BE49-F238E27FC236}">
                    <a16:creationId xmlns:a16="http://schemas.microsoft.com/office/drawing/2014/main" id="{D66DCBFE-3A59-551E-5C22-55B3A87992B6}"/>
                  </a:ext>
                </a:extLst>
              </p:cNvPr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>
                  <a:extLst>
                    <a:ext uri="{FF2B5EF4-FFF2-40B4-BE49-F238E27FC236}">
                      <a16:creationId xmlns:a16="http://schemas.microsoft.com/office/drawing/2014/main" id="{3FCCBFF5-26C5-58E8-C197-C519D7A69F71}"/>
                    </a:ext>
                  </a:extLst>
                </p:cNvPr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>
                  <a:extLst>
                    <a:ext uri="{FF2B5EF4-FFF2-40B4-BE49-F238E27FC236}">
                      <a16:creationId xmlns:a16="http://schemas.microsoft.com/office/drawing/2014/main" id="{1E9B7680-3934-64AD-EF99-BCB827B12C55}"/>
                    </a:ext>
                  </a:extLst>
                </p:cNvPr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>
                  <a:extLst>
                    <a:ext uri="{FF2B5EF4-FFF2-40B4-BE49-F238E27FC236}">
                      <a16:creationId xmlns:a16="http://schemas.microsoft.com/office/drawing/2014/main" id="{24CE0347-8D62-DA68-DA8E-772F1E331031}"/>
                    </a:ext>
                  </a:extLst>
                </p:cNvPr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>
                  <a:extLst>
                    <a:ext uri="{FF2B5EF4-FFF2-40B4-BE49-F238E27FC236}">
                      <a16:creationId xmlns:a16="http://schemas.microsoft.com/office/drawing/2014/main" id="{67BD655F-AA4D-13E2-79CC-31B53586EE05}"/>
                    </a:ext>
                  </a:extLst>
                </p:cNvPr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>
                  <a:extLst>
                    <a:ext uri="{FF2B5EF4-FFF2-40B4-BE49-F238E27FC236}">
                      <a16:creationId xmlns:a16="http://schemas.microsoft.com/office/drawing/2014/main" id="{6F979D86-3E3A-A05B-7C04-3DA8CEE7FB85}"/>
                    </a:ext>
                  </a:extLst>
                </p:cNvPr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>
                  <a:extLst>
                    <a:ext uri="{FF2B5EF4-FFF2-40B4-BE49-F238E27FC236}">
                      <a16:creationId xmlns:a16="http://schemas.microsoft.com/office/drawing/2014/main" id="{98354860-459E-2973-4EF2-C70AE01A9339}"/>
                    </a:ext>
                  </a:extLst>
                </p:cNvPr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>
                  <a:extLst>
                    <a:ext uri="{FF2B5EF4-FFF2-40B4-BE49-F238E27FC236}">
                      <a16:creationId xmlns:a16="http://schemas.microsoft.com/office/drawing/2014/main" id="{3CF3AC90-0904-899D-1676-6F51F24119A1}"/>
                    </a:ext>
                  </a:extLst>
                </p:cNvPr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>
                  <a:extLst>
                    <a:ext uri="{FF2B5EF4-FFF2-40B4-BE49-F238E27FC236}">
                      <a16:creationId xmlns:a16="http://schemas.microsoft.com/office/drawing/2014/main" id="{AA224640-0851-A538-40BE-D27F00C3861B}"/>
                    </a:ext>
                  </a:extLst>
                </p:cNvPr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>
                <a:extLst>
                  <a:ext uri="{FF2B5EF4-FFF2-40B4-BE49-F238E27FC236}">
                    <a16:creationId xmlns:a16="http://schemas.microsoft.com/office/drawing/2014/main" id="{AC404F21-3D86-987D-0F36-C464A2E508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>
                <a:extLst>
                  <a:ext uri="{FF2B5EF4-FFF2-40B4-BE49-F238E27FC236}">
                    <a16:creationId xmlns:a16="http://schemas.microsoft.com/office/drawing/2014/main" id="{730936F6-7805-91E2-8155-DF91334892D5}"/>
                  </a:ext>
                </a:extLst>
              </p:cNvPr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>
              <a:extLst>
                <a:ext uri="{FF2B5EF4-FFF2-40B4-BE49-F238E27FC236}">
                  <a16:creationId xmlns:a16="http://schemas.microsoft.com/office/drawing/2014/main" id="{9C05A6F0-7C28-1A3C-2CAE-AD08CAF7A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>
            <a:extLst>
              <a:ext uri="{FF2B5EF4-FFF2-40B4-BE49-F238E27FC236}">
                <a16:creationId xmlns:a16="http://schemas.microsoft.com/office/drawing/2014/main" id="{6E62404A-4C30-707C-D58A-C1BE878DEFA3}"/>
              </a:ext>
            </a:extLst>
          </p:cNvPr>
          <p:cNvSpPr txBox="1"/>
          <p:nvPr/>
        </p:nvSpPr>
        <p:spPr>
          <a:xfrm>
            <a:off x="813321" y="5421630"/>
            <a:ext cx="9187929" cy="2862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10</a:t>
            </a:r>
            <a:r>
              <a:rPr dirty="0"/>
              <a:t>. </a:t>
            </a:r>
            <a:r>
              <a:rPr lang="da-DK" dirty="0"/>
              <a:t>REMOTE COMPUTING ON HPCS</a:t>
            </a:r>
            <a:endParaRPr dirty="0"/>
          </a:p>
        </p:txBody>
      </p:sp>
      <p:sp>
        <p:nvSpPr>
          <p:cNvPr id="1994" name="TextBox 6">
            <a:extLst>
              <a:ext uri="{FF2B5EF4-FFF2-40B4-BE49-F238E27FC236}">
                <a16:creationId xmlns:a16="http://schemas.microsoft.com/office/drawing/2014/main" id="{DCE6EAA3-9941-56B6-9812-E6AA48140AC7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23427076"/>
      </p:ext>
    </p:extLst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8753945" y="1004198"/>
            <a:ext cx="686341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AN HPC</a:t>
            </a:r>
            <a:endParaRPr dirty="0"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4769324" y="2940120"/>
            <a:ext cx="15560723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/>
              <a:t>HPC</a:t>
            </a:r>
            <a:r>
              <a:rPr lang="en-GB" sz="3000" dirty="0"/>
              <a:t> – </a:t>
            </a:r>
            <a:r>
              <a:rPr lang="en-US" sz="3000" dirty="0"/>
              <a:t>High Performance Computing system (Server, Supercomputer)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6197C9-84B7-0B91-E9B6-622C3E692E25}"/>
              </a:ext>
            </a:extLst>
          </p:cNvPr>
          <p:cNvGrpSpPr/>
          <p:nvPr/>
        </p:nvGrpSpPr>
        <p:grpSpPr>
          <a:xfrm>
            <a:off x="2614409" y="5692887"/>
            <a:ext cx="3016169" cy="3515664"/>
            <a:chOff x="10101621" y="5772150"/>
            <a:chExt cx="3016169" cy="3515664"/>
          </a:xfrm>
        </p:grpSpPr>
        <p:pic>
          <p:nvPicPr>
            <p:cNvPr id="3" name="Graphic 2" descr="Laptop outline">
              <a:extLst>
                <a:ext uri="{FF2B5EF4-FFF2-40B4-BE49-F238E27FC236}">
                  <a16:creationId xmlns:a16="http://schemas.microsoft.com/office/drawing/2014/main" id="{49A8B243-9FF1-4E61-CA52-DF842A6947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101621" y="5772150"/>
              <a:ext cx="3016169" cy="3016169"/>
            </a:xfrm>
            <a:prstGeom prst="rect">
              <a:avLst/>
            </a:prstGeom>
          </p:spPr>
        </p:pic>
        <p:sp>
          <p:nvSpPr>
            <p:cNvPr id="9" name="TextBox 29">
              <a:extLst>
                <a:ext uri="{FF2B5EF4-FFF2-40B4-BE49-F238E27FC236}">
                  <a16:creationId xmlns:a16="http://schemas.microsoft.com/office/drawing/2014/main" id="{40B71705-84FD-E40F-95ED-25AB4524CC24}"/>
                </a:ext>
              </a:extLst>
            </p:cNvPr>
            <p:cNvSpPr txBox="1"/>
            <p:nvPr/>
          </p:nvSpPr>
          <p:spPr>
            <a:xfrm>
              <a:off x="10358836" y="8672261"/>
              <a:ext cx="2501738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4759"/>
                </a:lnSpc>
              </a:pPr>
              <a:r>
                <a:rPr lang="en-US" sz="4000" b="1" dirty="0">
                  <a:solidFill>
                    <a:srgbClr val="F8F8F8"/>
                  </a:solidFill>
                  <a:latin typeface="HK Grotesk Medium"/>
                </a:rPr>
                <a:t>Your PC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A892148-8B8B-9B2A-FE22-B8AE5E75B8F9}"/>
              </a:ext>
            </a:extLst>
          </p:cNvPr>
          <p:cNvGrpSpPr/>
          <p:nvPr/>
        </p:nvGrpSpPr>
        <p:grpSpPr>
          <a:xfrm>
            <a:off x="11558320" y="4926920"/>
            <a:ext cx="5845168" cy="6617481"/>
            <a:chOff x="11768743" y="4269695"/>
            <a:chExt cx="5845168" cy="6617481"/>
          </a:xfrm>
        </p:grpSpPr>
        <p:pic>
          <p:nvPicPr>
            <p:cNvPr id="8" name="Graphic 7" descr="Server outline">
              <a:extLst>
                <a:ext uri="{FF2B5EF4-FFF2-40B4-BE49-F238E27FC236}">
                  <a16:creationId xmlns:a16="http://schemas.microsoft.com/office/drawing/2014/main" id="{2FEE0BD2-EE90-B91F-EA08-6255149FC1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844943" y="4269695"/>
              <a:ext cx="2846384" cy="2846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1A3AEC3-B61F-4695-7E46-DE580A2E8FAA}"/>
                </a:ext>
              </a:extLst>
            </p:cNvPr>
            <p:cNvGrpSpPr/>
            <p:nvPr/>
          </p:nvGrpSpPr>
          <p:grpSpPr>
            <a:xfrm>
              <a:off x="11768743" y="5799110"/>
              <a:ext cx="5845168" cy="5088066"/>
              <a:chOff x="16054993" y="6323375"/>
              <a:chExt cx="5845168" cy="5088066"/>
            </a:xfrm>
          </p:grpSpPr>
          <p:pic>
            <p:nvPicPr>
              <p:cNvPr id="6" name="Graphic 5" descr="Server outline">
                <a:extLst>
                  <a:ext uri="{FF2B5EF4-FFF2-40B4-BE49-F238E27FC236}">
                    <a16:creationId xmlns:a16="http://schemas.microsoft.com/office/drawing/2014/main" id="{5F8A1FA6-693E-3FBF-D7CD-7FD7FFB5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6054993" y="7537450"/>
                <a:ext cx="2846384" cy="2846384"/>
              </a:xfrm>
              <a:prstGeom prst="rect">
                <a:avLst/>
              </a:prstGeom>
            </p:spPr>
          </p:pic>
          <p:pic>
            <p:nvPicPr>
              <p:cNvPr id="7" name="Graphic 6" descr="Server outline">
                <a:extLst>
                  <a:ext uri="{FF2B5EF4-FFF2-40B4-BE49-F238E27FC236}">
                    <a16:creationId xmlns:a16="http://schemas.microsoft.com/office/drawing/2014/main" id="{5E3E22A1-7435-00A7-83C2-77718A07F0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053777" y="6323375"/>
                <a:ext cx="2846384" cy="2846384"/>
              </a:xfrm>
              <a:prstGeom prst="rect">
                <a:avLst/>
              </a:prstGeom>
            </p:spPr>
          </p:pic>
          <p:sp>
            <p:nvSpPr>
              <p:cNvPr id="10" name="TextBox 29">
                <a:extLst>
                  <a:ext uri="{FF2B5EF4-FFF2-40B4-BE49-F238E27FC236}">
                    <a16:creationId xmlns:a16="http://schemas.microsoft.com/office/drawing/2014/main" id="{2E1E47DC-6262-10BF-0099-B299CFBC8656}"/>
                  </a:ext>
                </a:extLst>
              </p:cNvPr>
              <p:cNvSpPr txBox="1"/>
              <p:nvPr/>
            </p:nvSpPr>
            <p:spPr>
              <a:xfrm>
                <a:off x="17046359" y="10795888"/>
                <a:ext cx="2501738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4759"/>
                  </a:lnSpc>
                </a:pPr>
                <a:r>
                  <a:rPr lang="en-US" sz="4000" b="1" dirty="0">
                    <a:solidFill>
                      <a:srgbClr val="F8F8F8"/>
                    </a:solidFill>
                    <a:latin typeface="HK Grotesk Medium"/>
                  </a:rPr>
                  <a:t>HPC</a:t>
                </a:r>
              </a:p>
            </p:txBody>
          </p:sp>
        </p:grp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F447C2-EF13-4FBD-A1CD-65885C3BDB97}"/>
              </a:ext>
            </a:extLst>
          </p:cNvPr>
          <p:cNvCxnSpPr>
            <a:cxnSpLocks/>
          </p:cNvCxnSpPr>
          <p:nvPr/>
        </p:nvCxnSpPr>
        <p:spPr>
          <a:xfrm>
            <a:off x="7917180" y="7277100"/>
            <a:ext cx="1851660" cy="0"/>
          </a:xfrm>
          <a:prstGeom prst="straightConnector1">
            <a:avLst/>
          </a:prstGeom>
          <a:noFill/>
          <a:ln w="57150" cap="flat">
            <a:solidFill>
              <a:schemeClr val="accent1"/>
            </a:solidFill>
            <a:prstDash val="solid"/>
            <a:round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AE40382-1DA9-A51C-3DCD-7FEBA4BEE9F7}"/>
              </a:ext>
            </a:extLst>
          </p:cNvPr>
          <p:cNvCxnSpPr>
            <a:cxnSpLocks/>
          </p:cNvCxnSpPr>
          <p:nvPr/>
        </p:nvCxnSpPr>
        <p:spPr>
          <a:xfrm flipH="1">
            <a:off x="7828115" y="7742824"/>
            <a:ext cx="1851660" cy="0"/>
          </a:xfrm>
          <a:prstGeom prst="straightConnector1">
            <a:avLst/>
          </a:prstGeom>
          <a:noFill/>
          <a:ln w="57150" cap="flat">
            <a:solidFill>
              <a:schemeClr val="accent1"/>
            </a:solidFill>
            <a:prstDash val="solid"/>
            <a:round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TextBox 29">
            <a:extLst>
              <a:ext uri="{FF2B5EF4-FFF2-40B4-BE49-F238E27FC236}">
                <a16:creationId xmlns:a16="http://schemas.microsoft.com/office/drawing/2014/main" id="{7A0A802C-67C6-A876-8ECA-7A8354CF21BE}"/>
              </a:ext>
            </a:extLst>
          </p:cNvPr>
          <p:cNvSpPr txBox="1"/>
          <p:nvPr/>
        </p:nvSpPr>
        <p:spPr>
          <a:xfrm>
            <a:off x="7592141" y="8289697"/>
            <a:ext cx="2501738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ssh</a:t>
            </a:r>
          </a:p>
        </p:txBody>
      </p:sp>
      <p:pic>
        <p:nvPicPr>
          <p:cNvPr id="22" name="Graphic 21" descr="Database outline">
            <a:extLst>
              <a:ext uri="{FF2B5EF4-FFF2-40B4-BE49-F238E27FC236}">
                <a16:creationId xmlns:a16="http://schemas.microsoft.com/office/drawing/2014/main" id="{459015A2-9948-8C3B-6A4C-AC25CCD36A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608352" y="6247317"/>
            <a:ext cx="1698317" cy="1698317"/>
          </a:xfrm>
          <a:prstGeom prst="rect">
            <a:avLst/>
          </a:prstGeom>
        </p:spPr>
      </p:pic>
      <p:sp>
        <p:nvSpPr>
          <p:cNvPr id="23" name="TextBox 29">
            <a:extLst>
              <a:ext uri="{FF2B5EF4-FFF2-40B4-BE49-F238E27FC236}">
                <a16:creationId xmlns:a16="http://schemas.microsoft.com/office/drawing/2014/main" id="{536668E1-2751-C72C-B2EB-7543214ED14B}"/>
              </a:ext>
            </a:extLst>
          </p:cNvPr>
          <p:cNvSpPr txBox="1"/>
          <p:nvPr/>
        </p:nvSpPr>
        <p:spPr>
          <a:xfrm>
            <a:off x="19845101" y="6700339"/>
            <a:ext cx="2501738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Storage</a:t>
            </a:r>
          </a:p>
        </p:txBody>
      </p:sp>
      <p:pic>
        <p:nvPicPr>
          <p:cNvPr id="25" name="Graphic 24" descr="Processor outline">
            <a:extLst>
              <a:ext uri="{FF2B5EF4-FFF2-40B4-BE49-F238E27FC236}">
                <a16:creationId xmlns:a16="http://schemas.microsoft.com/office/drawing/2014/main" id="{2E697D75-AF98-94F2-056F-72BC350BEB2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756777" y="8319602"/>
            <a:ext cx="1401466" cy="1401466"/>
          </a:xfrm>
          <a:prstGeom prst="rect">
            <a:avLst/>
          </a:prstGeom>
        </p:spPr>
      </p:pic>
      <p:sp>
        <p:nvSpPr>
          <p:cNvPr id="26" name="TextBox 29">
            <a:extLst>
              <a:ext uri="{FF2B5EF4-FFF2-40B4-BE49-F238E27FC236}">
                <a16:creationId xmlns:a16="http://schemas.microsoft.com/office/drawing/2014/main" id="{4A1D4F90-0426-2180-490B-12D407678707}"/>
              </a:ext>
            </a:extLst>
          </p:cNvPr>
          <p:cNvSpPr txBox="1"/>
          <p:nvPr/>
        </p:nvSpPr>
        <p:spPr>
          <a:xfrm>
            <a:off x="19845101" y="8592998"/>
            <a:ext cx="2501738" cy="11923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Compute Nodes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EBA3CCD-7BED-A399-6F77-DB3C750EAA3A}"/>
              </a:ext>
            </a:extLst>
          </p:cNvPr>
          <p:cNvCxnSpPr>
            <a:cxnSpLocks/>
          </p:cNvCxnSpPr>
          <p:nvPr/>
        </p:nvCxnSpPr>
        <p:spPr>
          <a:xfrm flipH="1" flipV="1">
            <a:off x="17231716" y="8211579"/>
            <a:ext cx="1266069" cy="654879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F89ECA-862B-F11A-5509-B195C0E78D7F}"/>
              </a:ext>
            </a:extLst>
          </p:cNvPr>
          <p:cNvCxnSpPr>
            <a:cxnSpLocks/>
          </p:cNvCxnSpPr>
          <p:nvPr/>
        </p:nvCxnSpPr>
        <p:spPr>
          <a:xfrm flipH="1">
            <a:off x="17231715" y="7419127"/>
            <a:ext cx="1266069" cy="654879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EDB5-A9D7-BCC1-FBC6-AE1F400BB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61445DE3-38EA-CD98-E5F3-B07B50DB3AED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41253062-3E8B-CDDB-8476-F174F3AC9529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214BAD15-B3D3-2EAD-B303-C53325956BF7}"/>
              </a:ext>
            </a:extLst>
          </p:cNvPr>
          <p:cNvSpPr txBox="1"/>
          <p:nvPr/>
        </p:nvSpPr>
        <p:spPr>
          <a:xfrm>
            <a:off x="7215067" y="1004198"/>
            <a:ext cx="994118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FILE SYSTEMS ON HPCS</a:t>
            </a:r>
            <a:endParaRPr dirty="0"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8B6B35BA-1ED4-5A8B-C2FF-8897F11DBBBE}"/>
              </a:ext>
            </a:extLst>
          </p:cNvPr>
          <p:cNvSpPr txBox="1"/>
          <p:nvPr/>
        </p:nvSpPr>
        <p:spPr>
          <a:xfrm>
            <a:off x="1113984" y="3170712"/>
            <a:ext cx="18831366" cy="10142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Most HPCs have structured file systems that are on different hard drives which mounted to the computing nodes. This means you cannot put things wherever.</a:t>
            </a:r>
          </a:p>
        </p:txBody>
      </p:sp>
      <p:pic>
        <p:nvPicPr>
          <p:cNvPr id="2" name="Picture 12">
            <a:extLst>
              <a:ext uri="{FF2B5EF4-FFF2-40B4-BE49-F238E27FC236}">
                <a16:creationId xmlns:a16="http://schemas.microsoft.com/office/drawing/2014/main" id="{35741DA8-9658-88E9-C195-B1845CD670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19945350" y="5374155"/>
            <a:ext cx="1170349" cy="1405441"/>
          </a:xfrm>
          <a:prstGeom prst="rect">
            <a:avLst/>
          </a:prstGeom>
        </p:spPr>
      </p:pic>
      <p:sp>
        <p:nvSpPr>
          <p:cNvPr id="3" name="TextBox 15">
            <a:extLst>
              <a:ext uri="{FF2B5EF4-FFF2-40B4-BE49-F238E27FC236}">
                <a16:creationId xmlns:a16="http://schemas.microsoft.com/office/drawing/2014/main" id="{0E25D842-23CC-F53F-3233-229E5F1F76DB}"/>
              </a:ext>
            </a:extLst>
          </p:cNvPr>
          <p:cNvSpPr txBox="1"/>
          <p:nvPr/>
        </p:nvSpPr>
        <p:spPr>
          <a:xfrm>
            <a:off x="1113985" y="5017464"/>
            <a:ext cx="4975021" cy="22458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dirty="0">
                <a:solidFill>
                  <a:srgbClr val="F8F8F8"/>
                </a:solidFill>
              </a:rPr>
              <a:t>Home directory</a:t>
            </a:r>
            <a:r>
              <a:rPr lang="en-US" sz="4000" dirty="0">
                <a:solidFill>
                  <a:srgbClr val="F8F8F8"/>
                </a:solidFill>
              </a:rPr>
              <a:t>: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Backed up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Configuration files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Small user files</a:t>
            </a:r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C1F8A689-A726-6C0F-F11D-F44CEE49E9DB}"/>
              </a:ext>
            </a:extLst>
          </p:cNvPr>
          <p:cNvSpPr txBox="1"/>
          <p:nvPr/>
        </p:nvSpPr>
        <p:spPr>
          <a:xfrm>
            <a:off x="1113985" y="7968832"/>
            <a:ext cx="7618012" cy="22458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dirty="0">
                <a:solidFill>
                  <a:srgbClr val="F8F8F8"/>
                </a:solidFill>
              </a:rPr>
              <a:t>Project/Data/Group directories</a:t>
            </a:r>
            <a:r>
              <a:rPr lang="en-US" sz="4000" dirty="0">
                <a:solidFill>
                  <a:srgbClr val="F8F8F8"/>
                </a:solidFill>
              </a:rPr>
              <a:t>: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Backed up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Large data files, results </a:t>
            </a:r>
            <a:r>
              <a:rPr lang="en-US" sz="2800" dirty="0" err="1">
                <a:solidFill>
                  <a:srgbClr val="F8F8F8"/>
                </a:solidFill>
              </a:rPr>
              <a:t>ect</a:t>
            </a:r>
            <a:endParaRPr lang="en-US" sz="2800" dirty="0">
              <a:solidFill>
                <a:srgbClr val="F8F8F8"/>
              </a:solidFill>
            </a:endParaRP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Databases</a:t>
            </a:r>
          </a:p>
        </p:txBody>
      </p:sp>
      <p:sp>
        <p:nvSpPr>
          <p:cNvPr id="6" name="TextBox 15">
            <a:extLst>
              <a:ext uri="{FF2B5EF4-FFF2-40B4-BE49-F238E27FC236}">
                <a16:creationId xmlns:a16="http://schemas.microsoft.com/office/drawing/2014/main" id="{BBAB2177-0F9A-7146-38D3-06169E9CE854}"/>
              </a:ext>
            </a:extLst>
          </p:cNvPr>
          <p:cNvSpPr txBox="1"/>
          <p:nvPr/>
        </p:nvSpPr>
        <p:spPr>
          <a:xfrm>
            <a:off x="1085409" y="11008522"/>
            <a:ext cx="4975021" cy="16687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dirty="0">
                <a:solidFill>
                  <a:srgbClr val="F8F8F8"/>
                </a:solidFill>
              </a:rPr>
              <a:t>Scratch directories: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Not backed up!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Temporary files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1BC0A12-A85D-51FD-B4B6-683E68BDD98F}"/>
              </a:ext>
            </a:extLst>
          </p:cNvPr>
          <p:cNvSpPr/>
          <p:nvPr/>
        </p:nvSpPr>
        <p:spPr>
          <a:xfrm>
            <a:off x="8836262" y="5017464"/>
            <a:ext cx="4975021" cy="821348"/>
          </a:xfrm>
          <a:prstGeom prst="roundRect">
            <a:avLst>
              <a:gd name="adj" fmla="val 37537"/>
            </a:avLst>
          </a:prstGeom>
          <a:solidFill>
            <a:srgbClr val="B8B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CustomShape 13">
            <a:extLst>
              <a:ext uri="{FF2B5EF4-FFF2-40B4-BE49-F238E27FC236}">
                <a16:creationId xmlns:a16="http://schemas.microsoft.com/office/drawing/2014/main" id="{C0C31A09-28A5-B023-9A7C-6B97F72E7322}"/>
              </a:ext>
            </a:extLst>
          </p:cNvPr>
          <p:cNvSpPr txBox="1"/>
          <p:nvPr/>
        </p:nvSpPr>
        <p:spPr>
          <a:xfrm>
            <a:off x="9154674" y="5123013"/>
            <a:ext cx="4566795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/home/[user]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D243884-F5E9-A6D2-D8AE-A9B5DEFCCA88}"/>
              </a:ext>
            </a:extLst>
          </p:cNvPr>
          <p:cNvSpPr/>
          <p:nvPr/>
        </p:nvSpPr>
        <p:spPr>
          <a:xfrm>
            <a:off x="8836262" y="7745329"/>
            <a:ext cx="7618013" cy="821348"/>
          </a:xfrm>
          <a:prstGeom prst="roundRect">
            <a:avLst>
              <a:gd name="adj" fmla="val 37537"/>
            </a:avLst>
          </a:prstGeom>
          <a:solidFill>
            <a:srgbClr val="FFC89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CustomShape 13">
            <a:extLst>
              <a:ext uri="{FF2B5EF4-FFF2-40B4-BE49-F238E27FC236}">
                <a16:creationId xmlns:a16="http://schemas.microsoft.com/office/drawing/2014/main" id="{8EB94E7A-D890-0928-C01E-850FB8DD1B77}"/>
              </a:ext>
            </a:extLst>
          </p:cNvPr>
          <p:cNvSpPr txBox="1"/>
          <p:nvPr/>
        </p:nvSpPr>
        <p:spPr>
          <a:xfrm>
            <a:off x="8998402" y="7863006"/>
            <a:ext cx="6874639" cy="610250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algn="ctr"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/projects/</a:t>
            </a:r>
            <a:r>
              <a:rPr lang="en-US" sz="3000" dirty="0" err="1"/>
              <a:t>RNAseq_a_thal</a:t>
            </a:r>
            <a:endParaRPr lang="en-US" sz="30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802024-4778-4DD6-49E3-B47915F5347B}"/>
              </a:ext>
            </a:extLst>
          </p:cNvPr>
          <p:cNvSpPr/>
          <p:nvPr/>
        </p:nvSpPr>
        <p:spPr>
          <a:xfrm>
            <a:off x="8794288" y="11890454"/>
            <a:ext cx="4975021" cy="821348"/>
          </a:xfrm>
          <a:prstGeom prst="roundRect">
            <a:avLst>
              <a:gd name="adj" fmla="val 37537"/>
            </a:avLst>
          </a:prstGeom>
          <a:solidFill>
            <a:srgbClr val="D2CFB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5" name="CustomShape 13">
            <a:extLst>
              <a:ext uri="{FF2B5EF4-FFF2-40B4-BE49-F238E27FC236}">
                <a16:creationId xmlns:a16="http://schemas.microsoft.com/office/drawing/2014/main" id="{D11CC246-0ACC-B0CC-B454-34D0E7297185}"/>
              </a:ext>
            </a:extLst>
          </p:cNvPr>
          <p:cNvSpPr txBox="1"/>
          <p:nvPr/>
        </p:nvSpPr>
        <p:spPr>
          <a:xfrm>
            <a:off x="9055550" y="11996003"/>
            <a:ext cx="4566795" cy="610250"/>
          </a:xfrm>
          <a:prstGeom prst="rect">
            <a:avLst/>
          </a:prstGeom>
          <a:solidFill>
            <a:srgbClr val="D2CFB4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/scratch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6BF79D2-28DB-A1F7-BC10-6BCF691681E5}"/>
              </a:ext>
            </a:extLst>
          </p:cNvPr>
          <p:cNvSpPr/>
          <p:nvPr/>
        </p:nvSpPr>
        <p:spPr>
          <a:xfrm>
            <a:off x="8794288" y="9001130"/>
            <a:ext cx="7618012" cy="821348"/>
          </a:xfrm>
          <a:prstGeom prst="roundRect">
            <a:avLst>
              <a:gd name="adj" fmla="val 37537"/>
            </a:avLst>
          </a:prstGeom>
          <a:solidFill>
            <a:srgbClr val="FFC89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CustomShape 13">
            <a:extLst>
              <a:ext uri="{FF2B5EF4-FFF2-40B4-BE49-F238E27FC236}">
                <a16:creationId xmlns:a16="http://schemas.microsoft.com/office/drawing/2014/main" id="{C8195D8F-FEF8-01C9-D991-CC5014CD857A}"/>
              </a:ext>
            </a:extLst>
          </p:cNvPr>
          <p:cNvSpPr txBox="1"/>
          <p:nvPr/>
        </p:nvSpPr>
        <p:spPr>
          <a:xfrm>
            <a:off x="8590180" y="9076060"/>
            <a:ext cx="6773903" cy="610250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algn="ctr"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/groups/</a:t>
            </a:r>
            <a:r>
              <a:rPr lang="en-US" sz="3000" dirty="0" err="1"/>
              <a:t>Jensen_group</a:t>
            </a:r>
            <a:endParaRPr lang="en-US" sz="30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23076E5-47D6-80DB-96B3-597CBD6555BF}"/>
              </a:ext>
            </a:extLst>
          </p:cNvPr>
          <p:cNvSpPr/>
          <p:nvPr/>
        </p:nvSpPr>
        <p:spPr>
          <a:xfrm>
            <a:off x="8794288" y="10170758"/>
            <a:ext cx="7618012" cy="821348"/>
          </a:xfrm>
          <a:prstGeom prst="roundRect">
            <a:avLst>
              <a:gd name="adj" fmla="val 37537"/>
            </a:avLst>
          </a:prstGeom>
          <a:solidFill>
            <a:srgbClr val="FFC89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CustomShape 13">
            <a:extLst>
              <a:ext uri="{FF2B5EF4-FFF2-40B4-BE49-F238E27FC236}">
                <a16:creationId xmlns:a16="http://schemas.microsoft.com/office/drawing/2014/main" id="{90106664-D2E8-DE88-C779-B28EB6BE79EA}"/>
              </a:ext>
            </a:extLst>
          </p:cNvPr>
          <p:cNvSpPr txBox="1"/>
          <p:nvPr/>
        </p:nvSpPr>
        <p:spPr>
          <a:xfrm>
            <a:off x="8479371" y="10255013"/>
            <a:ext cx="6773903" cy="610250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algn="ctr"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/data/RH_2025_prj392</a:t>
            </a:r>
          </a:p>
        </p:txBody>
      </p:sp>
      <p:sp>
        <p:nvSpPr>
          <p:cNvPr id="21" name="TextBox 29">
            <a:extLst>
              <a:ext uri="{FF2B5EF4-FFF2-40B4-BE49-F238E27FC236}">
                <a16:creationId xmlns:a16="http://schemas.microsoft.com/office/drawing/2014/main" id="{A0FF9500-7FEC-1E94-303E-80E274B3579D}"/>
              </a:ext>
            </a:extLst>
          </p:cNvPr>
          <p:cNvSpPr txBox="1"/>
          <p:nvPr/>
        </p:nvSpPr>
        <p:spPr>
          <a:xfrm>
            <a:off x="17156247" y="8378203"/>
            <a:ext cx="4975021" cy="18078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[examples for </a:t>
            </a:r>
            <a:r>
              <a:rPr lang="en-US" sz="3399" dirty="0" err="1">
                <a:solidFill>
                  <a:srgbClr val="F8F8F8"/>
                </a:solidFill>
                <a:latin typeface="HK Grotesk Medium"/>
              </a:rPr>
              <a:t>dir</a:t>
            </a:r>
            <a:r>
              <a:rPr lang="en-US" sz="3399" dirty="0">
                <a:solidFill>
                  <a:srgbClr val="F8F8F8"/>
                </a:solidFill>
                <a:latin typeface="HK Grotesk Medium"/>
              </a:rPr>
              <a:t> names, check documentation of your HPC!]</a:t>
            </a:r>
          </a:p>
        </p:txBody>
      </p:sp>
    </p:spTree>
    <p:extLst>
      <p:ext uri="{BB962C8B-B14F-4D97-AF65-F5344CB8AC3E}">
        <p14:creationId xmlns:p14="http://schemas.microsoft.com/office/powerpoint/2010/main" val="3554565126"/>
      </p:ext>
    </p:extLst>
  </p:cSld>
  <p:clrMapOvr>
    <a:masterClrMapping/>
  </p:clrMapOvr>
  <p:transition spd="med"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62FE-1C38-0683-B924-DB87898D3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64C13792-831A-A300-82FD-6EE93A6D193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110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4F4F21F9-8E11-AD20-EE84-9919711488F3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2CB21AB4-E2C3-6C50-180B-DA1376E858C3}"/>
              </a:ext>
            </a:extLst>
          </p:cNvPr>
          <p:cNvSpPr txBox="1"/>
          <p:nvPr/>
        </p:nvSpPr>
        <p:spPr>
          <a:xfrm>
            <a:off x="8196104" y="1004198"/>
            <a:ext cx="797910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QUEUING SYSTEMS</a:t>
            </a:r>
            <a:endParaRPr dirty="0"/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3FBDA1AC-6C6D-28AD-D91C-BF75F8178021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pic>
        <p:nvPicPr>
          <p:cNvPr id="3" name="Picture 2" descr="A group of people in a store&#10;&#10;AI-generated content may be incorrect.">
            <a:extLst>
              <a:ext uri="{FF2B5EF4-FFF2-40B4-BE49-F238E27FC236}">
                <a16:creationId xmlns:a16="http://schemas.microsoft.com/office/drawing/2014/main" id="{F91CD215-E7C7-BD95-60E1-6E1CA3ABC4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847" y="4617311"/>
            <a:ext cx="7504138" cy="4350055"/>
          </a:xfrm>
          <a:prstGeom prst="rect">
            <a:avLst/>
          </a:prstGeom>
        </p:spPr>
      </p:pic>
      <p:pic>
        <p:nvPicPr>
          <p:cNvPr id="6" name="Picture 5" descr="A group of people shopping in a store&#10;&#10;AI-generated content may be incorrect.">
            <a:extLst>
              <a:ext uri="{FF2B5EF4-FFF2-40B4-BE49-F238E27FC236}">
                <a16:creationId xmlns:a16="http://schemas.microsoft.com/office/drawing/2014/main" id="{84FCCC39-3FB3-F1EA-ACB2-E50ECAB7B0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5196" y="4580762"/>
            <a:ext cx="8090618" cy="424757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2BEA747-E82C-1FDF-BBA3-97935A253006}"/>
              </a:ext>
            </a:extLst>
          </p:cNvPr>
          <p:cNvGrpSpPr/>
          <p:nvPr/>
        </p:nvGrpSpPr>
        <p:grpSpPr>
          <a:xfrm>
            <a:off x="10997604" y="5955956"/>
            <a:ext cx="1267973" cy="1312076"/>
            <a:chOff x="10998556" y="7478182"/>
            <a:chExt cx="1267973" cy="1312076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B75CEA5-DB86-FB74-7914-F407FD141E2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98556" y="8135379"/>
              <a:ext cx="1266069" cy="654879"/>
            </a:xfrm>
            <a:prstGeom prst="line">
              <a:avLst/>
            </a:prstGeom>
            <a:noFill/>
            <a:ln w="38100" cap="flat">
              <a:solidFill>
                <a:srgbClr val="F8F8F8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F4F4477-374E-084D-923F-F26BD6B3C7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0460" y="7478182"/>
              <a:ext cx="1266069" cy="654879"/>
            </a:xfrm>
            <a:prstGeom prst="line">
              <a:avLst/>
            </a:prstGeom>
            <a:noFill/>
            <a:ln w="38100" cap="flat">
              <a:solidFill>
                <a:srgbClr val="F8F8F8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10" name="TextShape 29">
            <a:extLst>
              <a:ext uri="{FF2B5EF4-FFF2-40B4-BE49-F238E27FC236}">
                <a16:creationId xmlns:a16="http://schemas.microsoft.com/office/drawing/2014/main" id="{83749562-4202-0616-B3BB-F9851CB88A17}"/>
              </a:ext>
            </a:extLst>
          </p:cNvPr>
          <p:cNvSpPr txBox="1"/>
          <p:nvPr/>
        </p:nvSpPr>
        <p:spPr>
          <a:xfrm>
            <a:off x="4769324" y="2940120"/>
            <a:ext cx="15560723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On most HPC systems you use a job scheduler to execute programs</a:t>
            </a:r>
            <a:endParaRPr lang="en-US" sz="3000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F392E5F7-0F2E-0E58-7837-18871BC560CE}"/>
              </a:ext>
            </a:extLst>
          </p:cNvPr>
          <p:cNvSpPr txBox="1"/>
          <p:nvPr/>
        </p:nvSpPr>
        <p:spPr>
          <a:xfrm>
            <a:off x="2539284" y="9682163"/>
            <a:ext cx="8090618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No scheduler: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First come first serve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commands compete for the available resources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No load scheduling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Interactive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Fine for small tasks</a:t>
            </a:r>
          </a:p>
        </p:txBody>
      </p:sp>
      <p:sp>
        <p:nvSpPr>
          <p:cNvPr id="12" name="TextShape 29">
            <a:extLst>
              <a:ext uri="{FF2B5EF4-FFF2-40B4-BE49-F238E27FC236}">
                <a16:creationId xmlns:a16="http://schemas.microsoft.com/office/drawing/2014/main" id="{5FEB4F00-4CD3-70B9-1E89-6A98AB1C37FF}"/>
              </a:ext>
            </a:extLst>
          </p:cNvPr>
          <p:cNvSpPr txBox="1"/>
          <p:nvPr/>
        </p:nvSpPr>
        <p:spPr>
          <a:xfrm>
            <a:off x="14251919" y="9682163"/>
            <a:ext cx="8090618" cy="239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Scheduler: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Manages resource allocation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Jobs can run during the night/ when you are not logged in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Can ask for interactive job</a:t>
            </a:r>
          </a:p>
        </p:txBody>
      </p:sp>
    </p:spTree>
    <p:extLst>
      <p:ext uri="{BB962C8B-B14F-4D97-AF65-F5344CB8AC3E}">
        <p14:creationId xmlns:p14="http://schemas.microsoft.com/office/powerpoint/2010/main" val="2483929653"/>
      </p:ext>
    </p:extLst>
  </p:cSld>
  <p:clrMapOvr>
    <a:masterClrMapping/>
  </p:clrMapOvr>
  <p:transition spd="med"/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B9D9C-AE2B-CCE7-9AD7-FF253747B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F5667FF6-C25C-FA22-6645-36F0BA64D122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111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310181F2-B101-5EB2-2C69-B2103FCDC339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610549D4-B1F2-9EAE-1A68-A5B5E932E023}"/>
              </a:ext>
            </a:extLst>
          </p:cNvPr>
          <p:cNvSpPr txBox="1"/>
          <p:nvPr/>
        </p:nvSpPr>
        <p:spPr>
          <a:xfrm>
            <a:off x="10735256" y="1004198"/>
            <a:ext cx="290079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SLURM</a:t>
            </a:r>
            <a:endParaRPr dirty="0"/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03CD85AA-7055-6A48-0205-2F0E13058C4E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2C70336D-632F-AEE7-3B77-9162830BD2D6}"/>
              </a:ext>
            </a:extLst>
          </p:cNvPr>
          <p:cNvSpPr txBox="1"/>
          <p:nvPr/>
        </p:nvSpPr>
        <p:spPr>
          <a:xfrm>
            <a:off x="1342761" y="3261715"/>
            <a:ext cx="8733161" cy="14758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SLURM is both a scheduler and a resource manager.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</p:txBody>
      </p:sp>
      <p:sp>
        <p:nvSpPr>
          <p:cNvPr id="3" name="CustomShape 13">
            <a:extLst>
              <a:ext uri="{FF2B5EF4-FFF2-40B4-BE49-F238E27FC236}">
                <a16:creationId xmlns:a16="http://schemas.microsoft.com/office/drawing/2014/main" id="{BF03FBEF-05FE-B7B7-E8FD-AEC6A27B6189}"/>
              </a:ext>
            </a:extLst>
          </p:cNvPr>
          <p:cNvSpPr txBox="1"/>
          <p:nvPr/>
        </p:nvSpPr>
        <p:spPr>
          <a:xfrm>
            <a:off x="1789839" y="4956107"/>
            <a:ext cx="7331012" cy="5823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Submitting a job script to queue</a:t>
            </a:r>
            <a:r>
              <a:rPr sz="3000" dirty="0"/>
              <a:t>:</a:t>
            </a:r>
            <a:endParaRPr lang="en-US" sz="3000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85C310E8-B7CB-96F2-8116-D81AE8F5C452}"/>
              </a:ext>
            </a:extLst>
          </p:cNvPr>
          <p:cNvSpPr txBox="1"/>
          <p:nvPr/>
        </p:nvSpPr>
        <p:spPr>
          <a:xfrm>
            <a:off x="1781307" y="10441074"/>
            <a:ext cx="5928474" cy="5823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Starting an interactive job</a:t>
            </a:r>
            <a:r>
              <a:rPr sz="3000" dirty="0"/>
              <a:t>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4930AAE-1D00-3F37-9780-C35D948985AB}"/>
              </a:ext>
            </a:extLst>
          </p:cNvPr>
          <p:cNvGrpSpPr/>
          <p:nvPr/>
        </p:nvGrpSpPr>
        <p:grpSpPr>
          <a:xfrm>
            <a:off x="1543697" y="11408173"/>
            <a:ext cx="2737083" cy="829679"/>
            <a:chOff x="1606317" y="8737494"/>
            <a:chExt cx="2737083" cy="829679"/>
          </a:xfrm>
          <a:solidFill>
            <a:srgbClr val="B8BFFF"/>
          </a:solidFill>
        </p:grpSpPr>
        <p:sp>
          <p:nvSpPr>
            <p:cNvPr id="5" name="Rounded Rectangle">
              <a:extLst>
                <a:ext uri="{FF2B5EF4-FFF2-40B4-BE49-F238E27FC236}">
                  <a16:creationId xmlns:a16="http://schemas.microsoft.com/office/drawing/2014/main" id="{9BF1F342-C4E5-C73B-E68E-59B42149508D}"/>
                </a:ext>
              </a:extLst>
            </p:cNvPr>
            <p:cNvSpPr/>
            <p:nvPr/>
          </p:nvSpPr>
          <p:spPr>
            <a:xfrm>
              <a:off x="1606317" y="8737494"/>
              <a:ext cx="2737083" cy="829679"/>
            </a:xfrm>
            <a:prstGeom prst="roundRect">
              <a:avLst>
                <a:gd name="adj" fmla="val 22924"/>
              </a:avLst>
            </a:prstGeom>
            <a:grpFill/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7" name="CustomShape 13">
              <a:extLst>
                <a:ext uri="{FF2B5EF4-FFF2-40B4-BE49-F238E27FC236}">
                  <a16:creationId xmlns:a16="http://schemas.microsoft.com/office/drawing/2014/main" id="{A3FFEBED-8108-0DC3-F1FF-C25C88DAFAFE}"/>
                </a:ext>
              </a:extLst>
            </p:cNvPr>
            <p:cNvSpPr txBox="1"/>
            <p:nvPr/>
          </p:nvSpPr>
          <p:spPr>
            <a:xfrm>
              <a:off x="1820381" y="8814911"/>
              <a:ext cx="2311781" cy="610250"/>
            </a:xfrm>
            <a:prstGeom prst="rect">
              <a:avLst/>
            </a:prstGeom>
            <a:grpFill/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srun</a:t>
              </a:r>
              <a:endParaRPr sz="30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92A865F-C7DF-66FD-245D-89EC28FB03DA}"/>
              </a:ext>
            </a:extLst>
          </p:cNvPr>
          <p:cNvGrpSpPr/>
          <p:nvPr/>
        </p:nvGrpSpPr>
        <p:grpSpPr>
          <a:xfrm>
            <a:off x="5410541" y="11408173"/>
            <a:ext cx="2998478" cy="829679"/>
            <a:chOff x="6122373" y="8705196"/>
            <a:chExt cx="2998478" cy="829679"/>
          </a:xfrm>
          <a:solidFill>
            <a:srgbClr val="B8BFFF"/>
          </a:solidFill>
        </p:grpSpPr>
        <p:sp>
          <p:nvSpPr>
            <p:cNvPr id="10" name="Rounded Rectangle">
              <a:extLst>
                <a:ext uri="{FF2B5EF4-FFF2-40B4-BE49-F238E27FC236}">
                  <a16:creationId xmlns:a16="http://schemas.microsoft.com/office/drawing/2014/main" id="{06A835E2-CC9D-EF6D-DD1B-7742782FC6FF}"/>
                </a:ext>
              </a:extLst>
            </p:cNvPr>
            <p:cNvSpPr/>
            <p:nvPr/>
          </p:nvSpPr>
          <p:spPr>
            <a:xfrm>
              <a:off x="6122373" y="8705196"/>
              <a:ext cx="2998478" cy="829679"/>
            </a:xfrm>
            <a:prstGeom prst="roundRect">
              <a:avLst>
                <a:gd name="adj" fmla="val 22924"/>
              </a:avLst>
            </a:prstGeom>
            <a:grpFill/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1" name="CustomShape 13">
              <a:extLst>
                <a:ext uri="{FF2B5EF4-FFF2-40B4-BE49-F238E27FC236}">
                  <a16:creationId xmlns:a16="http://schemas.microsoft.com/office/drawing/2014/main" id="{558B1CF4-B42C-F578-4DA3-48132FD83BE3}"/>
                </a:ext>
              </a:extLst>
            </p:cNvPr>
            <p:cNvSpPr txBox="1"/>
            <p:nvPr/>
          </p:nvSpPr>
          <p:spPr>
            <a:xfrm>
              <a:off x="6336437" y="8782613"/>
              <a:ext cx="2311781" cy="610250"/>
            </a:xfrm>
            <a:prstGeom prst="rect">
              <a:avLst/>
            </a:prstGeom>
            <a:grpFill/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salloc</a:t>
              </a:r>
              <a:endParaRPr lang="en-US" sz="3000" dirty="0"/>
            </a:p>
          </p:txBody>
        </p:sp>
      </p:grp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90681096-497B-C9A7-6E58-EDC1AD058F90}"/>
              </a:ext>
            </a:extLst>
          </p:cNvPr>
          <p:cNvSpPr/>
          <p:nvPr/>
        </p:nvSpPr>
        <p:spPr>
          <a:xfrm>
            <a:off x="1552231" y="5939355"/>
            <a:ext cx="557225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3" name="CustomShape 13">
            <a:extLst>
              <a:ext uri="{FF2B5EF4-FFF2-40B4-BE49-F238E27FC236}">
                <a16:creationId xmlns:a16="http://schemas.microsoft.com/office/drawing/2014/main" id="{ACBE440B-F1AE-E75E-313F-986F9D739065}"/>
              </a:ext>
            </a:extLst>
          </p:cNvPr>
          <p:cNvSpPr txBox="1"/>
          <p:nvPr/>
        </p:nvSpPr>
        <p:spPr>
          <a:xfrm>
            <a:off x="1762429" y="6037607"/>
            <a:ext cx="5572252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</a:t>
            </a:r>
            <a:r>
              <a:rPr lang="en-US" sz="3000" dirty="0" err="1"/>
              <a:t>sbatch</a:t>
            </a:r>
            <a:r>
              <a:rPr lang="en-US" sz="3000" dirty="0"/>
              <a:t> my_job.sh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B112876-E624-97CE-8059-6DBB7945A43F}"/>
              </a:ext>
            </a:extLst>
          </p:cNvPr>
          <p:cNvGrpSpPr/>
          <p:nvPr/>
        </p:nvGrpSpPr>
        <p:grpSpPr>
          <a:xfrm>
            <a:off x="1643624" y="7619547"/>
            <a:ext cx="5809861" cy="1814251"/>
            <a:chOff x="12794662" y="5026445"/>
            <a:chExt cx="5809861" cy="1814251"/>
          </a:xfrm>
        </p:grpSpPr>
        <p:sp>
          <p:nvSpPr>
            <p:cNvPr id="14" name="Rounded Rectangle">
              <a:extLst>
                <a:ext uri="{FF2B5EF4-FFF2-40B4-BE49-F238E27FC236}">
                  <a16:creationId xmlns:a16="http://schemas.microsoft.com/office/drawing/2014/main" id="{120C700D-B45E-F51F-93AC-77F81854C253}"/>
                </a:ext>
              </a:extLst>
            </p:cNvPr>
            <p:cNvSpPr/>
            <p:nvPr/>
          </p:nvSpPr>
          <p:spPr>
            <a:xfrm>
              <a:off x="12794662" y="6009693"/>
              <a:ext cx="2996324" cy="831003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5" name="CustomShape 13">
              <a:extLst>
                <a:ext uri="{FF2B5EF4-FFF2-40B4-BE49-F238E27FC236}">
                  <a16:creationId xmlns:a16="http://schemas.microsoft.com/office/drawing/2014/main" id="{1141A87C-02B4-7FCC-6724-C5C8FEB2FE23}"/>
                </a:ext>
              </a:extLst>
            </p:cNvPr>
            <p:cNvSpPr txBox="1"/>
            <p:nvPr/>
          </p:nvSpPr>
          <p:spPr>
            <a:xfrm>
              <a:off x="13032270" y="5026445"/>
              <a:ext cx="5572253" cy="58235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Checking the queue</a:t>
              </a:r>
              <a:r>
                <a:rPr sz="3000" dirty="0"/>
                <a:t>:</a:t>
              </a:r>
              <a:endParaRPr lang="en-US" sz="3000" dirty="0"/>
            </a:p>
          </p:txBody>
        </p:sp>
        <p:sp>
          <p:nvSpPr>
            <p:cNvPr id="16" name="CustomShape 13">
              <a:extLst>
                <a:ext uri="{FF2B5EF4-FFF2-40B4-BE49-F238E27FC236}">
                  <a16:creationId xmlns:a16="http://schemas.microsoft.com/office/drawing/2014/main" id="{8857105E-F6E0-5569-44FA-19E18DDDF8AC}"/>
                </a:ext>
              </a:extLst>
            </p:cNvPr>
            <p:cNvSpPr txBox="1"/>
            <p:nvPr/>
          </p:nvSpPr>
          <p:spPr>
            <a:xfrm>
              <a:off x="13004860" y="6107945"/>
              <a:ext cx="2580972" cy="61025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$ </a:t>
              </a:r>
              <a:r>
                <a:rPr lang="en-US" sz="3000" dirty="0" err="1"/>
                <a:t>squeue</a:t>
              </a:r>
              <a:endParaRPr lang="en-US" sz="3000" dirty="0"/>
            </a:p>
          </p:txBody>
        </p:sp>
      </p:grpSp>
      <p:sp>
        <p:nvSpPr>
          <p:cNvPr id="20" name="TextBox 29">
            <a:extLst>
              <a:ext uri="{FF2B5EF4-FFF2-40B4-BE49-F238E27FC236}">
                <a16:creationId xmlns:a16="http://schemas.microsoft.com/office/drawing/2014/main" id="{7BD64B26-46A0-1C03-C101-EC44203E7635}"/>
              </a:ext>
            </a:extLst>
          </p:cNvPr>
          <p:cNvSpPr txBox="1"/>
          <p:nvPr/>
        </p:nvSpPr>
        <p:spPr>
          <a:xfrm>
            <a:off x="4202855" y="11453607"/>
            <a:ext cx="1219706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or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06BBDF8-8BDB-8AB3-B3A4-0E1C87050D0D}"/>
              </a:ext>
            </a:extLst>
          </p:cNvPr>
          <p:cNvSpPr/>
          <p:nvPr/>
        </p:nvSpPr>
        <p:spPr>
          <a:xfrm>
            <a:off x="10735256" y="3657601"/>
            <a:ext cx="12817449" cy="7560000"/>
          </a:xfrm>
          <a:prstGeom prst="roundRect">
            <a:avLst>
              <a:gd name="adj" fmla="val 10678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6" name="CustomShape 13">
            <a:extLst>
              <a:ext uri="{FF2B5EF4-FFF2-40B4-BE49-F238E27FC236}">
                <a16:creationId xmlns:a16="http://schemas.microsoft.com/office/drawing/2014/main" id="{189A9630-735F-AAEB-1986-E0ED3F9406A1}"/>
              </a:ext>
            </a:extLst>
          </p:cNvPr>
          <p:cNvSpPr txBox="1"/>
          <p:nvPr/>
        </p:nvSpPr>
        <p:spPr>
          <a:xfrm>
            <a:off x="11249606" y="4116655"/>
            <a:ext cx="11619974" cy="6534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#!/bin</a:t>
            </a:r>
            <a:r>
              <a:rPr lang="en-US" sz="3000"/>
              <a:t>/bash 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--job-name=test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--account=</a:t>
            </a:r>
            <a:r>
              <a:rPr lang="en-US" sz="3000" dirty="0" err="1"/>
              <a:t>myAmazingProject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--nodes=2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--time=01:00:00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--output=res.txt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paste -d '\t' </a:t>
            </a:r>
            <a:r>
              <a:rPr lang="en-US" sz="3000" dirty="0" err="1"/>
              <a:t>GenomicRegion.tmp</a:t>
            </a:r>
            <a:r>
              <a:rPr lang="en-US" sz="3000" dirty="0"/>
              <a:t>  \ gene_names_clean.txt &gt; </a:t>
            </a:r>
            <a:r>
              <a:rPr lang="en-US" sz="3000" dirty="0" err="1"/>
              <a:t>Annotation_Gene.gff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grep 'tRNA' </a:t>
            </a:r>
            <a:r>
              <a:rPr lang="en-US" sz="3000" dirty="0" err="1"/>
              <a:t>Annotation_Gene_Len.gff</a:t>
            </a:r>
            <a:r>
              <a:rPr lang="en-US" sz="3000" dirty="0"/>
              <a:t> –c</a:t>
            </a:r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32A9BFDB-30BA-D4DC-8200-1EFD375BCE36}"/>
              </a:ext>
            </a:extLst>
          </p:cNvPr>
          <p:cNvSpPr txBox="1"/>
          <p:nvPr/>
        </p:nvSpPr>
        <p:spPr>
          <a:xfrm>
            <a:off x="13394087" y="11573849"/>
            <a:ext cx="7331012" cy="5823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 example job script</a:t>
            </a:r>
          </a:p>
        </p:txBody>
      </p:sp>
    </p:spTree>
    <p:extLst>
      <p:ext uri="{BB962C8B-B14F-4D97-AF65-F5344CB8AC3E}">
        <p14:creationId xmlns:p14="http://schemas.microsoft.com/office/powerpoint/2010/main" val="4220424410"/>
      </p:ext>
    </p:extLst>
  </p:cSld>
  <p:clrMapOvr>
    <a:masterClrMapping/>
  </p:clrMapOvr>
  <p:transition spd="med"/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29E4D-1850-F864-5E8B-0446676D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2565A21B-A851-86BA-7F00-9E1C3C2FDB19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112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D6B033D1-F4A7-A7B6-9468-A5CCAF51F522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23C21EDA-06B9-F377-200E-B91D0586544D}"/>
              </a:ext>
            </a:extLst>
          </p:cNvPr>
          <p:cNvSpPr txBox="1"/>
          <p:nvPr/>
        </p:nvSpPr>
        <p:spPr>
          <a:xfrm>
            <a:off x="7888327" y="1004198"/>
            <a:ext cx="859465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SOFTWARE ON HPCS</a:t>
            </a:r>
            <a:endParaRPr dirty="0"/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4CC746E0-31B4-078D-51E4-38B37E72A255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2140" name="Rounded Rectangle">
            <a:extLst>
              <a:ext uri="{FF2B5EF4-FFF2-40B4-BE49-F238E27FC236}">
                <a16:creationId xmlns:a16="http://schemas.microsoft.com/office/drawing/2014/main" id="{33BA63C6-AF83-9E59-4512-416F5D1C1D76}"/>
              </a:ext>
            </a:extLst>
          </p:cNvPr>
          <p:cNvSpPr/>
          <p:nvPr/>
        </p:nvSpPr>
        <p:spPr>
          <a:xfrm>
            <a:off x="1208505" y="3879562"/>
            <a:ext cx="8733160" cy="2978433"/>
          </a:xfrm>
          <a:prstGeom prst="roundRect">
            <a:avLst>
              <a:gd name="adj" fmla="val 475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2" name="TextBox 29">
            <a:extLst>
              <a:ext uri="{FF2B5EF4-FFF2-40B4-BE49-F238E27FC236}">
                <a16:creationId xmlns:a16="http://schemas.microsoft.com/office/drawing/2014/main" id="{9FB0142D-8227-80BD-950E-97555CD43EF8}"/>
              </a:ext>
            </a:extLst>
          </p:cNvPr>
          <p:cNvSpPr txBox="1"/>
          <p:nvPr/>
        </p:nvSpPr>
        <p:spPr>
          <a:xfrm>
            <a:off x="2928698" y="4128175"/>
            <a:ext cx="4660819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4000" dirty="0">
                <a:solidFill>
                  <a:srgbClr val="374556"/>
                </a:solidFill>
                <a:latin typeface="HK Grotesk Medium"/>
              </a:rPr>
              <a:t>Pre-installed, e.g. in environment modules</a:t>
            </a:r>
          </a:p>
        </p:txBody>
      </p:sp>
      <p:sp>
        <p:nvSpPr>
          <p:cNvPr id="3" name="Rounded Rectangle">
            <a:extLst>
              <a:ext uri="{FF2B5EF4-FFF2-40B4-BE49-F238E27FC236}">
                <a16:creationId xmlns:a16="http://schemas.microsoft.com/office/drawing/2014/main" id="{ED72B96B-8E27-2DC9-DC88-EBEC51D1342A}"/>
              </a:ext>
            </a:extLst>
          </p:cNvPr>
          <p:cNvSpPr/>
          <p:nvPr/>
        </p:nvSpPr>
        <p:spPr>
          <a:xfrm>
            <a:off x="13552905" y="3912303"/>
            <a:ext cx="8733160" cy="2978431"/>
          </a:xfrm>
          <a:prstGeom prst="roundRect">
            <a:avLst>
              <a:gd name="adj" fmla="val 47523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5" name="TextBox 29">
            <a:extLst>
              <a:ext uri="{FF2B5EF4-FFF2-40B4-BE49-F238E27FC236}">
                <a16:creationId xmlns:a16="http://schemas.microsoft.com/office/drawing/2014/main" id="{2CAA5237-82C0-3AB5-F499-31CD2A5B3BDB}"/>
              </a:ext>
            </a:extLst>
          </p:cNvPr>
          <p:cNvSpPr txBox="1"/>
          <p:nvPr/>
        </p:nvSpPr>
        <p:spPr>
          <a:xfrm>
            <a:off x="15176083" y="4128175"/>
            <a:ext cx="5486804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4000" dirty="0">
                <a:solidFill>
                  <a:srgbClr val="374556"/>
                </a:solidFill>
                <a:latin typeface="HK Grotesk Medium"/>
              </a:rPr>
              <a:t>User-administrated, e.g. in a </a:t>
            </a:r>
            <a:r>
              <a:rPr lang="en-US" sz="4000" dirty="0" err="1">
                <a:solidFill>
                  <a:srgbClr val="374556"/>
                </a:solidFill>
                <a:latin typeface="HK Grotesk Medium"/>
              </a:rPr>
              <a:t>conda</a:t>
            </a:r>
            <a:r>
              <a:rPr lang="en-US" sz="4000" dirty="0">
                <a:solidFill>
                  <a:srgbClr val="374556"/>
                </a:solidFill>
                <a:latin typeface="HK Grotesk Medium"/>
              </a:rPr>
              <a:t> environment</a:t>
            </a:r>
          </a:p>
        </p:txBody>
      </p:sp>
      <p:sp>
        <p:nvSpPr>
          <p:cNvPr id="6" name="Rounded Rectangle">
            <a:extLst>
              <a:ext uri="{FF2B5EF4-FFF2-40B4-BE49-F238E27FC236}">
                <a16:creationId xmlns:a16="http://schemas.microsoft.com/office/drawing/2014/main" id="{C85713E7-4E06-F2E0-D732-DC09DC532839}"/>
              </a:ext>
            </a:extLst>
          </p:cNvPr>
          <p:cNvSpPr/>
          <p:nvPr/>
        </p:nvSpPr>
        <p:spPr>
          <a:xfrm>
            <a:off x="7819070" y="8392864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" name="TextBox 29">
            <a:extLst>
              <a:ext uri="{FF2B5EF4-FFF2-40B4-BE49-F238E27FC236}">
                <a16:creationId xmlns:a16="http://schemas.microsoft.com/office/drawing/2014/main" id="{09D4A389-707A-BA83-8AEB-3B210F12A561}"/>
              </a:ext>
            </a:extLst>
          </p:cNvPr>
          <p:cNvSpPr txBox="1"/>
          <p:nvPr/>
        </p:nvSpPr>
        <p:spPr>
          <a:xfrm>
            <a:off x="9154200" y="8987810"/>
            <a:ext cx="606290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4000" dirty="0">
                <a:solidFill>
                  <a:srgbClr val="374556"/>
                </a:solidFill>
                <a:latin typeface="HK Grotesk Medium"/>
              </a:rPr>
              <a:t>Pre-packaged in containers like Docker, Singularity</a:t>
            </a:r>
          </a:p>
        </p:txBody>
      </p:sp>
      <p:sp>
        <p:nvSpPr>
          <p:cNvPr id="12" name="CustomShape 13">
            <a:extLst>
              <a:ext uri="{FF2B5EF4-FFF2-40B4-BE49-F238E27FC236}">
                <a16:creationId xmlns:a16="http://schemas.microsoft.com/office/drawing/2014/main" id="{C5184EC3-C4F2-F882-9E26-09106D39D7C1}"/>
              </a:ext>
            </a:extLst>
          </p:cNvPr>
          <p:cNvSpPr txBox="1"/>
          <p:nvPr/>
        </p:nvSpPr>
        <p:spPr>
          <a:xfrm>
            <a:off x="2658751" y="5723052"/>
            <a:ext cx="5832668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module load python</a:t>
            </a:r>
          </a:p>
        </p:txBody>
      </p:sp>
      <p:sp>
        <p:nvSpPr>
          <p:cNvPr id="13" name="CustomShape 13">
            <a:extLst>
              <a:ext uri="{FF2B5EF4-FFF2-40B4-BE49-F238E27FC236}">
                <a16:creationId xmlns:a16="http://schemas.microsoft.com/office/drawing/2014/main" id="{F365E8D5-7926-49C6-9C1E-98F29F1D9449}"/>
              </a:ext>
            </a:extLst>
          </p:cNvPr>
          <p:cNvSpPr txBox="1"/>
          <p:nvPr/>
        </p:nvSpPr>
        <p:spPr>
          <a:xfrm>
            <a:off x="14690407" y="5723052"/>
            <a:ext cx="6458156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</a:t>
            </a:r>
            <a:r>
              <a:rPr lang="en-US" sz="3000" dirty="0" err="1"/>
              <a:t>conda</a:t>
            </a:r>
            <a:r>
              <a:rPr lang="en-US" sz="3000" dirty="0"/>
              <a:t> activate </a:t>
            </a:r>
            <a:r>
              <a:rPr lang="en-US" sz="3000" dirty="0" err="1"/>
              <a:t>my_env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225707115"/>
      </p:ext>
    </p:extLst>
  </p:cSld>
  <p:clrMapOvr>
    <a:masterClrMapping/>
  </p:clrMapOvr>
  <p:transition spd="med"/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E8EE0-30DE-1448-B88C-B25B2C1C2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>
            <a:extLst>
              <a:ext uri="{FF2B5EF4-FFF2-40B4-BE49-F238E27FC236}">
                <a16:creationId xmlns:a16="http://schemas.microsoft.com/office/drawing/2014/main" id="{274D1DEF-19D6-2E97-6D13-F89F9F9FFFD6}"/>
              </a:ext>
            </a:extLst>
          </p:cNvPr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>
            <a:extLst>
              <a:ext uri="{FF2B5EF4-FFF2-40B4-BE49-F238E27FC236}">
                <a16:creationId xmlns:a16="http://schemas.microsoft.com/office/drawing/2014/main" id="{98CAA083-464D-26EB-80C4-A04D6C1BD5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>
            <a:extLst>
              <a:ext uri="{FF2B5EF4-FFF2-40B4-BE49-F238E27FC236}">
                <a16:creationId xmlns:a16="http://schemas.microsoft.com/office/drawing/2014/main" id="{E5C58CA7-66FD-DCFA-F4D2-ADE4E77E203E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113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D8B51514-3ED3-E387-994B-908C52EC0403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D2D1E4FD-DF30-133E-9B34-B7B138DA2193}"/>
              </a:ext>
            </a:extLst>
          </p:cNvPr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>
            <a:extLst>
              <a:ext uri="{FF2B5EF4-FFF2-40B4-BE49-F238E27FC236}">
                <a16:creationId xmlns:a16="http://schemas.microsoft.com/office/drawing/2014/main" id="{C5A9DADE-2312-7D0F-A87C-27FA7BDAFA50}"/>
              </a:ext>
            </a:extLst>
          </p:cNvPr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>
            <a:extLst>
              <a:ext uri="{FF2B5EF4-FFF2-40B4-BE49-F238E27FC236}">
                <a16:creationId xmlns:a16="http://schemas.microsoft.com/office/drawing/2014/main" id="{C1BEF498-8CDD-17A9-F52B-E638A4E638C5}"/>
              </a:ext>
            </a:extLst>
          </p:cNvPr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>
              <a:extLst>
                <a:ext uri="{FF2B5EF4-FFF2-40B4-BE49-F238E27FC236}">
                  <a16:creationId xmlns:a16="http://schemas.microsoft.com/office/drawing/2014/main" id="{FA0DA3FB-EBF1-8DAA-872C-E7DB020DEA04}"/>
                </a:ext>
              </a:extLst>
            </p:cNvPr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>
              <a:extLst>
                <a:ext uri="{FF2B5EF4-FFF2-40B4-BE49-F238E27FC236}">
                  <a16:creationId xmlns:a16="http://schemas.microsoft.com/office/drawing/2014/main" id="{069D931D-3AC5-0B2E-A9FC-7F24B094C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>
              <a:extLst>
                <a:ext uri="{FF2B5EF4-FFF2-40B4-BE49-F238E27FC236}">
                  <a16:creationId xmlns:a16="http://schemas.microsoft.com/office/drawing/2014/main" id="{D5B13A0A-B9F3-AFB2-5B58-F693EF77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>
            <a:extLst>
              <a:ext uri="{FF2B5EF4-FFF2-40B4-BE49-F238E27FC236}">
                <a16:creationId xmlns:a16="http://schemas.microsoft.com/office/drawing/2014/main" id="{E5B57672-7E16-92E6-100B-80816ADC6778}"/>
              </a:ext>
            </a:extLst>
          </p:cNvPr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284357DA-A73A-304D-DB06-CA00C7D36F19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7DD9024D-60A3-4123-01FA-0C6D820BF4BA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  <p:extLst>
      <p:ext uri="{BB962C8B-B14F-4D97-AF65-F5344CB8AC3E}">
        <p14:creationId xmlns:p14="http://schemas.microsoft.com/office/powerpoint/2010/main" val="1033589492"/>
      </p:ext>
    </p:extLst>
  </p:cSld>
  <p:clrMapOvr>
    <a:masterClrMapping/>
  </p:clrMapOvr>
  <p:transition spd="med"/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E09C7-4831-44C1-B12D-8ED410739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>
            <a:extLst>
              <a:ext uri="{FF2B5EF4-FFF2-40B4-BE49-F238E27FC236}">
                <a16:creationId xmlns:a16="http://schemas.microsoft.com/office/drawing/2014/main" id="{A50D51EF-85C5-3351-9486-B3A7D677E1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>
            <a:extLst>
              <a:ext uri="{FF2B5EF4-FFF2-40B4-BE49-F238E27FC236}">
                <a16:creationId xmlns:a16="http://schemas.microsoft.com/office/drawing/2014/main" id="{448ACA0A-5F84-2863-A10C-CA1A04429C86}"/>
              </a:ext>
            </a:extLst>
          </p:cNvPr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>
            <a:extLst>
              <a:ext uri="{FF2B5EF4-FFF2-40B4-BE49-F238E27FC236}">
                <a16:creationId xmlns:a16="http://schemas.microsoft.com/office/drawing/2014/main" id="{0525A38B-D56C-064E-4789-7EC3F33AE6D3}"/>
              </a:ext>
            </a:extLst>
          </p:cNvPr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>
            <a:extLst>
              <a:ext uri="{FF2B5EF4-FFF2-40B4-BE49-F238E27FC236}">
                <a16:creationId xmlns:a16="http://schemas.microsoft.com/office/drawing/2014/main" id="{CF210222-5211-3063-9224-2368AB922E89}"/>
              </a:ext>
            </a:extLst>
          </p:cNvPr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Explore the wide world of the server in </a:t>
            </a:r>
            <a:r>
              <a:rPr lang="en-US" b="1" dirty="0"/>
              <a:t>Exercise 10!</a:t>
            </a:r>
            <a:endParaRPr dirty="0"/>
          </a:p>
        </p:txBody>
      </p:sp>
      <p:sp>
        <p:nvSpPr>
          <p:cNvPr id="448" name="TextBox 6">
            <a:extLst>
              <a:ext uri="{FF2B5EF4-FFF2-40B4-BE49-F238E27FC236}">
                <a16:creationId xmlns:a16="http://schemas.microsoft.com/office/drawing/2014/main" id="{F6B151D1-6E30-F8E2-16AD-B19B5E1994C0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485298" y="12949908"/>
            <a:ext cx="612630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2036508"/>
      </p:ext>
    </p:extLst>
  </p:cSld>
  <p:clrMapOvr>
    <a:masterClrMapping/>
  </p:clrMapOvr>
  <p:transition spd="med"/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115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116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21322</TotalTime>
  <Words>8849</Words>
  <Application>Microsoft Macintosh PowerPoint</Application>
  <PresentationFormat>Custom</PresentationFormat>
  <Paragraphs>1815</Paragraphs>
  <Slides>116</Slides>
  <Notes>116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116</vt:i4>
      </vt:variant>
    </vt:vector>
  </HeadingPairs>
  <TitlesOfParts>
    <vt:vector size="128" baseType="lpstr">
      <vt:lpstr>Arial Unicode MS</vt:lpstr>
      <vt:lpstr>Arial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Thilde Bagger Terkelsen</cp:lastModifiedBy>
  <cp:revision>118</cp:revision>
  <dcterms:modified xsi:type="dcterms:W3CDTF">2025-06-19T08:51:15Z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